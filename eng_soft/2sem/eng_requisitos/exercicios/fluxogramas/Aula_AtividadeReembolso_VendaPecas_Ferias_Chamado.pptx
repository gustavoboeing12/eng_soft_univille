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60" r:id="rId5"/>
    <p:sldId id="261" r:id="rId6"/>
    <p:sldId id="262" r:id="rId7"/>
    <p:sldId id="265" r:id="rId8"/>
    <p:sldId id="266" r:id="rId9"/>
    <p:sldId id="258" r:id="rId10"/>
    <p:sldId id="259" r:id="rId11"/>
  </p:sldIdLst>
  <p:sldSz cx="18288000" cy="10287000"/>
  <p:notesSz cx="6858000" cy="9144000"/>
  <p:embeddedFontLst>
    <p:embeddedFont>
      <p:font typeface=" Avenir Next Arabic" panose="020B0604020202020204" charset="-78"/>
      <p:regular r:id="rId13"/>
    </p:embeddedFont>
    <p:embeddedFont>
      <p:font typeface=" Avenir Next Arabic Bold" panose="020B0604020202020204" charset="-78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061D06-71B6-4A06-A5E5-EC2E4117BB28}" v="6" dt="2026-08-11T12:21:39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ENE MERCEDES DA SILVA MINELLA" userId="03c40756-137a-4d89-92ad-627326a1a7b4" providerId="ADAL" clId="{B70A75BF-988A-4E24-A962-02E599989989}"/>
    <pc:docChg chg="undo custSel addSld delSld modSld sldOrd">
      <pc:chgData name="CHAIENE MERCEDES DA SILVA MINELLA" userId="03c40756-137a-4d89-92ad-627326a1a7b4" providerId="ADAL" clId="{B70A75BF-988A-4E24-A962-02E599989989}" dt="2026-08-11T12:24:26.853" v="510" actId="14100"/>
      <pc:docMkLst>
        <pc:docMk/>
      </pc:docMkLst>
      <pc:sldChg chg="addSp delSp modSp mod modAnim">
        <pc:chgData name="CHAIENE MERCEDES DA SILVA MINELLA" userId="03c40756-137a-4d89-92ad-627326a1a7b4" providerId="ADAL" clId="{B70A75BF-988A-4E24-A962-02E599989989}" dt="2026-08-10T13:13:16.740" v="397" actId="20577"/>
        <pc:sldMkLst>
          <pc:docMk/>
          <pc:sldMk cId="0" sldId="257"/>
        </pc:sldMkLst>
        <pc:spChg chg="mod">
          <ac:chgData name="CHAIENE MERCEDES DA SILVA MINELLA" userId="03c40756-137a-4d89-92ad-627326a1a7b4" providerId="ADAL" clId="{B70A75BF-988A-4E24-A962-02E599989989}" dt="2026-08-10T13:13:16.740" v="397" actId="20577"/>
          <ac:spMkLst>
            <pc:docMk/>
            <pc:sldMk cId="0" sldId="257"/>
            <ac:spMk id="11" creationId="{7012EF5C-03B9-F676-B8BB-474C691D3306}"/>
          </ac:spMkLst>
        </pc:spChg>
      </pc:sldChg>
      <pc:sldChg chg="addSp delSp modSp add mod">
        <pc:chgData name="CHAIENE MERCEDES DA SILVA MINELLA" userId="03c40756-137a-4d89-92ad-627326a1a7b4" providerId="ADAL" clId="{B70A75BF-988A-4E24-A962-02E599989989}" dt="2026-08-10T13:13:22.893" v="401" actId="20577"/>
        <pc:sldMkLst>
          <pc:docMk/>
          <pc:sldMk cId="2846349056" sldId="260"/>
        </pc:sldMkLst>
        <pc:spChg chg="mod">
          <ac:chgData name="CHAIENE MERCEDES DA SILVA MINELLA" userId="03c40756-137a-4d89-92ad-627326a1a7b4" providerId="ADAL" clId="{B70A75BF-988A-4E24-A962-02E599989989}" dt="2026-08-10T13:13:22.893" v="401" actId="20577"/>
          <ac:spMkLst>
            <pc:docMk/>
            <pc:sldMk cId="2846349056" sldId="260"/>
            <ac:spMk id="11" creationId="{E3BA1A9A-ED41-83A4-AFDA-B12A6F4912C2}"/>
          </ac:spMkLst>
        </pc:spChg>
      </pc:sldChg>
      <pc:sldChg chg="modSp mod">
        <pc:chgData name="CHAIENE MERCEDES DA SILVA MINELLA" userId="03c40756-137a-4d89-92ad-627326a1a7b4" providerId="ADAL" clId="{B70A75BF-988A-4E24-A962-02E599989989}" dt="2026-08-10T13:13:43.418" v="415" actId="20577"/>
        <pc:sldMkLst>
          <pc:docMk/>
          <pc:sldMk cId="3106031612" sldId="261"/>
        </pc:sldMkLst>
        <pc:spChg chg="mod">
          <ac:chgData name="CHAIENE MERCEDES DA SILVA MINELLA" userId="03c40756-137a-4d89-92ad-627326a1a7b4" providerId="ADAL" clId="{B70A75BF-988A-4E24-A962-02E599989989}" dt="2026-08-10T13:13:43.418" v="415" actId="20577"/>
          <ac:spMkLst>
            <pc:docMk/>
            <pc:sldMk cId="3106031612" sldId="261"/>
            <ac:spMk id="11" creationId="{379D615C-CF99-34DA-D4A9-5AA512381B47}"/>
          </ac:spMkLst>
        </pc:spChg>
      </pc:sldChg>
      <pc:sldChg chg="modSp mod">
        <pc:chgData name="CHAIENE MERCEDES DA SILVA MINELLA" userId="03c40756-137a-4d89-92ad-627326a1a7b4" providerId="ADAL" clId="{B70A75BF-988A-4E24-A962-02E599989989}" dt="2026-08-10T13:13:41.573" v="412" actId="20577"/>
        <pc:sldMkLst>
          <pc:docMk/>
          <pc:sldMk cId="2525318965" sldId="262"/>
        </pc:sldMkLst>
        <pc:spChg chg="mod">
          <ac:chgData name="CHAIENE MERCEDES DA SILVA MINELLA" userId="03c40756-137a-4d89-92ad-627326a1a7b4" providerId="ADAL" clId="{B70A75BF-988A-4E24-A962-02E599989989}" dt="2026-08-10T13:13:41.573" v="412" actId="20577"/>
          <ac:spMkLst>
            <pc:docMk/>
            <pc:sldMk cId="2525318965" sldId="262"/>
            <ac:spMk id="11" creationId="{A79D69B9-760F-75FB-3919-65E2C964BA40}"/>
          </ac:spMkLst>
        </pc:spChg>
      </pc:sldChg>
      <pc:sldChg chg="modSp add mod">
        <pc:chgData name="CHAIENE MERCEDES DA SILVA MINELLA" userId="03c40756-137a-4d89-92ad-627326a1a7b4" providerId="ADAL" clId="{B70A75BF-988A-4E24-A962-02E599989989}" dt="2026-08-11T12:21:16.308" v="449" actId="14100"/>
        <pc:sldMkLst>
          <pc:docMk/>
          <pc:sldMk cId="1690549309" sldId="265"/>
        </pc:sldMkLst>
        <pc:spChg chg="mod">
          <ac:chgData name="CHAIENE MERCEDES DA SILVA MINELLA" userId="03c40756-137a-4d89-92ad-627326a1a7b4" providerId="ADAL" clId="{B70A75BF-988A-4E24-A962-02E599989989}" dt="2026-08-11T12:21:16.308" v="449" actId="14100"/>
          <ac:spMkLst>
            <pc:docMk/>
            <pc:sldMk cId="1690549309" sldId="265"/>
            <ac:spMk id="6" creationId="{45FB2128-E6CF-B703-7D9C-3D34EFEF99FD}"/>
          </ac:spMkLst>
        </pc:spChg>
        <pc:spChg chg="mod">
          <ac:chgData name="CHAIENE MERCEDES DA SILVA MINELLA" userId="03c40756-137a-4d89-92ad-627326a1a7b4" providerId="ADAL" clId="{B70A75BF-988A-4E24-A962-02E599989989}" dt="2026-08-11T12:19:50.770" v="420" actId="404"/>
          <ac:spMkLst>
            <pc:docMk/>
            <pc:sldMk cId="1690549309" sldId="265"/>
            <ac:spMk id="11" creationId="{847DB3E8-BBE7-3B9D-8684-D2826BFD6F5F}"/>
          </ac:spMkLst>
        </pc:spChg>
      </pc:sldChg>
      <pc:sldChg chg="modSp add mod">
        <pc:chgData name="CHAIENE MERCEDES DA SILVA MINELLA" userId="03c40756-137a-4d89-92ad-627326a1a7b4" providerId="ADAL" clId="{B70A75BF-988A-4E24-A962-02E599989989}" dt="2026-08-11T12:24:26.853" v="510" actId="14100"/>
        <pc:sldMkLst>
          <pc:docMk/>
          <pc:sldMk cId="1335654922" sldId="266"/>
        </pc:sldMkLst>
        <pc:spChg chg="mod">
          <ac:chgData name="CHAIENE MERCEDES DA SILVA MINELLA" userId="03c40756-137a-4d89-92ad-627326a1a7b4" providerId="ADAL" clId="{B70A75BF-988A-4E24-A962-02E599989989}" dt="2026-08-11T12:23:35.269" v="497" actId="14100"/>
          <ac:spMkLst>
            <pc:docMk/>
            <pc:sldMk cId="1335654922" sldId="266"/>
            <ac:spMk id="6" creationId="{DFB3FAC2-002B-6DDC-A298-6BFA142F70E6}"/>
          </ac:spMkLst>
        </pc:spChg>
        <pc:spChg chg="mod">
          <ac:chgData name="CHAIENE MERCEDES DA SILVA MINELLA" userId="03c40756-137a-4d89-92ad-627326a1a7b4" providerId="ADAL" clId="{B70A75BF-988A-4E24-A962-02E599989989}" dt="2026-08-11T12:24:26.853" v="510" actId="14100"/>
          <ac:spMkLst>
            <pc:docMk/>
            <pc:sldMk cId="1335654922" sldId="266"/>
            <ac:spMk id="11" creationId="{32A2664C-9577-F566-EE47-5E8AAA92E489}"/>
          </ac:spMkLst>
        </pc:spChg>
        <pc:picChg chg="mod">
          <ac:chgData name="CHAIENE MERCEDES DA SILVA MINELLA" userId="03c40756-137a-4d89-92ad-627326a1a7b4" providerId="ADAL" clId="{B70A75BF-988A-4E24-A962-02E599989989}" dt="2026-08-11T12:24:08.204" v="503" actId="14100"/>
          <ac:picMkLst>
            <pc:docMk/>
            <pc:sldMk cId="1335654922" sldId="266"/>
            <ac:picMk id="12" creationId="{91A8304B-7390-AAE3-4488-A282307FEB5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ADB1E-A87D-4DB3-AC8B-89BF8D7101FC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1F86B-6756-43E1-873D-FD9E2E850FF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2391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1F86B-6756-43E1-873D-FD9E2E850FF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4159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723948" y="-89900"/>
            <a:ext cx="8567888" cy="10404268"/>
            <a:chOff x="0" y="0"/>
            <a:chExt cx="11423850" cy="13872358"/>
          </a:xfrm>
        </p:grpSpPr>
        <p:sp>
          <p:nvSpPr>
            <p:cNvPr id="3" name="Freeform 3" descr="Forma  Descrição gerada automaticamente"/>
            <p:cNvSpPr/>
            <p:nvPr/>
          </p:nvSpPr>
          <p:spPr>
            <a:xfrm>
              <a:off x="0" y="0"/>
              <a:ext cx="11423904" cy="13872338"/>
            </a:xfrm>
            <a:custGeom>
              <a:avLst/>
              <a:gdLst/>
              <a:ahLst/>
              <a:cxnLst/>
              <a:rect l="l" t="t" r="r" b="b"/>
              <a:pathLst>
                <a:path w="11423904" h="13872338">
                  <a:moveTo>
                    <a:pt x="0" y="0"/>
                  </a:moveTo>
                  <a:lnTo>
                    <a:pt x="11423904" y="0"/>
                  </a:lnTo>
                  <a:lnTo>
                    <a:pt x="11423904" y="13872338"/>
                  </a:lnTo>
                  <a:lnTo>
                    <a:pt x="0" y="1387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164" b="-432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Freeform 6"/>
          <p:cNvSpPr/>
          <p:nvPr/>
        </p:nvSpPr>
        <p:spPr>
          <a:xfrm>
            <a:off x="757985" y="3742810"/>
            <a:ext cx="1810499" cy="1705490"/>
          </a:xfrm>
          <a:custGeom>
            <a:avLst/>
            <a:gdLst/>
            <a:ahLst/>
            <a:cxnLst/>
            <a:rect l="l" t="t" r="r" b="b"/>
            <a:pathLst>
              <a:path w="1810499" h="1705490">
                <a:moveTo>
                  <a:pt x="0" y="0"/>
                </a:moveTo>
                <a:lnTo>
                  <a:pt x="1810500" y="0"/>
                </a:lnTo>
                <a:lnTo>
                  <a:pt x="1810500" y="1705491"/>
                </a:lnTo>
                <a:lnTo>
                  <a:pt x="0" y="1705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2819400" y="3741971"/>
            <a:ext cx="14401800" cy="94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Desenvolvimento</a:t>
            </a:r>
            <a:r>
              <a:rPr lang="en-US" sz="48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48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fluxogramas</a:t>
            </a:r>
            <a:endParaRPr lang="en-US" sz="48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819400" y="4795167"/>
            <a:ext cx="9553178" cy="552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Engenharia de </a:t>
            </a:r>
            <a:r>
              <a:rPr lang="en-US" sz="3600" dirty="0" err="1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Requisitos</a:t>
            </a:r>
            <a:endParaRPr lang="en-US" sz="2400" dirty="0">
              <a:solidFill>
                <a:srgbClr val="006232"/>
              </a:solidFill>
              <a:latin typeface=" Avenir Next Arabic"/>
              <a:ea typeface=" Avenir Next Arabic"/>
              <a:cs typeface=" Avenir Next Arabic"/>
              <a:sym typeface=" Avenir Next Arabic"/>
            </a:endParaRP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6D17381A-63F8-6555-E4AD-67E53935CFAF}"/>
              </a:ext>
            </a:extLst>
          </p:cNvPr>
          <p:cNvGrpSpPr>
            <a:grpSpLocks noChangeAspect="1"/>
          </p:cNvGrpSpPr>
          <p:nvPr/>
        </p:nvGrpSpPr>
        <p:grpSpPr>
          <a:xfrm>
            <a:off x="1181100" y="7670548"/>
            <a:ext cx="3276600" cy="1398357"/>
            <a:chOff x="0" y="0"/>
            <a:chExt cx="5816916" cy="2482490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31A4F598-EA5F-4E7D-CB0C-CF7CB6A4BB10}"/>
                </a:ext>
              </a:extLst>
            </p:cNvPr>
            <p:cNvSpPr/>
            <p:nvPr/>
          </p:nvSpPr>
          <p:spPr>
            <a:xfrm>
              <a:off x="0" y="0"/>
              <a:ext cx="5816854" cy="2482469"/>
            </a:xfrm>
            <a:custGeom>
              <a:avLst/>
              <a:gdLst/>
              <a:ahLst/>
              <a:cxnLst/>
              <a:rect l="l" t="t" r="r" b="b"/>
              <a:pathLst>
                <a:path w="5816854" h="2482469">
                  <a:moveTo>
                    <a:pt x="0" y="0"/>
                  </a:moveTo>
                  <a:lnTo>
                    <a:pt x="5816854" y="0"/>
                  </a:lnTo>
                  <a:lnTo>
                    <a:pt x="5816854" y="2482469"/>
                  </a:lnTo>
                  <a:lnTo>
                    <a:pt x="0" y="248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8" r="-1" b="-8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" name="TextBox 7">
            <a:extLst>
              <a:ext uri="{FF2B5EF4-FFF2-40B4-BE49-F238E27FC236}">
                <a16:creationId xmlns:a16="http://schemas.microsoft.com/office/drawing/2014/main" id="{F6513F38-3E80-3A58-9ED9-D1CA2661D755}"/>
              </a:ext>
            </a:extLst>
          </p:cNvPr>
          <p:cNvSpPr txBox="1"/>
          <p:nvPr/>
        </p:nvSpPr>
        <p:spPr>
          <a:xfrm>
            <a:off x="1828800" y="1138163"/>
            <a:ext cx="11125200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UNIVILLE - </a:t>
            </a:r>
            <a:r>
              <a:rPr lang="en-US" sz="3600" dirty="0" err="1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Universidade</a:t>
            </a: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da </a:t>
            </a:r>
            <a:r>
              <a:rPr lang="en-US" sz="3600" dirty="0" err="1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Região</a:t>
            </a: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de Joinville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42696FA-CDB4-BA72-416D-E714CB6E3CB3}"/>
              </a:ext>
            </a:extLst>
          </p:cNvPr>
          <p:cNvSpPr txBox="1"/>
          <p:nvPr/>
        </p:nvSpPr>
        <p:spPr>
          <a:xfrm>
            <a:off x="1066800" y="9182100"/>
            <a:ext cx="9144000" cy="440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18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Engenharia de Software - Profª Mª Chaiene M. da Silva Minella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11CA974-B82E-D349-2C59-98C8F433C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552599" cy="5001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B81F2-EC1C-0D3D-C06D-E64DD30BA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E0423A78-0F4A-88B6-5415-3E0C666F879B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4317336-5317-EF30-C2CB-927168801D55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6A7B53D-53E9-B959-1362-714389716CD5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6C692EE-8442-9407-89CD-021C47CAB3D6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967CD5BF-F10D-6BC7-92FF-2572DEF534FA}"/>
              </a:ext>
            </a:extLst>
          </p:cNvPr>
          <p:cNvSpPr txBox="1"/>
          <p:nvPr/>
        </p:nvSpPr>
        <p:spPr>
          <a:xfrm>
            <a:off x="2400588" y="1028700"/>
            <a:ext cx="1588741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Objetivo</a:t>
            </a:r>
            <a:endParaRPr lang="en-US" sz="6398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D35BE92-C25F-5841-B052-747F532E7B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2AB1396-60CF-B3CE-5739-26DEED1420C8}"/>
              </a:ext>
            </a:extLst>
          </p:cNvPr>
          <p:cNvSpPr txBox="1"/>
          <p:nvPr/>
        </p:nvSpPr>
        <p:spPr>
          <a:xfrm>
            <a:off x="1101885" y="2161584"/>
            <a:ext cx="16084201" cy="6787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4400" dirty="0"/>
              <a:t>Ao iniciar um projeto, desenvolver um fluxograma de processo do negócio ou de parte dele é importante e auxilia no desenvolvimento de requisitos necessários para resolução de problemas e lacunas deste processo.</a:t>
            </a:r>
          </a:p>
          <a:p>
            <a:pPr marL="1257300" lvl="2" indent="-342900" algn="just">
              <a:lnSpc>
                <a:spcPct val="2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3200" dirty="0"/>
              <a:t>Individualmente ou em dupla.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3200" dirty="0"/>
              <a:t>Desenvolver um fluxograma do processo.</a:t>
            </a:r>
          </a:p>
          <a:p>
            <a:pPr marL="1257300" lvl="2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3200" dirty="0"/>
              <a:t>Não precisa entregar, iremos corrigir em sala de aula.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5ED3596-611A-171C-C213-0EB0A13E567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AC30A45F-DF5A-D7CC-115B-AEA4D6FFA93E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667941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/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7012EF5C-03B9-F676-B8BB-474C691D3306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Exemplo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: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Agência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Viagem</a:t>
            </a:r>
            <a:endParaRPr lang="en-US" sz="6398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FB65B0C-B949-19F9-84BC-3F503A5EC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FA527FC-F2A3-EFB0-A066-39928BF70082}"/>
              </a:ext>
            </a:extLst>
          </p:cNvPr>
          <p:cNvSpPr txBox="1"/>
          <p:nvPr/>
        </p:nvSpPr>
        <p:spPr>
          <a:xfrm>
            <a:off x="1129099" y="2161584"/>
            <a:ext cx="16354696" cy="7432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3600" dirty="0"/>
              <a:t>Um cliente entra em contato com uma agência de viagens e </a:t>
            </a:r>
            <a:r>
              <a:rPr lang="pt-BR" sz="3600" u="sng" dirty="0"/>
              <a:t>solicita uma cotação de viagem</a:t>
            </a:r>
            <a:r>
              <a:rPr lang="pt-BR" sz="3600" dirty="0"/>
              <a:t>. Ao solicitar uma cotação o atendente pede informações sobre a viagem que esse cliente deseja fazer. Após o atendente fazer as cotações para esta viagem, o mesmo envia, por e-mail, as cotações para o cliente que a solicitou. O cliente avalia as cotações e responde o e-mail aprovando ou não a cotação. Caso o cliente não aprove, ele retorna o e-mail ao atendente sugerindo alterações/ajustes na cotação de viagem. Após a aprovação final do cliente, o atendente emite os tickets e documentações da viagem e entrega ao cliente para que ele possa viajar tranquilamente.</a:t>
            </a:r>
          </a:p>
          <a:p>
            <a:pPr algn="just">
              <a:lnSpc>
                <a:spcPct val="150000"/>
              </a:lnSpc>
              <a:defRPr/>
            </a:pPr>
            <a:endParaRPr lang="en-US" sz="2000" dirty="0"/>
          </a:p>
          <a:p>
            <a:pPr>
              <a:defRPr/>
            </a:pPr>
            <a:endParaRPr lang="pt-BR" sz="149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35937-1CEF-8EC8-BF3B-6358346C2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3D8B5F5-8C76-2216-BBB8-93C1CC9F8852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8671566"/>
            <a:ext cx="3810000" cy="1615432"/>
            <a:chOff x="0" y="0"/>
            <a:chExt cx="5504522" cy="2333906"/>
          </a:xfrm>
        </p:grpSpPr>
        <p:sp>
          <p:nvSpPr>
            <p:cNvPr id="3" name="Freeform 3" descr="Padrão do plano de fundo  Descrição gerada automaticamente">
              <a:extLst>
                <a:ext uri="{FF2B5EF4-FFF2-40B4-BE49-F238E27FC236}">
                  <a16:creationId xmlns:a16="http://schemas.microsoft.com/office/drawing/2014/main" id="{5A81F9CA-9931-9D9B-94AC-F63F123261CD}"/>
                </a:ext>
              </a:extLst>
            </p:cNvPr>
            <p:cNvSpPr/>
            <p:nvPr/>
          </p:nvSpPr>
          <p:spPr>
            <a:xfrm>
              <a:off x="0" y="0"/>
              <a:ext cx="5504561" cy="2333879"/>
            </a:xfrm>
            <a:custGeom>
              <a:avLst/>
              <a:gdLst/>
              <a:ahLst/>
              <a:cxnLst/>
              <a:rect l="l" t="t" r="r" b="b"/>
              <a:pathLst>
                <a:path w="5504561" h="2333879">
                  <a:moveTo>
                    <a:pt x="0" y="0"/>
                  </a:moveTo>
                  <a:lnTo>
                    <a:pt x="5504561" y="0"/>
                  </a:lnTo>
                  <a:lnTo>
                    <a:pt x="5504561" y="2333879"/>
                  </a:lnTo>
                  <a:lnTo>
                    <a:pt x="0" y="2333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1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9238010-F490-63F9-775D-69730EE72274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901D575-0499-D677-3DBB-65BD703D055C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C4F9104-F142-3B9F-41A8-66E3F6B7AB9F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507EA77-DE3C-D57D-4F0C-CD9BF6C4CF06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3BA1A9A-ED41-83A4-AFDA-B12A6F4912C2}"/>
              </a:ext>
            </a:extLst>
          </p:cNvPr>
          <p:cNvSpPr txBox="1"/>
          <p:nvPr/>
        </p:nvSpPr>
        <p:spPr>
          <a:xfrm>
            <a:off x="2400588" y="1028700"/>
            <a:ext cx="12734254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Exemplo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: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Agência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Viagem</a:t>
            </a:r>
            <a:endParaRPr lang="en-US" sz="6398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27FF214-0223-9C82-AC84-98A3658A53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CD2BCAE-0E18-EAD6-46E6-C8B7F4E2FE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844" y="2604027"/>
            <a:ext cx="17654311" cy="522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49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10B00-0127-56DA-F947-8299B26E2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EF996953-D8B5-AC0D-4DD4-9E3221B6DD36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BDA22A0-8AEC-48D0-A3FD-F45FF2F04472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0E581D2-33F5-5027-F01C-5CEA91AA0869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8FDFD50-1EB1-7AC2-1F87-346621E3C6C3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379D615C-CF99-34DA-D4A9-5AA512381B47}"/>
              </a:ext>
            </a:extLst>
          </p:cNvPr>
          <p:cNvSpPr txBox="1"/>
          <p:nvPr/>
        </p:nvSpPr>
        <p:spPr>
          <a:xfrm>
            <a:off x="2400588" y="1028700"/>
            <a:ext cx="1588741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Exercício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: Venda de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peças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hardware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76B3574-0A9A-9A32-A00E-32864AAC8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5889655-6FEF-EB1E-9A85-0DB9B1565D39}"/>
              </a:ext>
            </a:extLst>
          </p:cNvPr>
          <p:cNvSpPr txBox="1"/>
          <p:nvPr/>
        </p:nvSpPr>
        <p:spPr>
          <a:xfrm>
            <a:off x="228600" y="2161584"/>
            <a:ext cx="17906999" cy="783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600" dirty="0"/>
              <a:t>O processo tem início com a necessidade de se enviar peças ao cliente; 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600" dirty="0"/>
              <a:t>O balconista da loja define o tipo de entrega que deve ser feita: Normal ou Especial; 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600" dirty="0"/>
              <a:t>No caso de envio Especial, o balconista solicita cotação às transportadoras, em seguida designa a transportadora escolhida e depois prepara a documentação; (Obs.: No caso de envio especial, a garantia já está incluída). 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600" dirty="0"/>
              <a:t>No caso de entrega Normal, o balconista verifica a necessidade de garantia extra utilizando um "Checklist de garantia"; 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600" dirty="0"/>
              <a:t>Caso exista necessidade de garantia extra, o balconista envia ao gerente logístico a necessidade de contratar a garantia extra. O gerente executa a contratação; 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600" dirty="0"/>
              <a:t>Tanto no caso de necessidade de garantia extra como na não necessidade, o balconista SEMPRE deve preencher dados da etiqueta da transportadora. 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600" dirty="0"/>
              <a:t>Ao mesmo tempo em que o balconista executa suas atividades, um funcionário do depósito empacota as peças a serem enviadas; 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600" dirty="0"/>
              <a:t>Após empacotar as peças e o balconista preparar a documentação OU preencher a etiqueta da transportadora, o funcionário do depósito anexa a documentação às peças. 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600" dirty="0"/>
              <a:t>Em seguida o funcionário do depósito coloca o pacote na área de entrega e o processo se encerra.</a:t>
            </a:r>
          </a:p>
        </p:txBody>
      </p:sp>
    </p:spTree>
    <p:extLst>
      <p:ext uri="{BB962C8B-B14F-4D97-AF65-F5344CB8AC3E}">
        <p14:creationId xmlns:p14="http://schemas.microsoft.com/office/powerpoint/2010/main" val="3106031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FD272-9CBC-BC3E-E6BD-1F922CB1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896D7E4D-2284-EFFF-4416-782FFF6BD22A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7F9612C-4A79-98B5-61EC-A2FC3FB45A65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37DCE06-5503-3FA9-1C43-7D1A8AD7A1C9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4865A70-6D1F-CD0B-2EA5-0BA8AD69F068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A79D69B9-760F-75FB-3919-65E2C964BA40}"/>
              </a:ext>
            </a:extLst>
          </p:cNvPr>
          <p:cNvSpPr txBox="1"/>
          <p:nvPr/>
        </p:nvSpPr>
        <p:spPr>
          <a:xfrm>
            <a:off x="2400588" y="1028700"/>
            <a:ext cx="1588741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Exercício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: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Reembolso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 de </a:t>
            </a: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despesas</a:t>
            </a:r>
            <a:endParaRPr lang="en-US" sz="6398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FA82EA1-5F28-EFE7-5325-80ACC7D11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FF12897-1741-B5A7-D938-BB518FE7F7E1}"/>
              </a:ext>
            </a:extLst>
          </p:cNvPr>
          <p:cNvSpPr txBox="1"/>
          <p:nvPr/>
        </p:nvSpPr>
        <p:spPr>
          <a:xfrm>
            <a:off x="228600" y="2161584"/>
            <a:ext cx="17906999" cy="7781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O funcionário elabora e envia ao chefe imediato um relatório de despesas.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O chefe imediato identifica o funcionário encaminhador do relatório e verifica se ele possui conta de despesa.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Caso o funcionário não possua uma conta de despesa, o chefe imediato deve criar uma nova e em seguida realiza análise do valor da despesa.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Caso ele já possua uma conta de despesa, o chefe imediato parte direto para análise de valor da despesa do relatório.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Baseado nas informações da análise de valor o prosseguimento se dá de duas maneiras: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pt-BR" sz="2800" dirty="0"/>
              <a:t>Os </a:t>
            </a:r>
            <a:r>
              <a:rPr lang="pt-BR" sz="2800" u="sng" dirty="0"/>
              <a:t>valores abaixo de R$200</a:t>
            </a:r>
            <a:r>
              <a:rPr lang="pt-BR" sz="2800" dirty="0"/>
              <a:t> são aprovados automaticamente, sendo que o chefe imediato realiza a transferência da verba para a conta do funcionário e o informa do atendimento da solicitação.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pt-BR" sz="2800" dirty="0"/>
              <a:t>Os </a:t>
            </a:r>
            <a:r>
              <a:rPr lang="pt-BR" sz="2800" u="sng" dirty="0"/>
              <a:t>valores iguais ou acima de R$200</a:t>
            </a:r>
            <a:r>
              <a:rPr lang="pt-BR" sz="2800" dirty="0"/>
              <a:t> necessitam de aprovação do gerente, que analisa a solicitação e se aprovar devolve para o chefe imediato para que a verba seja transferida e o funcionário informado a respeito.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Se não aprovar informa o funcionário sobre o veto, e a solicitação é encerrada.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Ao final de todo tratamento, o funcionário toma ciência quanto ao resultado de sua solicitação.</a:t>
            </a:r>
          </a:p>
        </p:txBody>
      </p:sp>
    </p:spTree>
    <p:extLst>
      <p:ext uri="{BB962C8B-B14F-4D97-AF65-F5344CB8AC3E}">
        <p14:creationId xmlns:p14="http://schemas.microsoft.com/office/powerpoint/2010/main" val="2525318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4094C-31C5-679F-D8ED-8728D5E41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4B0FA018-E2AB-6798-59AA-E71A838DA34E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4D08DF1-C8FA-1321-962B-64C7EE0FFF3B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016C5DE-CA1E-EA4E-7C2A-CA0DCD9E98D9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F5605F2-715F-906B-BDDF-BB7F8601C9EF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847DB3E8-BBE7-3B9D-8684-D2826BFD6F5F}"/>
              </a:ext>
            </a:extLst>
          </p:cNvPr>
          <p:cNvSpPr txBox="1"/>
          <p:nvPr/>
        </p:nvSpPr>
        <p:spPr>
          <a:xfrm>
            <a:off x="2400588" y="1028700"/>
            <a:ext cx="15887412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6398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Exercício</a:t>
            </a:r>
            <a:r>
              <a:rPr lang="en-US" sz="6398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: </a:t>
            </a:r>
            <a:r>
              <a:rPr lang="pt-BR" sz="54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Processo de Solicitação de Férias</a:t>
            </a:r>
            <a:endParaRPr lang="en-US" sz="6398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5F9B4804-26B0-B565-A650-9E8B43ADF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5FB2128-E6CF-B703-7D9C-3D34EFEF99FD}"/>
              </a:ext>
            </a:extLst>
          </p:cNvPr>
          <p:cNvSpPr txBox="1"/>
          <p:nvPr/>
        </p:nvSpPr>
        <p:spPr>
          <a:xfrm>
            <a:off x="1101885" y="2161584"/>
            <a:ext cx="16500315" cy="7135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O processo tem início quando o empregado identifica a necessidade de solicitar férias;</a:t>
            </a:r>
          </a:p>
          <a:p>
            <a:pPr marL="457200" indent="-4572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O empregado preenche e envia ao seu chefe imediato uma solicitação de férias, informando o período desejado;</a:t>
            </a:r>
          </a:p>
          <a:p>
            <a:pPr marL="457200" indent="-4572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O chefe imediato verifica se o período solicitado está de acordo com as necessidades do setor;</a:t>
            </a:r>
          </a:p>
          <a:p>
            <a:pPr marL="457200" indent="-4572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Caso o período seja inadequado, o chefe informa o empregado e solicita que seja escolhido um novo período;</a:t>
            </a:r>
          </a:p>
          <a:p>
            <a:pPr marL="457200" indent="-4572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Caso o período seja adequado, o chefe verifica se o empregado possui saldo de férias disponível;</a:t>
            </a:r>
          </a:p>
          <a:p>
            <a:pPr marL="457200" indent="-4572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Se o empregado não possuir saldo suficiente, o chefe informa o empregado e a solicitação é encerrada;</a:t>
            </a:r>
          </a:p>
          <a:p>
            <a:pPr marL="457200" indent="-4572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Se possuir saldo suficiente, o chefe encaminha a solicitação ao setor de Recursos Humanos;</a:t>
            </a:r>
          </a:p>
          <a:p>
            <a:pPr marL="457200" indent="-4572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O setor de Recursos Humanos verifica as informações e registra as férias no sistema;</a:t>
            </a:r>
          </a:p>
          <a:p>
            <a:pPr marL="457200" indent="-4572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Após o registro, o setor de Recursos Humanos comunica a aprovação ao empregado e ao chefe imediato;</a:t>
            </a:r>
          </a:p>
          <a:p>
            <a:pPr marL="457200" indent="-4572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O processo se encerra após a confirmação do registro das férias.</a:t>
            </a:r>
          </a:p>
        </p:txBody>
      </p:sp>
    </p:spTree>
    <p:extLst>
      <p:ext uri="{BB962C8B-B14F-4D97-AF65-F5344CB8AC3E}">
        <p14:creationId xmlns:p14="http://schemas.microsoft.com/office/powerpoint/2010/main" val="1690549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13836-017E-1194-5F36-B1B972B59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B766013A-EDB1-5E1F-D862-526C9B706F7E}"/>
              </a:ext>
            </a:extLst>
          </p:cNvPr>
          <p:cNvGrpSpPr>
            <a:grpSpLocks noChangeAspect="1"/>
          </p:cNvGrpSpPr>
          <p:nvPr/>
        </p:nvGrpSpPr>
        <p:grpSpPr>
          <a:xfrm>
            <a:off x="1101885" y="1973404"/>
            <a:ext cx="16084230" cy="52450"/>
            <a:chOff x="0" y="0"/>
            <a:chExt cx="21445640" cy="6993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2BCCAEE-961B-1288-0E2E-62D8A85ECE57}"/>
                </a:ext>
              </a:extLst>
            </p:cNvPr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F4C0D18-BFA1-2B54-EB03-3A8927286FB3}"/>
              </a:ext>
            </a:extLst>
          </p:cNvPr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58DF8F0-AC2B-4509-F304-BB86B742E4C2}"/>
                </a:ext>
              </a:extLst>
            </p:cNvPr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32A2664C-9577-F566-EE47-5E8AAA92E489}"/>
              </a:ext>
            </a:extLst>
          </p:cNvPr>
          <p:cNvSpPr txBox="1"/>
          <p:nvPr/>
        </p:nvSpPr>
        <p:spPr>
          <a:xfrm>
            <a:off x="2203798" y="1028700"/>
            <a:ext cx="16084201" cy="894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77"/>
              </a:lnSpc>
            </a:pPr>
            <a:r>
              <a:rPr lang="en-US" sz="4200" b="1" dirty="0" err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Exercício</a:t>
            </a:r>
            <a:r>
              <a:rPr lang="en-US" sz="42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: </a:t>
            </a:r>
            <a:r>
              <a:rPr lang="pt-BR" sz="42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Processo de Atendimento de Chamado de Suporte</a:t>
            </a:r>
            <a:endParaRPr lang="en-US" sz="4200" b="1" dirty="0">
              <a:solidFill>
                <a:srgbClr val="006232"/>
              </a:solidFill>
              <a:latin typeface=" Avenir Next Arabic Bold"/>
              <a:ea typeface=" Avenir Next Arabic Bold"/>
              <a:cs typeface=" Avenir Next Arabic Bold"/>
              <a:sym typeface=" Avenir Next Arabic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1A8304B-7390-AAE3-4488-A282307FE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5" y="1170034"/>
            <a:ext cx="803115" cy="72687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FB3FAC2-002B-6DDC-A298-6BFA142F70E6}"/>
              </a:ext>
            </a:extLst>
          </p:cNvPr>
          <p:cNvSpPr txBox="1"/>
          <p:nvPr/>
        </p:nvSpPr>
        <p:spPr>
          <a:xfrm>
            <a:off x="990601" y="2161584"/>
            <a:ext cx="16195486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O processo tem início quando um usuário identifica um problema em um sistema ou equipamento;</a:t>
            </a:r>
          </a:p>
          <a:p>
            <a:pPr marL="457200" indent="-457200" algn="just"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O usuário registra um chamado junto ao setor de suporte, descrevendo o problema encontrado;</a:t>
            </a:r>
          </a:p>
          <a:p>
            <a:pPr marL="457200" indent="-457200" algn="just"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O técnico de suporte recebe o chamado e verifica as informações fornecidas;</a:t>
            </a:r>
          </a:p>
          <a:p>
            <a:pPr marL="457200" indent="-457200" algn="just"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Caso as informações sejam insuficientes, o técnico solicita informações adicionais ao usuário;</a:t>
            </a:r>
          </a:p>
          <a:p>
            <a:pPr marL="457200" indent="-457200" algn="just"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Após receber as informações, o técnico classifica o chamado de acordo com sua prioridade: baixa, média ou alta;</a:t>
            </a:r>
          </a:p>
          <a:p>
            <a:pPr marL="457200" indent="-457200" algn="just"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Para chamados de prioridade baixa ou média, o técnico realiza o diagnóstico e tenta solucionar o problema;</a:t>
            </a:r>
          </a:p>
          <a:p>
            <a:pPr marL="457200" indent="-457200" algn="just"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Para chamados de prioridade alta, o técnico comunica o responsável pelo suporte e inicia o atendimento prioritário;</a:t>
            </a:r>
          </a:p>
          <a:p>
            <a:pPr marL="457200" indent="-457200" algn="just"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Durante o atendimento, o técnico verifica se o problema foi solucionado;</a:t>
            </a:r>
          </a:p>
          <a:p>
            <a:pPr marL="457200" indent="-457200" algn="just"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Caso o problema não tenha sido solucionado, o chamado é encaminhado para um especialista;</a:t>
            </a:r>
          </a:p>
          <a:p>
            <a:pPr marL="457200" indent="-457200" algn="just"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O especialista realiza uma nova análise e aplica a solução necessária;</a:t>
            </a:r>
          </a:p>
          <a:p>
            <a:pPr marL="457200" indent="-457200" algn="just"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Após a solução, o técnico registra no chamado os procedimentos realizados;</a:t>
            </a:r>
          </a:p>
          <a:p>
            <a:pPr marL="457200" indent="-457200" algn="just"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O usuário é comunicado sobre a solução e verifica se o problema foi resolvido;</a:t>
            </a:r>
          </a:p>
          <a:p>
            <a:pPr marL="457200" indent="-457200" algn="just"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Caso o usuário confirme a resolução, o chamado é encerrado;</a:t>
            </a:r>
          </a:p>
          <a:p>
            <a:pPr marL="457200" indent="-457200" algn="just"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Caso o problema persista, o chamado retorna para a etapa de diagnóstico;</a:t>
            </a:r>
          </a:p>
          <a:p>
            <a:pPr marL="457200" indent="-457200" algn="just">
              <a:buFont typeface="Courier New" panose="02070309020205020404" pitchFamily="49" charset="0"/>
              <a:buChar char="o"/>
              <a:defRPr/>
            </a:pPr>
            <a:r>
              <a:rPr lang="pt-BR" sz="2800" dirty="0"/>
              <a:t>O processo termina quando o usuário confirma que o problema foi solucionado.</a:t>
            </a:r>
          </a:p>
        </p:txBody>
      </p:sp>
    </p:spTree>
    <p:extLst>
      <p:ext uri="{BB962C8B-B14F-4D97-AF65-F5344CB8AC3E}">
        <p14:creationId xmlns:p14="http://schemas.microsoft.com/office/powerpoint/2010/main" val="1335654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" y="8510024"/>
            <a:ext cx="4191000" cy="1776976"/>
            <a:chOff x="0" y="0"/>
            <a:chExt cx="6937514" cy="2941492"/>
          </a:xfrm>
        </p:grpSpPr>
        <p:sp>
          <p:nvSpPr>
            <p:cNvPr id="3" name="Freeform 3" descr="Padrão do plano de fundo  Descrição gerada automaticamente"/>
            <p:cNvSpPr/>
            <p:nvPr/>
          </p:nvSpPr>
          <p:spPr>
            <a:xfrm>
              <a:off x="0" y="0"/>
              <a:ext cx="6937502" cy="2941447"/>
            </a:xfrm>
            <a:custGeom>
              <a:avLst/>
              <a:gdLst/>
              <a:ahLst/>
              <a:cxnLst/>
              <a:rect l="l" t="t" r="r" b="b"/>
              <a:pathLst>
                <a:path w="6937502" h="2941447">
                  <a:moveTo>
                    <a:pt x="0" y="0"/>
                  </a:moveTo>
                  <a:lnTo>
                    <a:pt x="6937502" y="0"/>
                  </a:lnTo>
                  <a:lnTo>
                    <a:pt x="6937502" y="2941447"/>
                  </a:lnTo>
                  <a:lnTo>
                    <a:pt x="0" y="2941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r="-2" b="-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01885" y="1943583"/>
            <a:ext cx="16084230" cy="52450"/>
            <a:chOff x="0" y="0"/>
            <a:chExt cx="21445640" cy="69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445601" cy="69977"/>
            </a:xfrm>
            <a:custGeom>
              <a:avLst/>
              <a:gdLst/>
              <a:ahLst/>
              <a:cxnLst/>
              <a:rect l="l" t="t" r="r" b="b"/>
              <a:pathLst>
                <a:path w="21445601" h="69977">
                  <a:moveTo>
                    <a:pt x="0" y="0"/>
                  </a:moveTo>
                  <a:lnTo>
                    <a:pt x="21445601" y="0"/>
                  </a:lnTo>
                  <a:lnTo>
                    <a:pt x="21445601" y="69977"/>
                  </a:lnTo>
                  <a:lnTo>
                    <a:pt x="0" y="69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66" r="-3666" b="61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4878878" y="9022594"/>
            <a:ext cx="2307237" cy="983879"/>
            <a:chOff x="0" y="0"/>
            <a:chExt cx="3076316" cy="13118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76321" cy="1311783"/>
            </a:xfrm>
            <a:custGeom>
              <a:avLst/>
              <a:gdLst/>
              <a:ahLst/>
              <a:cxnLst/>
              <a:rect l="l" t="t" r="r" b="b"/>
              <a:pathLst>
                <a:path w="3076321" h="1311783">
                  <a:moveTo>
                    <a:pt x="0" y="0"/>
                  </a:moveTo>
                  <a:lnTo>
                    <a:pt x="3076321" y="0"/>
                  </a:lnTo>
                  <a:lnTo>
                    <a:pt x="3076321" y="1311783"/>
                  </a:lnTo>
                  <a:lnTo>
                    <a:pt x="0" y="131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7" b="-132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370830" y="1115598"/>
            <a:ext cx="9553178" cy="77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Dúvidas ???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30C59DBF-ECB8-9BD0-434C-6F7C247A31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024968"/>
            <a:ext cx="930247" cy="841932"/>
          </a:xfrm>
          <a:prstGeom prst="rect">
            <a:avLst/>
          </a:prstGeom>
        </p:spPr>
      </p:pic>
      <p:pic>
        <p:nvPicPr>
          <p:cNvPr id="6" name="Picture 4" descr="a cartoon pug dog with a question mark above its head">
            <a:extLst>
              <a:ext uri="{FF2B5EF4-FFF2-40B4-BE49-F238E27FC236}">
                <a16:creationId xmlns:a16="http://schemas.microsoft.com/office/drawing/2014/main" id="{1EDFB4EC-98B3-D00D-078D-C97EF8E0C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159943"/>
            <a:ext cx="6019800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723948" y="-89900"/>
            <a:ext cx="8567888" cy="10404268"/>
            <a:chOff x="0" y="0"/>
            <a:chExt cx="11423850" cy="13872358"/>
          </a:xfrm>
        </p:grpSpPr>
        <p:sp>
          <p:nvSpPr>
            <p:cNvPr id="3" name="Freeform 3" descr="Forma  Descrição gerada automaticamente"/>
            <p:cNvSpPr/>
            <p:nvPr/>
          </p:nvSpPr>
          <p:spPr>
            <a:xfrm>
              <a:off x="0" y="0"/>
              <a:ext cx="11423904" cy="13872338"/>
            </a:xfrm>
            <a:custGeom>
              <a:avLst/>
              <a:gdLst/>
              <a:ahLst/>
              <a:cxnLst/>
              <a:rect l="l" t="t" r="r" b="b"/>
              <a:pathLst>
                <a:path w="11423904" h="13872338">
                  <a:moveTo>
                    <a:pt x="0" y="0"/>
                  </a:moveTo>
                  <a:lnTo>
                    <a:pt x="11423904" y="0"/>
                  </a:lnTo>
                  <a:lnTo>
                    <a:pt x="11423904" y="13872338"/>
                  </a:lnTo>
                  <a:lnTo>
                    <a:pt x="0" y="13872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3164" b="-4326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38638" y="1482042"/>
            <a:ext cx="9553178" cy="1654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 dirty="0">
                <a:solidFill>
                  <a:srgbClr val="006232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Profª Mª Chaiene M. da Silva Minella</a:t>
            </a:r>
          </a:p>
          <a:p>
            <a:pPr algn="l">
              <a:lnSpc>
                <a:spcPts val="4320"/>
              </a:lnSpc>
            </a:pPr>
            <a:r>
              <a:rPr lang="en-US" sz="3600" dirty="0" err="1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Engetec</a:t>
            </a: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| Engenharia de Software</a:t>
            </a:r>
          </a:p>
          <a:p>
            <a:pPr algn="l">
              <a:lnSpc>
                <a:spcPts val="4320"/>
              </a:lnSpc>
            </a:pPr>
            <a:r>
              <a:rPr lang="en-US" sz="3600" dirty="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chaiene.minella@univille</a:t>
            </a:r>
            <a:r>
              <a:rPr lang="en-US" sz="3600">
                <a:solidFill>
                  <a:srgbClr val="006232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.br</a:t>
            </a:r>
            <a:endParaRPr lang="en-US" sz="3600" dirty="0">
              <a:solidFill>
                <a:srgbClr val="006232"/>
              </a:solidFill>
              <a:latin typeface=" Avenir Next Arabic"/>
              <a:ea typeface=" Avenir Next Arabic"/>
              <a:cs typeface=" Avenir Next Arabic"/>
              <a:sym typeface=" Avenir Next Arabic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496432" y="7171805"/>
            <a:ext cx="4362687" cy="1861867"/>
            <a:chOff x="0" y="0"/>
            <a:chExt cx="5816916" cy="24824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16854" cy="2482469"/>
            </a:xfrm>
            <a:custGeom>
              <a:avLst/>
              <a:gdLst/>
              <a:ahLst/>
              <a:cxnLst/>
              <a:rect l="l" t="t" r="r" b="b"/>
              <a:pathLst>
                <a:path w="5816854" h="2482469">
                  <a:moveTo>
                    <a:pt x="0" y="0"/>
                  </a:moveTo>
                  <a:lnTo>
                    <a:pt x="5816854" y="0"/>
                  </a:lnTo>
                  <a:lnTo>
                    <a:pt x="5816854" y="2482469"/>
                  </a:lnTo>
                  <a:lnTo>
                    <a:pt x="0" y="24824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8" r="-1" b="-88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33dd0b0-a9be-4e97-a0c3-b0e677403699}" enabled="1" method="Privileged" siteId="{57fe0ac9-f7f7-4580-8b30-5aa7f0ac8e3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1077</Words>
  <Application>Microsoft Office PowerPoint</Application>
  <PresentationFormat>Personalizar</PresentationFormat>
  <Paragraphs>64</Paragraphs>
  <Slides>10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Template_Univille 60 anos.pptx</dc:title>
  <cp:lastModifiedBy>CHAIENE MERCEDES DA SILVA MINELLA</cp:lastModifiedBy>
  <cp:revision>2</cp:revision>
  <dcterms:created xsi:type="dcterms:W3CDTF">2006-08-16T00:00:00Z</dcterms:created>
  <dcterms:modified xsi:type="dcterms:W3CDTF">2026-08-12T11:07:15Z</dcterms:modified>
  <dc:identifier>DAGtVIDxolU</dc:identifier>
</cp:coreProperties>
</file>