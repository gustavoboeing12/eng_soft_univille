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6"/>
  </p:notesMasterIdLst>
  <p:handoutMasterIdLst>
    <p:handoutMasterId r:id="rId17"/>
  </p:handoutMasterIdLst>
  <p:sldIdLst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AF2469-8FBB-4FA5-A08D-CFA3200BA57D}" v="1" dt="2026-08-24T13:14:52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ENE MERCEDES DA SILVA MINELLA" userId="03c40756-137a-4d89-92ad-627326a1a7b4" providerId="ADAL" clId="{B70A75BF-988A-4E24-A962-02E599989989}"/>
    <pc:docChg chg="custSel modSld sldOrd">
      <pc:chgData name="CHAIENE MERCEDES DA SILVA MINELLA" userId="03c40756-137a-4d89-92ad-627326a1a7b4" providerId="ADAL" clId="{B70A75BF-988A-4E24-A962-02E599989989}" dt="2026-08-24T13:15:57.288" v="288" actId="20577"/>
      <pc:docMkLst>
        <pc:docMk/>
      </pc:docMkLst>
      <pc:sldChg chg="modSp mod">
        <pc:chgData name="CHAIENE MERCEDES DA SILVA MINELLA" userId="03c40756-137a-4d89-92ad-627326a1a7b4" providerId="ADAL" clId="{B70A75BF-988A-4E24-A962-02E599989989}" dt="2026-08-24T13:15:57.288" v="288" actId="20577"/>
        <pc:sldMkLst>
          <pc:docMk/>
          <pc:sldMk cId="58295249" sldId="267"/>
        </pc:sldMkLst>
        <pc:spChg chg="mod">
          <ac:chgData name="CHAIENE MERCEDES DA SILVA MINELLA" userId="03c40756-137a-4d89-92ad-627326a1a7b4" providerId="ADAL" clId="{B70A75BF-988A-4E24-A962-02E599989989}" dt="2026-08-24T13:15:54.704" v="287" actId="20577"/>
          <ac:spMkLst>
            <pc:docMk/>
            <pc:sldMk cId="58295249" sldId="267"/>
            <ac:spMk id="3" creationId="{5473F8D9-8BDB-BC03-1574-A27136751115}"/>
          </ac:spMkLst>
        </pc:spChg>
        <pc:spChg chg="mod">
          <ac:chgData name="CHAIENE MERCEDES DA SILVA MINELLA" userId="03c40756-137a-4d89-92ad-627326a1a7b4" providerId="ADAL" clId="{B70A75BF-988A-4E24-A962-02E599989989}" dt="2026-08-24T13:15:57.288" v="288" actId="20577"/>
          <ac:spMkLst>
            <pc:docMk/>
            <pc:sldMk cId="58295249" sldId="267"/>
            <ac:spMk id="6" creationId="{55962714-A399-25C9-78CD-BDB71DDA31D5}"/>
          </ac:spMkLst>
        </pc:spChg>
      </pc:sldChg>
      <pc:sldChg chg="modSp mod ord">
        <pc:chgData name="CHAIENE MERCEDES DA SILVA MINELLA" userId="03c40756-137a-4d89-92ad-627326a1a7b4" providerId="ADAL" clId="{B70A75BF-988A-4E24-A962-02E599989989}" dt="2026-08-24T13:10:56.784" v="193"/>
        <pc:sldMkLst>
          <pc:docMk/>
          <pc:sldMk cId="3855904903" sldId="26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C13AB6D-DEA2-4CBB-AC69-1EF1A6AD1512}">
      <dgm:prSet/>
      <dgm:spPr/>
      <dgm:t>
        <a:bodyPr rtlCol="0"/>
        <a:lstStyle/>
        <a:p>
          <a:pPr rtl="0">
            <a:defRPr cap="all"/>
          </a:pPr>
          <a:r>
            <a:rPr lang="pt-br" dirty="0"/>
            <a:t>Estudar o cenário</a:t>
          </a:r>
        </a:p>
      </dgm:t>
    </dgm:pt>
    <dgm:pt modelId="{2C752582-D9FF-4E04-A92F-827DB4BB5C48}" type="parTrans" cxnId="{4B888393-351D-4489-90C9-5A68061AB236}">
      <dgm:prSet/>
      <dgm:spPr/>
      <dgm:t>
        <a:bodyPr rtlCol="0"/>
        <a:lstStyle/>
        <a:p>
          <a:pPr rtl="0"/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 rtlCol="0"/>
        <a:lstStyle/>
        <a:p>
          <a:pPr rtl="0"/>
          <a:r>
            <a:rPr lang="pt-br"/>
            <a:t>01</a:t>
          </a:r>
        </a:p>
      </dgm:t>
    </dgm:pt>
    <dgm:pt modelId="{53742231-981F-480A-940F-203EC2F7423F}">
      <dgm:prSet/>
      <dgm:spPr/>
      <dgm:t>
        <a:bodyPr rtlCol="0"/>
        <a:lstStyle/>
        <a:p>
          <a:pPr rtl="0">
            <a:defRPr cap="all"/>
          </a:pPr>
          <a:r>
            <a:rPr lang="pt-br" dirty="0"/>
            <a:t>Entender as necessidades</a:t>
          </a:r>
        </a:p>
      </dgm:t>
    </dgm:pt>
    <dgm:pt modelId="{2FC75195-FBA1-43DE-85DD-40B4B3A2F1F3}" type="parTrans" cxnId="{F226B1C2-5D99-403A-8240-EAD6BD4D8534}">
      <dgm:prSet/>
      <dgm:spPr/>
      <dgm:t>
        <a:bodyPr rtlCol="0"/>
        <a:lstStyle/>
        <a:p>
          <a:pPr rtl="0"/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 rtlCol="0"/>
        <a:lstStyle/>
        <a:p>
          <a:pPr rtl="0"/>
          <a:r>
            <a:rPr lang="pt-br"/>
            <a:t>02</a:t>
          </a:r>
        </a:p>
      </dgm:t>
    </dgm:pt>
    <dgm:pt modelId="{9EF41CC5-EF3B-4A6D-8229-3F1333EADFB3}">
      <dgm:prSet/>
      <dgm:spPr/>
      <dgm:t>
        <a:bodyPr rtlCol="0"/>
        <a:lstStyle/>
        <a:p>
          <a:pPr rtl="0">
            <a:defRPr cap="all"/>
          </a:pPr>
          <a:r>
            <a:rPr lang="pt-br" dirty="0"/>
            <a:t>P</a:t>
          </a:r>
          <a:r>
            <a:rPr lang="pt-BR" dirty="0"/>
            <a:t>e</a:t>
          </a:r>
          <a:r>
            <a:rPr lang="pt-br" dirty="0"/>
            <a:t>nsar em uma solução</a:t>
          </a:r>
        </a:p>
      </dgm:t>
    </dgm:pt>
    <dgm:pt modelId="{DAEF1C7D-B0C5-46FA-BED3-8A54E918D3E0}" type="parTrans" cxnId="{E476EEBC-7C9F-4E07-BD58-1044B9769B64}">
      <dgm:prSet/>
      <dgm:spPr/>
      <dgm:t>
        <a:bodyPr rtlCol="0"/>
        <a:lstStyle/>
        <a:p>
          <a:pPr rtl="0"/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 rtlCol="0"/>
        <a:lstStyle/>
        <a:p>
          <a:pPr rtl="0"/>
          <a:r>
            <a:rPr lang="pt-br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600" kern="1200" dirty="0"/>
            <a:t>Estudar o cenário</a:t>
          </a: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600" kern="1200"/>
            <a:t>01</a:t>
          </a:r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600" kern="1200" dirty="0"/>
            <a:t>Entender as necessidades</a:t>
          </a:r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600" kern="1200"/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600" kern="1200" dirty="0"/>
            <a:t>P</a:t>
          </a:r>
          <a:r>
            <a:rPr lang="pt-BR" sz="2600" kern="1200" dirty="0"/>
            <a:t>e</a:t>
          </a:r>
          <a:r>
            <a:rPr lang="pt-br" sz="2600" kern="1200" dirty="0"/>
            <a:t>nsar em uma solução</a:t>
          </a: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600" kern="1200"/>
            <a:t>03</a:t>
          </a:r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01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02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2EA776-6486-409F-9E42-BD4FCC6A44A1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435DDD2-5AEF-4CE6-93B6-6FB9C678CC40}" type="datetime1">
              <a:rPr lang="pt-BR" smtClean="0"/>
              <a:t>24/08/2026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0DF503-732B-4721-AC20-D30104D5F450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CCB403-0313-4A5E-8E36-77BFB7215ED9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7F1835-ADE7-4D9D-BC53-5437D497D352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C27969-B261-4FC0-A695-A95DDDE99FA1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Imagem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E1FA99-845B-4C70-A7F6-30DFC6887F18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21B2C5-876A-49CE-ABA3-C1DCCF367A6A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D6572E-AB9B-40B1-9767-99FBEEEC4B22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B8ECB5-1E4B-48B5-BE59-C94C33D986AE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dirty="0"/>
              <a:t>Clique no ícone para adicionar uma imagem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8366F3-1C7E-4E4B-910E-50900CEA2133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780597-7E4C-49B1-8DFA-506BCE34072C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6DF03D-7AFC-47DF-9591-1326FF7AD073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F37908-64F6-4BF1-AEF9-1375A5CF069B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Caixa de texto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sz="800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3" name="Caixa de texto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EB9173-D618-48E2-BAA6-9B20DA9854D6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dirty="0"/>
              <a:t>Clique para editar o texto Mestre</a:t>
            </a:r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9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dirty="0"/>
              <a:t>Clique para editar o texto Mestre</a:t>
            </a:r>
          </a:p>
        </p:txBody>
      </p:sp>
      <p:sp>
        <p:nvSpPr>
          <p:cNvPr id="10" name="Espaço reservado para texto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dirty="0"/>
              <a:t>Clique para editar o texto Mestre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656C95-E4AE-4A94-B561-99A0CE0FFCF1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Image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Imagem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Imagem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0" name="Espaço Reservado para Imagem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Espaço reservado para texto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2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3" name="Espaço Reservado para Imagem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Espaço reservado para texto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5" name="Espaço reservado para texto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6" name="Espaço reservado para imagem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Espaço reservado para texto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E37451-1E5D-4C34-A14E-8751AAE8ED71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86FF3C-CA41-4B49-8218-6AF2FC913B34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E96C44-523A-4872-94D5-24CBDA5A9CC6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F9D740CA-AC13-4698-BFA2-D15C37DF415A}" type="datetime1">
              <a:rPr lang="pt-BR" smtClean="0"/>
              <a:t>24/08/2026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xícara, café, comida e bebida&#10;&#10;Descrição gerada automaticamente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rtlCol="0">
            <a:normAutofit/>
          </a:bodyPr>
          <a:lstStyle/>
          <a:p>
            <a:pPr rtl="0"/>
            <a:r>
              <a:rPr lang="pt-br" sz="7200" dirty="0"/>
              <a:t>Levantamento de requisitos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pPr rtl="0"/>
            <a:r>
              <a:rPr lang="pt-br" sz="4000" dirty="0"/>
              <a:t>Fazenda de Café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Levantamento de requisitos</a:t>
            </a:r>
          </a:p>
        </p:txBody>
      </p:sp>
      <p:graphicFrame>
        <p:nvGraphicFramePr>
          <p:cNvPr id="4" name="Espaço Reservado para Conteúdo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10380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AD8BF-39AC-3B0A-BD4C-DCBFE352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 fazenda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3F8D9-8BDB-BC03-1574-A27136751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633" y="1808922"/>
            <a:ext cx="6411924" cy="3880679"/>
          </a:xfrm>
        </p:spPr>
        <p:txBody>
          <a:bodyPr>
            <a:normAutofit/>
          </a:bodyPr>
          <a:lstStyle/>
          <a:p>
            <a:pPr algn="just"/>
            <a:r>
              <a:rPr lang="pt-B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Anna é proprietária de uma fazenda de café no interior de Minas. A fazenda produz e exporta café para vários países da América Latina, América do Norte e Europa. Atualmente Anna conta apenas com a comercialização do café que produz na sua fazenda.</a:t>
            </a:r>
            <a:endParaRPr lang="pt-BR" sz="3200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CCA7A-63C4-8CB9-3BAB-BF9D3DCF3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6" name="Imagem 5" descr="MINAS GERAIS: mulheres se reúnem com propósito de fortalecer cafeicultura |  Play no Agro">
            <a:extLst>
              <a:ext uri="{FF2B5EF4-FFF2-40B4-BE49-F238E27FC236}">
                <a16:creationId xmlns:a16="http://schemas.microsoft.com/office/drawing/2014/main" id="{609C91AD-5442-91D7-9A1A-2E89F74F9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339" y="3257551"/>
            <a:ext cx="2463800" cy="1847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595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AD8BF-39AC-3B0A-BD4C-DCBFE352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O restaurante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3F8D9-8BDB-BC03-1574-A27136751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459" y="1808922"/>
            <a:ext cx="4792098" cy="3880679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Anna iniciou uma expansão nos seus negócios, construindo na fazenda um restaurante que vai ter como carro chefe nas suas receitas, o café produzido na fazenda. 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CCA7A-63C4-8CB9-3BAB-BF9D3DCF3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5" name="Imagem 4" descr="9 indicações de hotel fazenda em Minas Gerais para você conhecer">
            <a:extLst>
              <a:ext uri="{FF2B5EF4-FFF2-40B4-BE49-F238E27FC236}">
                <a16:creationId xmlns:a16="http://schemas.microsoft.com/office/drawing/2014/main" id="{59D2A763-E7F2-7597-62B4-AB9D166E2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95" y="2792220"/>
            <a:ext cx="5107271" cy="340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19 recetas con café para los más cafeteros">
            <a:extLst>
              <a:ext uri="{FF2B5EF4-FFF2-40B4-BE49-F238E27FC236}">
                <a16:creationId xmlns:a16="http://schemas.microsoft.com/office/drawing/2014/main" id="{45C05F74-CBFF-CAB5-7ACE-716B5ADCC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343" y="4350110"/>
            <a:ext cx="1705457" cy="236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4664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afé para Prensa Francesa - Aprenda a melhor forma de preparar!">
            <a:extLst>
              <a:ext uri="{FF2B5EF4-FFF2-40B4-BE49-F238E27FC236}">
                <a16:creationId xmlns:a16="http://schemas.microsoft.com/office/drawing/2014/main" id="{7CB29E54-B068-88EA-831C-19D55DDF8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259" y="4371857"/>
            <a:ext cx="3558100" cy="237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8AD8BF-39AC-3B0A-BD4C-DCBFE352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 rede de lojas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3F8D9-8BDB-BC03-1574-A27136751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611" y="491178"/>
            <a:ext cx="5263311" cy="3880679"/>
          </a:xfrm>
        </p:spPr>
        <p:txBody>
          <a:bodyPr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Além do restaurante, Anna iniciou uma rede de lojas com cafetaria em anexo, para vender seu café diretamente para o consumidor final.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lojas contam com café em grãos, café em pó e diversos produtos relacionados ao consumo de café, como prensa francesa. 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CCA7A-63C4-8CB9-3BAB-BF9D3DCF3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6" name="Imagem 5" descr="Cafés vencedores do concurso da Emater-MG chegam às prateleiras - Mercado  Comum: Jornal on-line BH - Cultura - Economia - Política e Variedades">
            <a:extLst>
              <a:ext uri="{FF2B5EF4-FFF2-40B4-BE49-F238E27FC236}">
                <a16:creationId xmlns:a16="http://schemas.microsoft.com/office/drawing/2014/main" id="{8800A961-F783-8B84-B0F3-FC95EBC86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40" y="2673351"/>
            <a:ext cx="4341514" cy="26540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9926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AD8BF-39AC-3B0A-BD4C-DCBFE352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As cafeterias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3F8D9-8BDB-BC03-1574-A27136751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8827" y="1779104"/>
            <a:ext cx="3560260" cy="3642150"/>
          </a:xfrm>
        </p:spPr>
        <p:txBody>
          <a:bodyPr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cafeterias servem um delicioso café acompanhado de tortas e salgados.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CCA7A-63C4-8CB9-3BAB-BF9D3DCF3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5" name="Imagem 4" descr="10 cafeterias de Minas Gerais que você precisa conhecer">
            <a:extLst>
              <a:ext uri="{FF2B5EF4-FFF2-40B4-BE49-F238E27FC236}">
                <a16:creationId xmlns:a16="http://schemas.microsoft.com/office/drawing/2014/main" id="{600BB4E2-4111-7217-CDBF-D31AE64A64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937" y="2007704"/>
            <a:ext cx="3399850" cy="34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 descr="Cafeteria Indulgência Produtos Cozidos Doces E Cappuccino Gerados Pela Ai  Ilustração Stock - Ilustração de indulgência, francês: 274025461">
            <a:extLst>
              <a:ext uri="{FF2B5EF4-FFF2-40B4-BE49-F238E27FC236}">
                <a16:creationId xmlns:a16="http://schemas.microsoft.com/office/drawing/2014/main" id="{8F70D225-FA53-C2D8-8CE6-4CB8AE77A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26" y="4005470"/>
            <a:ext cx="4312088" cy="24651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7573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AD8BF-39AC-3B0A-BD4C-DCBFE352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3F8D9-8BDB-BC03-1574-A27136751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188" y="1918251"/>
            <a:ext cx="5917108" cy="3771349"/>
          </a:xfrm>
        </p:spPr>
        <p:txBody>
          <a:bodyPr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 a expansão dos negócios, Anna precisou informatizar todo esse </a:t>
            </a:r>
            <a:r>
              <a:rPr lang="pt-BR" sz="2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processo de produção e venda</a:t>
            </a:r>
            <a:r>
              <a:rPr lang="pt-B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para isso procurou uma empresa desenvolvedora de software, para que desenvolvesse um produto, no qual Anna, pudesse </a:t>
            </a:r>
            <a:r>
              <a:rPr lang="pt-BR" sz="2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gerenciar todo seu negócio</a:t>
            </a:r>
            <a:r>
              <a:rPr lang="pt-B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CCA7A-63C4-8CB9-3BAB-BF9D3DCF3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833829C-3219-E71D-4D2D-8CC28EBB6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289" y="3103144"/>
            <a:ext cx="2984500" cy="282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62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AD8BF-39AC-3B0A-BD4C-DCBFE352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Necessidades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3F8D9-8BDB-BC03-1574-A27136751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766" y="1918251"/>
            <a:ext cx="6281530" cy="3771349"/>
          </a:xfrm>
        </p:spPr>
        <p:txBody>
          <a:bodyPr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Anna deseja ter o </a:t>
            </a:r>
            <a:r>
              <a:rPr lang="pt-BR" sz="2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gerenciamento do seu negócio</a:t>
            </a:r>
            <a:r>
              <a:rPr lang="pt-B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na “palma da sua mão”. Ela precisa de um produto de software que ela possa acessar pelo notebook (web), tablets e celular. Ainda precisa que seus gerentes também tenham acesso em qualquer lugar da fazenda, restaurante, lojas e cafeterias.</a:t>
            </a:r>
            <a:endParaRPr lang="pt-BR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CCA7A-63C4-8CB9-3BAB-BF9D3DCF3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5" name="Imagem 4" descr="Sistema para Cafeterias com Gestão Completa| ControleNaMão">
            <a:extLst>
              <a:ext uri="{FF2B5EF4-FFF2-40B4-BE49-F238E27FC236}">
                <a16:creationId xmlns:a16="http://schemas.microsoft.com/office/drawing/2014/main" id="{90B66BEA-0756-D73A-847C-057ACB0C1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04" y="2860592"/>
            <a:ext cx="4979504" cy="2698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2910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AD8BF-39AC-3B0A-BD4C-DCBFE352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Levantamento inicial de 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3F8D9-8BDB-BC03-1574-A27136751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766" y="1918251"/>
            <a:ext cx="6281530" cy="3771349"/>
          </a:xfrm>
        </p:spPr>
        <p:txBody>
          <a:bodyPr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equipe responsável pelo levantamento de requisitos, iniciou num primeiro momento, uma entrevista, agendando uma reunião com Anna e em seguida outras reuniões com seus gestores. 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CCA7A-63C4-8CB9-3BAB-BF9D3DCF3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6" name="Imagem 5" descr="Os modelos de processo de desenvolvimento de software">
            <a:extLst>
              <a:ext uri="{FF2B5EF4-FFF2-40B4-BE49-F238E27FC236}">
                <a16:creationId xmlns:a16="http://schemas.microsoft.com/office/drawing/2014/main" id="{E506C4AF-9727-DC00-04EB-9CE05A9B56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27" y="2991677"/>
            <a:ext cx="4583225" cy="2579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6" name="Picture 4" descr="Grupo de empresários está tomando café na reunião no restaurante, perto da  xícara e da mão">
            <a:extLst>
              <a:ext uri="{FF2B5EF4-FFF2-40B4-BE49-F238E27FC236}">
                <a16:creationId xmlns:a16="http://schemas.microsoft.com/office/drawing/2014/main" id="{69358CF8-524E-F54D-718F-BC45DA21F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656" y="4281338"/>
            <a:ext cx="4381875" cy="2465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34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AD8BF-39AC-3B0A-BD4C-DCBFE3528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25" y="671997"/>
            <a:ext cx="3706889" cy="672548"/>
          </a:xfrm>
        </p:spPr>
        <p:txBody>
          <a:bodyPr>
            <a:normAutofit/>
          </a:bodyPr>
          <a:lstStyle/>
          <a:p>
            <a:r>
              <a:rPr lang="pt-BR" sz="4000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3F8D9-8BDB-BC03-1574-A27136751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774" y="1742386"/>
            <a:ext cx="10300252" cy="3549374"/>
          </a:xfrm>
        </p:spPr>
        <p:txBody>
          <a:bodyPr>
            <a:no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dirty="0">
                <a:effectLst/>
                <a:latin typeface="Bell MT" panose="020F0502020204030204" pitchFamily="18" charset="0"/>
                <a:ea typeface="Calibri" panose="020F0502020204030204" pitchFamily="34" charset="0"/>
                <a:cs typeface="Aldhabi" panose="020F0502020204030204" pitchFamily="2" charset="-78"/>
              </a:rPr>
              <a:t>1. Com base na etapa de </a:t>
            </a:r>
            <a:r>
              <a:rPr lang="pt-BR" sz="1800" b="1" u="sng" dirty="0">
                <a:effectLst/>
                <a:latin typeface="Bell MT" panose="020F0502020204030204" pitchFamily="18" charset="0"/>
                <a:ea typeface="Calibri" panose="020F0502020204030204" pitchFamily="34" charset="0"/>
                <a:cs typeface="Aldhabi" panose="020F0502020204030204" pitchFamily="2" charset="-78"/>
              </a:rPr>
              <a:t>levantamento de requisitos</a:t>
            </a:r>
            <a:r>
              <a:rPr lang="pt-BR" sz="1800" b="1" dirty="0">
                <a:effectLst/>
                <a:latin typeface="Bell MT" panose="020F0502020204030204" pitchFamily="18" charset="0"/>
                <a:ea typeface="Calibri" panose="020F0502020204030204" pitchFamily="34" charset="0"/>
                <a:cs typeface="Aldhabi" panose="020F0502020204030204" pitchFamily="2" charset="-78"/>
              </a:rPr>
              <a:t>, </a:t>
            </a:r>
            <a:r>
              <a:rPr lang="pt-BR" dirty="0">
                <a:latin typeface="Bell MT" panose="020F0502020204030204" pitchFamily="18" charset="0"/>
                <a:cs typeface="Aldhabi" panose="020F0502020204030204" pitchFamily="2" charset="-78"/>
              </a:rPr>
              <a:t>DESCREVA COMO </a:t>
            </a:r>
            <a:r>
              <a:rPr lang="pt-BR" sz="1800" b="1" dirty="0">
                <a:effectLst/>
                <a:latin typeface="Bell MT" panose="020F0502020204030204" pitchFamily="18" charset="0"/>
                <a:ea typeface="Calibri" panose="020F0502020204030204" pitchFamily="34" charset="0"/>
                <a:cs typeface="Aldhabi" panose="020F0502020204030204" pitchFamily="2" charset="-78"/>
              </a:rPr>
              <a:t>esta etapa deverá ser trabalhada para o desenvolvimento de software adequado à este cenário?</a:t>
            </a:r>
            <a:endParaRPr lang="pt-BR" sz="1800" dirty="0">
              <a:effectLst/>
              <a:latin typeface="Bell MT" panose="020F0502020204030204" pitchFamily="18" charset="0"/>
              <a:ea typeface="Calibri" panose="020F0502020204030204" pitchFamily="34" charset="0"/>
              <a:cs typeface="Aldhabi" panose="020F0502020204030204" pitchFamily="2" charset="-78"/>
            </a:endParaRPr>
          </a:p>
          <a:p>
            <a:pPr marL="6286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sz="1800" dirty="0">
                <a:effectLst/>
                <a:latin typeface="Bell MT" panose="020F0502020204030204" pitchFamily="18" charset="0"/>
                <a:ea typeface="Calibri" panose="020F0502020204030204" pitchFamily="34" charset="0"/>
                <a:cs typeface="Aldhabi" panose="020F0502020204030204" pitchFamily="2" charset="-78"/>
              </a:rPr>
              <a:t>Exemplo: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pt-BR" sz="1800" u="sng" dirty="0">
                <a:effectLst/>
                <a:latin typeface="Bell MT" panose="020F0502020204030204" pitchFamily="18" charset="0"/>
                <a:ea typeface="Calibri" panose="020F0502020204030204" pitchFamily="34" charset="0"/>
                <a:cs typeface="Aldhabi" panose="020F0502020204030204" pitchFamily="2" charset="-78"/>
              </a:rPr>
              <a:t>Levantamento de requisitos</a:t>
            </a:r>
            <a:r>
              <a:rPr lang="pt-BR" sz="1800" dirty="0">
                <a:effectLst/>
                <a:latin typeface="Bell MT" panose="020F0502020204030204" pitchFamily="18" charset="0"/>
                <a:ea typeface="Calibri" panose="020F0502020204030204" pitchFamily="34" charset="0"/>
                <a:cs typeface="Aldhabi" panose="020F0502020204030204" pitchFamily="2" charset="-78"/>
              </a:rPr>
              <a:t>: </a:t>
            </a:r>
            <a:r>
              <a:rPr lang="pt-BR" sz="1800">
                <a:effectLst/>
                <a:latin typeface="Bell MT" panose="020F0502020204030204" pitchFamily="18" charset="0"/>
                <a:ea typeface="Calibri" panose="020F0502020204030204" pitchFamily="34" charset="0"/>
                <a:cs typeface="Aldhabi" panose="020F0502020204030204" pitchFamily="2" charset="-78"/>
              </a:rPr>
              <a:t>Iremos conversar com </a:t>
            </a:r>
            <a:r>
              <a:rPr lang="pt-BR" sz="1800" dirty="0">
                <a:effectLst/>
                <a:latin typeface="Bell MT" panose="020F0502020204030204" pitchFamily="18" charset="0"/>
                <a:ea typeface="Calibri" panose="020F0502020204030204" pitchFamily="34" charset="0"/>
                <a:cs typeface="Aldhabi" panose="020F0502020204030204" pitchFamily="2" charset="-78"/>
              </a:rPr>
              <a:t>a proprietária da fazenda (cliente), para melhor entendimento do processo de negócio... (em torno de um parágrafo)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1800" dirty="0">
              <a:effectLst/>
              <a:latin typeface="Bell MT" panose="020F0502020204030204" pitchFamily="18" charset="0"/>
              <a:ea typeface="Calibri" panose="020F0502020204030204" pitchFamily="34" charset="0"/>
              <a:cs typeface="Aldhabi" panose="020F0502020204030204" pitchFamily="2" charset="-78"/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pt-BR" sz="1800" b="1" dirty="0">
                <a:effectLst/>
                <a:latin typeface="Bell MT" panose="020F0502020204030204" pitchFamily="18" charset="0"/>
                <a:ea typeface="Calibri" panose="020F0502020204030204" pitchFamily="34" charset="0"/>
                <a:cs typeface="Aldhabi" panose="020F0502020204030204" pitchFamily="2" charset="-78"/>
              </a:rPr>
              <a:t>2. Quais requisitos é possível identificar no cenário apresentado?</a:t>
            </a:r>
            <a:endParaRPr lang="pt-BR" sz="1800" dirty="0">
              <a:effectLst/>
              <a:latin typeface="Bell MT" panose="020F0502020204030204" pitchFamily="18" charset="0"/>
              <a:ea typeface="Calibri" panose="020F0502020204030204" pitchFamily="34" charset="0"/>
              <a:cs typeface="Aldhabi" panose="020F0502020204030204" pitchFamily="2" charset="-78"/>
            </a:endParaRPr>
          </a:p>
          <a:p>
            <a:pPr marL="4572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800" dirty="0">
                <a:effectLst/>
                <a:latin typeface="Bell MT" panose="020F0502020204030204" pitchFamily="18" charset="0"/>
                <a:ea typeface="Calibri" panose="020F0502020204030204" pitchFamily="34" charset="0"/>
                <a:cs typeface="Aldhabi" panose="020F0502020204030204" pitchFamily="2" charset="-78"/>
              </a:rPr>
              <a:t>Exemplo: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pt-BR" sz="1800" dirty="0">
                <a:effectLst/>
                <a:latin typeface="Bell MT" panose="020F0502020204030204" pitchFamily="18" charset="0"/>
                <a:ea typeface="Calibri" panose="020F0502020204030204" pitchFamily="34" charset="0"/>
                <a:cs typeface="Aldhabi" panose="020F0502020204030204" pitchFamily="2" charset="-78"/>
              </a:rPr>
              <a:t>Cadastrar produtos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pt-BR" sz="1800" dirty="0">
                <a:effectLst/>
                <a:latin typeface="Bell MT" panose="020F0502020204030204" pitchFamily="18" charset="0"/>
                <a:ea typeface="Calibri" panose="020F0502020204030204" pitchFamily="34" charset="0"/>
                <a:cs typeface="Aldhabi" panose="020F0502020204030204" pitchFamily="2" charset="-78"/>
              </a:rPr>
              <a:t>Cadastrar rede de lojas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904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AD8BF-39AC-3B0A-BD4C-DCBFE352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3F8D9-8BDB-BC03-1574-A27136751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1750" y="256652"/>
            <a:ext cx="6047850" cy="2531164"/>
          </a:xfrm>
        </p:spPr>
        <p:txBody>
          <a:bodyPr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grupos de 3 a 4 pessoas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Preparar apresentação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apresentações serão por ordem de sorteio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Apresentações na próxima aula*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Vale até 0,25 (extra – na média do bimestre)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CCA7A-63C4-8CB9-3BAB-BF9D3DCF3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D05798B-1328-AF9D-7051-F4001EA61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678" y="3180520"/>
            <a:ext cx="7035549" cy="34236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5962714-A399-25C9-78CD-BDB71DDA31D5}"/>
              </a:ext>
            </a:extLst>
          </p:cNvPr>
          <p:cNvSpPr txBox="1"/>
          <p:nvPr/>
        </p:nvSpPr>
        <p:spPr>
          <a:xfrm>
            <a:off x="9015675" y="5689601"/>
            <a:ext cx="2852530" cy="1079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O grupo sorteado que não apresentar terá desconto de 0,25 na média.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Todos da equipe devem apresentar.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95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6_TF12214701" id="{5D565F68-5A4C-4385-9096-18BECD4C5627}" vid="{B4809734-240F-4448-8EC4-45DBE2F02D7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23eaefe-df6c-480b-ada8-a548fdd26ca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350AD43B11F4F4E9B9DBFDC49320560" ma:contentTypeVersion="15" ma:contentTypeDescription="Crie um novo documento." ma:contentTypeScope="" ma:versionID="8859bbba60504db2a1b7ecb09d386eb9">
  <xsd:schema xmlns:xsd="http://www.w3.org/2001/XMLSchema" xmlns:xs="http://www.w3.org/2001/XMLSchema" xmlns:p="http://schemas.microsoft.com/office/2006/metadata/properties" xmlns:ns3="023eaefe-df6c-480b-ada8-a548fdd26caf" xmlns:ns4="850d55d8-7fd4-4470-a84a-461aa0b87261" targetNamespace="http://schemas.microsoft.com/office/2006/metadata/properties" ma:root="true" ma:fieldsID="210e97160903f229870bfc9ed515e7c0" ns3:_="" ns4:_="">
    <xsd:import namespace="023eaefe-df6c-480b-ada8-a548fdd26caf"/>
    <xsd:import namespace="850d55d8-7fd4-4470-a84a-461aa0b8726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3eaefe-df6c-480b-ada8-a548fdd26c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0d55d8-7fd4-4470-a84a-461aa0b8726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9EFA2F-E569-4796-B3C8-1126E39095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D00BA3-1583-4FEE-9353-52D7E30E577F}">
  <ds:schemaRefs>
    <ds:schemaRef ds:uri="850d55d8-7fd4-4470-a84a-461aa0b87261"/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023eaefe-df6c-480b-ada8-a548fdd26caf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80D9A96-220B-4A72-AB2A-30460D1067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3eaefe-df6c-480b-ada8-a548fdd26caf"/>
    <ds:schemaRef ds:uri="850d55d8-7fd4-4470-a84a-461aa0b872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7fe0ac9-f7f7-4580-8b30-5aa7f0ac8e3b}" enabled="0" method="" siteId="{57fe0ac9-f7f7-4580-8b30-5aa7f0ac8e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{0F092BAB-8ACD-4070-830F-E7E6171F87E5}tf12214701_win32</Template>
  <TotalTime>140</TotalTime>
  <Words>442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Bell MT</vt:lpstr>
      <vt:lpstr>Calibri</vt:lpstr>
      <vt:lpstr>Courier New</vt:lpstr>
      <vt:lpstr>Goudy Old Style</vt:lpstr>
      <vt:lpstr>Wingdings 2</vt:lpstr>
      <vt:lpstr>SlateVTI</vt:lpstr>
      <vt:lpstr>Levantamento de requisitos</vt:lpstr>
      <vt:lpstr>Levantamento de requisitos</vt:lpstr>
      <vt:lpstr>A fazenda</vt:lpstr>
      <vt:lpstr>O restaurante</vt:lpstr>
      <vt:lpstr>A rede de lojas</vt:lpstr>
      <vt:lpstr>As cafeterias</vt:lpstr>
      <vt:lpstr>Software</vt:lpstr>
      <vt:lpstr>Necessidades</vt:lpstr>
      <vt:lpstr>Levantamento inicial de requisitos</vt:lpstr>
      <vt:lpstr>Atividade</vt:lpstr>
      <vt:lpstr>Atividade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Levantamento de requisitos</dc:title>
  <dc:creator>CHAIENE MERCEDES DA SILVA MINELLA</dc:creator>
  <cp:lastModifiedBy>CHAIENE MERCEDES DA SILVA MINELLA</cp:lastModifiedBy>
  <cp:revision>1</cp:revision>
  <dcterms:created xsi:type="dcterms:W3CDTF">2024-04-04T19:12:02Z</dcterms:created>
  <dcterms:modified xsi:type="dcterms:W3CDTF">2026-08-24T13:16:01Z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0x0101005350AD43B11F4F4E9B9DBFDC49320560</vt:lpwstr>
  </property>
</Properties>
</file>