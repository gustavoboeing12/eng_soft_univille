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4" r:id="rId1"/>
  </p:sldMasterIdLst>
  <p:notesMasterIdLst>
    <p:notesMasterId r:id="rId15"/>
  </p:notesMasterIdLst>
  <p:sldIdLst>
    <p:sldId id="256" r:id="rId2"/>
    <p:sldId id="577" r:id="rId3"/>
    <p:sldId id="578" r:id="rId4"/>
    <p:sldId id="579" r:id="rId5"/>
    <p:sldId id="580" r:id="rId6"/>
    <p:sldId id="581" r:id="rId7"/>
    <p:sldId id="582" r:id="rId8"/>
    <p:sldId id="583" r:id="rId9"/>
    <p:sldId id="584" r:id="rId10"/>
    <p:sldId id="585" r:id="rId11"/>
    <p:sldId id="586" r:id="rId12"/>
    <p:sldId id="587" r:id="rId13"/>
    <p:sldId id="58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ENE MERCEDES DA SILVA MINELLA" userId="03c40756-137a-4d89-92ad-627326a1a7b4" providerId="ADAL" clId="{B70A75BF-988A-4E24-A962-02E599989989}"/>
    <pc:docChg chg="modSld">
      <pc:chgData name="CHAIENE MERCEDES DA SILVA MINELLA" userId="03c40756-137a-4d89-92ad-627326a1a7b4" providerId="ADAL" clId="{B70A75BF-988A-4E24-A962-02E599989989}" dt="2026-02-27T11:53:38.432" v="46" actId="6549"/>
      <pc:docMkLst>
        <pc:docMk/>
      </pc:docMkLst>
      <pc:sldChg chg="modSp mod">
        <pc:chgData name="CHAIENE MERCEDES DA SILVA MINELLA" userId="03c40756-137a-4d89-92ad-627326a1a7b4" providerId="ADAL" clId="{B70A75BF-988A-4E24-A962-02E599989989}" dt="2026-02-27T11:53:38.432" v="46" actId="6549"/>
        <pc:sldMkLst>
          <pc:docMk/>
          <pc:sldMk cId="3982621231" sldId="588"/>
        </pc:sldMkLst>
        <pc:spChg chg="mod">
          <ac:chgData name="CHAIENE MERCEDES DA SILVA MINELLA" userId="03c40756-137a-4d89-92ad-627326a1a7b4" providerId="ADAL" clId="{B70A75BF-988A-4E24-A962-02E599989989}" dt="2026-02-27T11:53:38.432" v="46" actId="6549"/>
          <ac:spMkLst>
            <pc:docMk/>
            <pc:sldMk cId="3982621231" sldId="588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407CFB-0D48-4E41-B54A-8F339C6BB96B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191309-9245-4A3B-8AC2-CD73CC5C4A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422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E1E70-204B-927E-0FA3-0547201BB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1FEB8F-A705-BB8E-BEF4-63FD2FBE6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5C47C6-1D6F-3E4C-1781-2CFBFE16E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2D23B5-41EE-842C-5CC4-8DEFB0D91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75ED29-6356-07F5-5030-7D409B106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509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18785-E02A-5D29-91C3-1035EF5C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A4387D-06BA-7395-5749-A9CA4C137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99F6E6-53F8-A776-F592-23CD9ED24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51264D-4B04-E012-A915-E8D2E5258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C53E43-928F-9DC3-C605-386AFD36E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366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191BA-ECE5-4B49-099A-D056070A6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0244EB-E89F-F2F5-F228-0B1C56DCC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70741A-15FB-345D-B3AB-12D2D7CF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142336-2E91-0E38-F40B-6C9F3F2F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BFEE63-C3AF-12B3-481B-71B45D94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259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E0DA8-E056-0E2D-D11C-BF648494E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412F25-4E23-E879-7DF4-158FFE33C2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6AB3A4-67FD-B52F-C60A-3D253B0E7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C1DBDC-81DA-5AD4-752A-9FCB44FF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3CFB80-90C2-05C0-7D78-41B0F4F69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7C5498-97B9-52CB-5D71-7C60AB3A1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4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8564A-A18E-F787-EE70-D2383B09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93380D-EAAB-B883-C481-73363AC2A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66FF33-B410-E5FA-6696-387F014B6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302610C-F3FD-6FA5-D008-17FB838F20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CE46CB9-863F-0D5C-179A-F3D1BABB6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B5B97D5-87B8-1733-3C75-BF3D76349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2A87D90-C3C8-A224-B879-507C951D2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8D0C47C-FE66-8530-47DA-74147741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021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7D9BF-C5EA-E5E2-9645-E00C52EB3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0E219DA-BDD8-FC89-548D-86AAB1762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D0BE9E2-5499-5327-94EE-0872099E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192DA45-DA46-AA53-4D8A-9B377D8E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12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50C54DE-8E2F-E69A-F612-3936DB1C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73E191C-C399-2FED-08DE-CFF2EA5C3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4F6DE6-5898-E808-4499-D3CE4340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112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1146B3-4B06-8788-F7E3-CCD0AA011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44FC54-BDA5-AF5C-F339-CE967C1F0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80C76-5B83-CAF2-3B3B-EE35AD95B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C872CC-9068-8B4D-CB4F-D51AFB35D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7C1AAB0-7E3D-1D29-24FD-3BD3A0307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231F7B-203D-1EDC-1935-415A76E2D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039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00E71-2E18-C57D-963D-E09CA5A9C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6FF529C-C512-9680-188A-86F8C26DED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4F77E0-04EB-CBA1-026E-DC88A6601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3D25AF-50FA-6CD8-7A50-44D890F71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B58CA8-661D-C1B5-AA24-796BE6CA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AB0E4D-34AA-52F6-4238-6895DBDB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025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288FA-D858-F39F-9A2B-F92E70238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870703-73C0-B50F-CF81-63924D643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3DF7A5-40CB-25E3-50F6-54EC9B208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BC94E3-D15E-8A13-F9B3-2A466A6AB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318E0E-328D-6205-7B30-FE86436E9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330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2BF564-0374-EE89-4731-5470BCE6E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93CF46-96ED-2292-8AE4-DA29FCF3F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4E1336-B6E6-F1D1-2742-D919993EC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B8FCE0-C752-0CBF-A8F4-F6F23F141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8A2D7B-394B-DED6-4AA8-EB179255F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219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D303094-CE2D-04AA-DEC0-E3C768834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7C0CE6-463B-35C6-1612-21BD97A47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C4C5F0-CBFC-590F-0EFD-D0B31ADB0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0BFE97-14A4-0850-7CCE-59EC5F4395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833900-3374-25FA-F096-94D5A10E9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8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482632" y="-59934"/>
            <a:ext cx="5711925" cy="6936179"/>
            <a:chOff x="0" y="0"/>
            <a:chExt cx="11423850" cy="13872358"/>
          </a:xfrm>
        </p:grpSpPr>
        <p:sp>
          <p:nvSpPr>
            <p:cNvPr id="3" name="Freeform 3" descr="Forma  Descrição gerada automaticamente"/>
            <p:cNvSpPr/>
            <p:nvPr/>
          </p:nvSpPr>
          <p:spPr>
            <a:xfrm>
              <a:off x="0" y="0"/>
              <a:ext cx="11423904" cy="13872338"/>
            </a:xfrm>
            <a:custGeom>
              <a:avLst/>
              <a:gdLst/>
              <a:ahLst/>
              <a:cxnLst/>
              <a:rect l="l" t="t" r="r" b="b"/>
              <a:pathLst>
                <a:path w="11423904" h="13872338">
                  <a:moveTo>
                    <a:pt x="0" y="0"/>
                  </a:moveTo>
                  <a:lnTo>
                    <a:pt x="11423904" y="0"/>
                  </a:lnTo>
                  <a:lnTo>
                    <a:pt x="11423904" y="13872338"/>
                  </a:lnTo>
                  <a:lnTo>
                    <a:pt x="0" y="1387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164" b="-432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997622" y="4781204"/>
            <a:ext cx="2908458" cy="1241245"/>
            <a:chOff x="0" y="0"/>
            <a:chExt cx="5816916" cy="24824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854" cy="2482469"/>
            </a:xfrm>
            <a:custGeom>
              <a:avLst/>
              <a:gdLst/>
              <a:ahLst/>
              <a:cxnLst/>
              <a:rect l="l" t="t" r="r" b="b"/>
              <a:pathLst>
                <a:path w="5816854" h="2482469">
                  <a:moveTo>
                    <a:pt x="0" y="0"/>
                  </a:moveTo>
                  <a:lnTo>
                    <a:pt x="5816854" y="0"/>
                  </a:lnTo>
                  <a:lnTo>
                    <a:pt x="5816854" y="2482469"/>
                  </a:lnTo>
                  <a:lnTo>
                    <a:pt x="0" y="248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8" r="-1" b="-8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Freeform 6"/>
          <p:cNvSpPr/>
          <p:nvPr/>
        </p:nvSpPr>
        <p:spPr>
          <a:xfrm>
            <a:off x="505324" y="2156180"/>
            <a:ext cx="1206999" cy="1136993"/>
          </a:xfrm>
          <a:custGeom>
            <a:avLst/>
            <a:gdLst/>
            <a:ahLst/>
            <a:cxnLst/>
            <a:rect l="l" t="t" r="r" b="b"/>
            <a:pathLst>
              <a:path w="1810499" h="1705490">
                <a:moveTo>
                  <a:pt x="0" y="0"/>
                </a:moveTo>
                <a:lnTo>
                  <a:pt x="1810500" y="0"/>
                </a:lnTo>
                <a:lnTo>
                  <a:pt x="1810500" y="1705491"/>
                </a:lnTo>
                <a:lnTo>
                  <a:pt x="0" y="1705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905190" y="857813"/>
            <a:ext cx="636878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Universidade da Região de Joinville – Univille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2324" y="1937766"/>
            <a:ext cx="6368785" cy="614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36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Engenharia de </a:t>
            </a:r>
            <a:r>
              <a:rPr lang="en-US" sz="36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36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2324" y="2639897"/>
            <a:ext cx="636878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240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Engenharia de Software</a:t>
            </a:r>
          </a:p>
          <a:p>
            <a:pPr>
              <a:lnSpc>
                <a:spcPts val="1919"/>
              </a:lnSpc>
            </a:pPr>
            <a:r>
              <a:rPr lang="en-US" sz="160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Profª Mª Chaiene M. da Silva Minella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7012EF5C-03B9-F676-B8BB-474C691D3306}"/>
              </a:ext>
            </a:extLst>
          </p:cNvPr>
          <p:cNvSpPr txBox="1"/>
          <p:nvPr/>
        </p:nvSpPr>
        <p:spPr>
          <a:xfrm>
            <a:off x="1600392" y="636105"/>
            <a:ext cx="8489503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18"/>
              </a:lnSpc>
            </a:pPr>
            <a:r>
              <a:rPr lang="en-US" sz="4266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266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FB65B0C-B949-19F9-84BC-3F503A5EC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83312"/>
            <a:ext cx="620165" cy="561288"/>
          </a:xfrm>
          <a:prstGeom prst="rect">
            <a:avLst/>
          </a:prstGeom>
        </p:spPr>
      </p:pic>
      <p:pic>
        <p:nvPicPr>
          <p:cNvPr id="6" name="Picture 2" descr="Imagem relacionada">
            <a:extLst>
              <a:ext uri="{FF2B5EF4-FFF2-40B4-BE49-F238E27FC236}">
                <a16:creationId xmlns:a16="http://schemas.microsoft.com/office/drawing/2014/main" id="{6769D1B9-FC1B-DC28-A4B1-6BC14AA81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89" y="1897529"/>
            <a:ext cx="9791574" cy="4602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B636-B958-E1EA-E9F3-31A3DD1A5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9F783F4-8C69-CE47-793E-FB135BF9E575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781044"/>
            <a:ext cx="2540000" cy="1076955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597B696C-ADF8-C757-9449-48A5353176FD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9101D36-74FE-C1A7-C99D-BE014BE15CB9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95BAF73-7098-345B-6F39-A0BE34B0B1A4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0D12762-0AEC-D28B-26A8-1A6B6DBB882D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3B8EBB8-D915-19AC-28C2-6A92E2B54139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FF650A53-5272-6AF1-98AD-F8BB879036DD}"/>
              </a:ext>
            </a:extLst>
          </p:cNvPr>
          <p:cNvSpPr txBox="1"/>
          <p:nvPr/>
        </p:nvSpPr>
        <p:spPr>
          <a:xfrm>
            <a:off x="1600392" y="636105"/>
            <a:ext cx="8489503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18"/>
              </a:lnSpc>
            </a:pPr>
            <a:r>
              <a:rPr lang="en-US" sz="4266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266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38406FB-83E7-D4EB-EC3C-BE008BBE6C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83312"/>
            <a:ext cx="620165" cy="561288"/>
          </a:xfrm>
          <a:prstGeom prst="rect">
            <a:avLst/>
          </a:prstGeom>
        </p:spPr>
      </p:pic>
      <p:sp>
        <p:nvSpPr>
          <p:cNvPr id="7" name="Espaço Reservado para Conteúdo 4"/>
          <p:cNvSpPr txBox="1">
            <a:spLocks/>
          </p:cNvSpPr>
          <p:nvPr/>
        </p:nvSpPr>
        <p:spPr>
          <a:xfrm>
            <a:off x="0" y="2355574"/>
            <a:ext cx="12192000" cy="45024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  <a:defRPr/>
            </a:pPr>
            <a:r>
              <a:rPr lang="pt-BR" sz="2800" dirty="0"/>
              <a:t>Esse é seu pior pesadelo. 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pt-BR" sz="2800" dirty="0"/>
              <a:t>Um cliente entra no seu escritório, senta-se, olha diretamente no seus olhos e diz:</a:t>
            </a:r>
          </a:p>
        </p:txBody>
      </p:sp>
    </p:spTree>
    <p:extLst>
      <p:ext uri="{BB962C8B-B14F-4D97-AF65-F5344CB8AC3E}">
        <p14:creationId xmlns:p14="http://schemas.microsoft.com/office/powerpoint/2010/main" val="3696115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A882B-A149-44FF-1387-89456A649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B0AB1642-8FA5-7087-B239-24E107483960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3BA7F57-D044-6807-515C-5CF3449F764A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27B178E-0E20-1156-72DB-B9CF0F4D8395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BC58E20-03B0-D1C1-A7FB-1FC915C0770A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1EE76CF7-233A-5820-720E-573208FF5BA8}"/>
              </a:ext>
            </a:extLst>
          </p:cNvPr>
          <p:cNvSpPr txBox="1"/>
          <p:nvPr/>
        </p:nvSpPr>
        <p:spPr>
          <a:xfrm>
            <a:off x="1600392" y="636105"/>
            <a:ext cx="8489503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18"/>
              </a:lnSpc>
            </a:pPr>
            <a:r>
              <a:rPr lang="en-US" sz="4266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266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E197F04-E69A-4883-4135-C30A0ED7C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83312"/>
            <a:ext cx="620165" cy="561288"/>
          </a:xfrm>
          <a:prstGeom prst="rect">
            <a:avLst/>
          </a:prstGeom>
        </p:spPr>
      </p:pic>
      <p:pic>
        <p:nvPicPr>
          <p:cNvPr id="1028" name="Picture 4" descr="Resultado de imagem para todo mundo em panico + desenho + mÃ¡scara">
            <a:extLst>
              <a:ext uri="{FF2B5EF4-FFF2-40B4-BE49-F238E27FC236}">
                <a16:creationId xmlns:a16="http://schemas.microsoft.com/office/drawing/2014/main" id="{A2F5D5F6-0843-4F82-92F2-4FFC195C86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10" r="2" b="2"/>
          <a:stretch/>
        </p:blipFill>
        <p:spPr bwMode="auto">
          <a:xfrm>
            <a:off x="1023750" y="1536501"/>
            <a:ext cx="3856363" cy="4902175"/>
          </a:xfrm>
          <a:custGeom>
            <a:avLst/>
            <a:gdLst>
              <a:gd name="connsiteX0" fmla="*/ 842596 w 5394960"/>
              <a:gd name="connsiteY0" fmla="*/ 0 h 6858000"/>
              <a:gd name="connsiteX1" fmla="*/ 5394960 w 5394960"/>
              <a:gd name="connsiteY1" fmla="*/ 0 h 6858000"/>
              <a:gd name="connsiteX2" fmla="*/ 5394960 w 5394960"/>
              <a:gd name="connsiteY2" fmla="*/ 21851 h 6858000"/>
              <a:gd name="connsiteX3" fmla="*/ 4365943 w 5394960"/>
              <a:gd name="connsiteY3" fmla="*/ 6858000 h 6858000"/>
              <a:gd name="connsiteX4" fmla="*/ 0 w 5394960"/>
              <a:gd name="connsiteY4" fmla="*/ 6858000 h 6858000"/>
              <a:gd name="connsiteX5" fmla="*/ 0 w 5394960"/>
              <a:gd name="connsiteY5" fmla="*/ 566615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4"/>
          <p:cNvSpPr txBox="1">
            <a:spLocks/>
          </p:cNvSpPr>
          <p:nvPr/>
        </p:nvSpPr>
        <p:spPr>
          <a:xfrm>
            <a:off x="4629460" y="1930400"/>
            <a:ext cx="5394940" cy="3977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  <a:p>
            <a:pPr marL="0" indent="0" algn="just">
              <a:buNone/>
              <a:defRPr/>
            </a:pPr>
            <a:r>
              <a:rPr lang="en-US" sz="3200" b="1" dirty="0"/>
              <a:t>“Eu </a:t>
            </a:r>
            <a:r>
              <a:rPr lang="en-US" sz="3200" b="1" dirty="0" err="1"/>
              <a:t>sei</a:t>
            </a:r>
            <a:r>
              <a:rPr lang="en-US" sz="3200" b="1" dirty="0"/>
              <a:t> que </a:t>
            </a:r>
            <a:r>
              <a:rPr lang="en-US" sz="3200" b="1" dirty="0" err="1"/>
              <a:t>você</a:t>
            </a:r>
            <a:r>
              <a:rPr lang="en-US" sz="3200" b="1" dirty="0"/>
              <a:t> </a:t>
            </a:r>
            <a:r>
              <a:rPr lang="en-US" sz="3200" b="1" dirty="0" err="1"/>
              <a:t>pensa</a:t>
            </a:r>
            <a:r>
              <a:rPr lang="en-US" sz="3200" b="1" dirty="0"/>
              <a:t> que </a:t>
            </a:r>
            <a:r>
              <a:rPr lang="en-US" sz="3200" b="1" dirty="0" err="1"/>
              <a:t>entendeu</a:t>
            </a:r>
            <a:r>
              <a:rPr lang="en-US" sz="3200" b="1" dirty="0"/>
              <a:t> o que </a:t>
            </a:r>
            <a:r>
              <a:rPr lang="en-US" sz="3200" b="1" dirty="0" err="1"/>
              <a:t>eu</a:t>
            </a:r>
            <a:r>
              <a:rPr lang="en-US" sz="3200" b="1" dirty="0"/>
              <a:t> </a:t>
            </a:r>
            <a:r>
              <a:rPr lang="en-US" sz="3200" b="1" dirty="0" err="1"/>
              <a:t>disse</a:t>
            </a:r>
            <a:r>
              <a:rPr lang="en-US" sz="3200" b="1" dirty="0"/>
              <a:t>, mas o que </a:t>
            </a:r>
            <a:r>
              <a:rPr lang="en-US" sz="3200" b="1" dirty="0" err="1"/>
              <a:t>você</a:t>
            </a:r>
            <a:r>
              <a:rPr lang="en-US" sz="3200" b="1" dirty="0"/>
              <a:t> </a:t>
            </a:r>
            <a:r>
              <a:rPr lang="en-US" sz="3200" b="1" dirty="0" err="1"/>
              <a:t>não</a:t>
            </a:r>
            <a:r>
              <a:rPr lang="en-US" sz="3200" b="1" dirty="0"/>
              <a:t> </a:t>
            </a:r>
            <a:r>
              <a:rPr lang="en-US" sz="3200" b="1" dirty="0" err="1"/>
              <a:t>entende</a:t>
            </a:r>
            <a:r>
              <a:rPr lang="en-US" sz="3200" b="1" dirty="0"/>
              <a:t> é que </a:t>
            </a:r>
            <a:r>
              <a:rPr lang="en-US" sz="3200" b="1" dirty="0" err="1"/>
              <a:t>aquilo</a:t>
            </a:r>
            <a:r>
              <a:rPr lang="en-US" sz="3200" b="1" dirty="0"/>
              <a:t> que </a:t>
            </a:r>
            <a:r>
              <a:rPr lang="en-US" sz="3200" b="1" dirty="0" err="1"/>
              <a:t>eu</a:t>
            </a:r>
            <a:r>
              <a:rPr lang="en-US" sz="3200" b="1" dirty="0"/>
              <a:t> </a:t>
            </a:r>
            <a:r>
              <a:rPr lang="en-US" sz="3200" b="1" dirty="0" err="1"/>
              <a:t>disse</a:t>
            </a:r>
            <a:r>
              <a:rPr lang="en-US" sz="3200" b="1" dirty="0"/>
              <a:t> </a:t>
            </a:r>
            <a:r>
              <a:rPr lang="en-US" sz="3200" b="1" dirty="0" err="1"/>
              <a:t>não</a:t>
            </a:r>
            <a:r>
              <a:rPr lang="en-US" sz="3200" b="1" dirty="0"/>
              <a:t> era o que </a:t>
            </a:r>
            <a:r>
              <a:rPr lang="en-US" sz="3200" b="1" dirty="0" err="1"/>
              <a:t>eu</a:t>
            </a:r>
            <a:r>
              <a:rPr lang="en-US" sz="3200" b="1" dirty="0"/>
              <a:t> </a:t>
            </a:r>
            <a:r>
              <a:rPr lang="en-US" sz="3200" b="1" dirty="0" err="1"/>
              <a:t>quis</a:t>
            </a:r>
            <a:r>
              <a:rPr lang="en-US" sz="3200" b="1" dirty="0"/>
              <a:t> </a:t>
            </a:r>
            <a:r>
              <a:rPr lang="en-US" sz="3200" b="1" dirty="0" err="1"/>
              <a:t>dizer</a:t>
            </a:r>
            <a:r>
              <a:rPr lang="en-US" sz="3200" b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414774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B114C-590D-84D7-A0E8-451059BB0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6317A6B-DE1B-4801-1935-14D0725BDD6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781044"/>
            <a:ext cx="2540000" cy="1076955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97ABFFF4-AFA2-2F2B-94FB-9A0A7BDA0005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A3674F4-97EC-A6F0-E870-2D1A952A252D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B545317-FACC-B58B-CEFA-A9E858FA7D5D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52DCACC-08CB-F273-B461-E58C29A9D227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DE01C6E-DE5A-B3C3-75F2-51465DD56EC4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D2D70F6A-7DB9-A45D-A293-E734FA6CCA6C}"/>
              </a:ext>
            </a:extLst>
          </p:cNvPr>
          <p:cNvSpPr txBox="1"/>
          <p:nvPr/>
        </p:nvSpPr>
        <p:spPr>
          <a:xfrm>
            <a:off x="1600392" y="636105"/>
            <a:ext cx="8489503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18"/>
              </a:lnSpc>
            </a:pPr>
            <a:r>
              <a:rPr lang="en-US" sz="4266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266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9F358E7-0E8F-8A9A-2D92-AA123F7CEB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83312"/>
            <a:ext cx="620165" cy="561288"/>
          </a:xfrm>
          <a:prstGeom prst="rect">
            <a:avLst/>
          </a:prstGeom>
        </p:spPr>
      </p:pic>
      <p:sp>
        <p:nvSpPr>
          <p:cNvPr id="7" name="Espaço Reservado para Conteúdo 4"/>
          <p:cNvSpPr txBox="1">
            <a:spLocks/>
          </p:cNvSpPr>
          <p:nvPr/>
        </p:nvSpPr>
        <p:spPr>
          <a:xfrm>
            <a:off x="1789042" y="1396181"/>
            <a:ext cx="7954725" cy="5461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  <a:defRPr/>
            </a:pPr>
            <a:endParaRPr lang="pt-BR" dirty="0"/>
          </a:p>
          <a:p>
            <a:pPr marL="0" indent="0" algn="just">
              <a:lnSpc>
                <a:spcPct val="150000"/>
              </a:lnSpc>
              <a:buNone/>
              <a:defRPr/>
            </a:pPr>
            <a:endParaRPr lang="pt-BR" dirty="0"/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pt-BR" sz="2400" dirty="0"/>
              <a:t>Invariavelmente, isso acontece </a:t>
            </a:r>
            <a:r>
              <a:rPr lang="pt-BR" sz="2400" b="1" dirty="0"/>
              <a:t>no final do projeto</a:t>
            </a:r>
            <a:r>
              <a:rPr lang="pt-BR" sz="2400" dirty="0"/>
              <a:t>, após compromissos de prazos de entrega terem sido estabelecidos, reputações estarem em risco e muito dinheiro estar em jogo.</a:t>
            </a:r>
          </a:p>
        </p:txBody>
      </p:sp>
    </p:spTree>
    <p:extLst>
      <p:ext uri="{BB962C8B-B14F-4D97-AF65-F5344CB8AC3E}">
        <p14:creationId xmlns:p14="http://schemas.microsoft.com/office/powerpoint/2010/main" val="4051136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80C22-9E93-52E2-B9DF-E77CC5353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20C64DA-03B7-D1F1-4EB5-18A84834A399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781044"/>
            <a:ext cx="2540000" cy="1076955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519A1365-070D-2716-F35E-3C353A3D618B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EA89FF9-3F7F-470E-4A8C-3DEF1F58765C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39772A5-9C08-EDE7-2256-0B34878B2AF5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6FC68EF-B10B-6EB4-3847-A203895D2929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6397317-F562-8F0F-99B0-74E55EE8022A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9DC7F530-4320-F21B-C179-F432FBE93C03}"/>
              </a:ext>
            </a:extLst>
          </p:cNvPr>
          <p:cNvSpPr txBox="1"/>
          <p:nvPr/>
        </p:nvSpPr>
        <p:spPr>
          <a:xfrm>
            <a:off x="1600392" y="636105"/>
            <a:ext cx="8489503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18"/>
              </a:lnSpc>
            </a:pPr>
            <a:r>
              <a:rPr lang="en-US" sz="4266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266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16BE09C-DB99-8619-C46B-1C4498FB9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83312"/>
            <a:ext cx="620165" cy="561288"/>
          </a:xfrm>
          <a:prstGeom prst="rect">
            <a:avLst/>
          </a:prstGeom>
        </p:spPr>
      </p:pic>
      <p:sp>
        <p:nvSpPr>
          <p:cNvPr id="7" name="Espaço Reservado para Conteúdo 4"/>
          <p:cNvSpPr txBox="1">
            <a:spLocks/>
          </p:cNvSpPr>
          <p:nvPr/>
        </p:nvSpPr>
        <p:spPr>
          <a:xfrm>
            <a:off x="0" y="1396181"/>
            <a:ext cx="12192000" cy="5461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  <a:defRPr/>
            </a:pPr>
            <a:r>
              <a:rPr lang="pt-BR" sz="2800" b="1" dirty="0"/>
              <a:t>Panorama geral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pt-BR" sz="2400" u="sng" dirty="0"/>
              <a:t>O que é?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dirty="0"/>
              <a:t>Antes de iniciar qualquer trabalho técnico, é uma boa ideia criar um conjunto de requisitos para todas as tarefas de engenharia. As tarefas levam a um entendimento de qual será o impacto do software sobre o negócio, o que o cliente quer e como os usuários vão interagir com o software.</a:t>
            </a:r>
          </a:p>
        </p:txBody>
      </p:sp>
    </p:spTree>
    <p:extLst>
      <p:ext uri="{BB962C8B-B14F-4D97-AF65-F5344CB8AC3E}">
        <p14:creationId xmlns:p14="http://schemas.microsoft.com/office/powerpoint/2010/main" val="2332079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2CDCC-B4CA-D177-BD96-57693D5C7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B3C8ED1-E724-0521-57A4-BCB05D352D2D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781044"/>
            <a:ext cx="2540000" cy="1076955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D212AF06-22FC-683B-F0BA-7933E2A3F848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3034257-E377-E4C0-3827-F31A9435DC9D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8AA143B-B78C-EF9B-22FF-A247DE33B958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E5724A8-3CF6-AE43-0172-38EAC696942D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E8722E9-1FBD-F99C-1089-07894BBA07AF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DDD02E5C-A1EE-8B25-3C2C-21808E090FAB}"/>
              </a:ext>
            </a:extLst>
          </p:cNvPr>
          <p:cNvSpPr txBox="1"/>
          <p:nvPr/>
        </p:nvSpPr>
        <p:spPr>
          <a:xfrm>
            <a:off x="1600392" y="636105"/>
            <a:ext cx="8489503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18"/>
              </a:lnSpc>
            </a:pPr>
            <a:r>
              <a:rPr lang="en-US" sz="4266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266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0B6B7F2-464E-F4F2-B4E3-48CCFF72F0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83312"/>
            <a:ext cx="620165" cy="561288"/>
          </a:xfrm>
          <a:prstGeom prst="rect">
            <a:avLst/>
          </a:prstGeom>
        </p:spPr>
      </p:pic>
      <p:sp>
        <p:nvSpPr>
          <p:cNvPr id="7" name="Espaço Reservado para Conteúdo 4"/>
          <p:cNvSpPr txBox="1">
            <a:spLocks/>
          </p:cNvSpPr>
          <p:nvPr/>
        </p:nvSpPr>
        <p:spPr>
          <a:xfrm>
            <a:off x="0" y="1396181"/>
            <a:ext cx="12192000" cy="5461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  <a:defRPr/>
            </a:pPr>
            <a:r>
              <a:rPr lang="pt-BR" sz="2800" b="1" dirty="0"/>
              <a:t>Panorama geral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pt-BR" sz="2400" u="sng" dirty="0"/>
              <a:t>Quem realiza?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dirty="0"/>
              <a:t>Analistas e outros envolvidos no projeto (gerentes, clientes e usuários), participam da engenharia de requisitos.</a:t>
            </a:r>
          </a:p>
        </p:txBody>
      </p:sp>
    </p:spTree>
    <p:extLst>
      <p:ext uri="{BB962C8B-B14F-4D97-AF65-F5344CB8AC3E}">
        <p14:creationId xmlns:p14="http://schemas.microsoft.com/office/powerpoint/2010/main" val="101237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9D75E-8427-2538-8164-0C8433A56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C7075B-2D03-498B-AD19-7BC4E6C0492F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781044"/>
            <a:ext cx="2540000" cy="1076955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9CB6DA55-A231-C2BA-A52B-83E3C834EB36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B3CE2A2-2F63-191A-260C-AB934404B0E5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CD10454-DEF1-039E-3BA3-C70D1065A4B6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9094E8B-610E-047D-7F9F-E702C35FAD74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4AC9473-652E-0A9A-EF9C-84C627E68667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3211ECBE-82AD-539D-0540-B2B2EAE72EB2}"/>
              </a:ext>
            </a:extLst>
          </p:cNvPr>
          <p:cNvSpPr txBox="1"/>
          <p:nvPr/>
        </p:nvSpPr>
        <p:spPr>
          <a:xfrm>
            <a:off x="1600392" y="636105"/>
            <a:ext cx="8489503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18"/>
              </a:lnSpc>
            </a:pPr>
            <a:r>
              <a:rPr lang="en-US" sz="4266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266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DB00202-26A3-AD00-F937-D8A75734DC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83312"/>
            <a:ext cx="620165" cy="561288"/>
          </a:xfrm>
          <a:prstGeom prst="rect">
            <a:avLst/>
          </a:prstGeom>
        </p:spPr>
      </p:pic>
      <p:sp>
        <p:nvSpPr>
          <p:cNvPr id="7" name="Espaço Reservado para Conteúdo 4"/>
          <p:cNvSpPr txBox="1">
            <a:spLocks/>
          </p:cNvSpPr>
          <p:nvPr/>
        </p:nvSpPr>
        <p:spPr>
          <a:xfrm>
            <a:off x="0" y="1396181"/>
            <a:ext cx="12192000" cy="5461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  <a:defRPr/>
            </a:pPr>
            <a:r>
              <a:rPr lang="pt-BR" sz="2800" b="1" dirty="0"/>
              <a:t>Panorama geral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pt-BR" sz="2400" u="sng" dirty="0"/>
              <a:t>Por que é importante?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dirty="0"/>
              <a:t>Projetar e construir um programa que resolva o problema errado não atende as necessidades de ninguém. É por isso que é importante </a:t>
            </a:r>
            <a:r>
              <a:rPr lang="pt-BR" sz="2400" u="sng" dirty="0"/>
              <a:t>entender</a:t>
            </a:r>
            <a:r>
              <a:rPr lang="pt-BR" sz="2400" dirty="0"/>
              <a:t> o que o cliente quer antes de começar a projetar e construir um sistema.</a:t>
            </a:r>
          </a:p>
        </p:txBody>
      </p:sp>
    </p:spTree>
    <p:extLst>
      <p:ext uri="{BB962C8B-B14F-4D97-AF65-F5344CB8AC3E}">
        <p14:creationId xmlns:p14="http://schemas.microsoft.com/office/powerpoint/2010/main" val="622484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92CF5-98F6-3B62-0AC2-560672DC3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EB883EC-B5B5-4D41-FB1F-64C44A978F56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781044"/>
            <a:ext cx="2540000" cy="1076955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F6EF2C07-FEB2-92EB-CB15-46F4F5F48B5B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17F84FA-5371-5F38-516D-D170105D4248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6833E72-FD0D-17BD-E292-B2787CACBE17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2B173E9-5800-D5E7-E8A3-125C21E5B150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400171C-0BCE-6601-279D-70957277B1A7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B106C54B-038F-EC33-3788-3A0A9DD83AFA}"/>
              </a:ext>
            </a:extLst>
          </p:cNvPr>
          <p:cNvSpPr txBox="1"/>
          <p:nvPr/>
        </p:nvSpPr>
        <p:spPr>
          <a:xfrm>
            <a:off x="1600392" y="636105"/>
            <a:ext cx="8489503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18"/>
              </a:lnSpc>
            </a:pPr>
            <a:r>
              <a:rPr lang="en-US" sz="4266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266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183D475-5C9C-A0E6-EC0F-7FA16CCFF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83312"/>
            <a:ext cx="620165" cy="561288"/>
          </a:xfrm>
          <a:prstGeom prst="rect">
            <a:avLst/>
          </a:prstGeom>
        </p:spPr>
      </p:pic>
      <p:sp>
        <p:nvSpPr>
          <p:cNvPr id="7" name="Espaço Reservado para Conteúdo 4"/>
          <p:cNvSpPr txBox="1">
            <a:spLocks/>
          </p:cNvSpPr>
          <p:nvPr/>
        </p:nvSpPr>
        <p:spPr>
          <a:xfrm>
            <a:off x="0" y="1396181"/>
            <a:ext cx="12192000" cy="54618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  <a:defRPr/>
            </a:pPr>
            <a:r>
              <a:rPr lang="pt-BR" sz="2800" b="1" dirty="0"/>
              <a:t>Panorama geral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pt-BR" sz="2400" u="sng" dirty="0"/>
              <a:t>Quais são as etapas envolvidas?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u="sng" dirty="0"/>
              <a:t>Concepção</a:t>
            </a:r>
            <a:r>
              <a:rPr lang="pt-BR" sz="2400" dirty="0"/>
              <a:t>: uma tarefa que define a abrangência e a natureza do problema a ser resolvido;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u="sng" dirty="0"/>
              <a:t>Levantamento</a:t>
            </a:r>
            <a:r>
              <a:rPr lang="pt-BR" sz="2400" dirty="0"/>
              <a:t>: uma tarefa de investigação que ajuda os envolvidos a definir o que é necessário;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u="sng" dirty="0"/>
              <a:t>Elaboração</a:t>
            </a:r>
            <a:r>
              <a:rPr lang="pt-BR" sz="2400" dirty="0"/>
              <a:t>: requisitos básicos são refinados e modificados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u="sng" dirty="0"/>
              <a:t>Negociação</a:t>
            </a:r>
            <a:r>
              <a:rPr lang="pt-BR" sz="2400" dirty="0"/>
              <a:t>: quais são as prioridades, o que é essencial, quando é necessário?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pt-BR" sz="2400" dirty="0"/>
              <a:t>Por fim, o problema é especificado de algum modo e, então, é revisado ou validado para garantir que seu entendimento sobre o problema e o dos envolvidos coincidam.</a:t>
            </a:r>
          </a:p>
        </p:txBody>
      </p:sp>
    </p:spTree>
    <p:extLst>
      <p:ext uri="{BB962C8B-B14F-4D97-AF65-F5344CB8AC3E}">
        <p14:creationId xmlns:p14="http://schemas.microsoft.com/office/powerpoint/2010/main" val="1554753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B7E79-9E78-7B1F-9851-8825DF3F9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881591D-A26C-BB35-1966-654EE71F4848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781044"/>
            <a:ext cx="2540000" cy="1076955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5447AE37-BC9E-0C28-19A1-8EAE1288EA42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A6FB956-88FD-016A-E994-C4596B37443C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194E007-7448-4899-65F8-CA44D216ED9B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D4FDD2B-61AD-F888-32B2-C148AF6B801A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2ACD545-9321-B407-6342-40A21A550878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697E7446-19FD-2BA3-AE37-9D1B1F3D2D41}"/>
              </a:ext>
            </a:extLst>
          </p:cNvPr>
          <p:cNvSpPr txBox="1"/>
          <p:nvPr/>
        </p:nvSpPr>
        <p:spPr>
          <a:xfrm>
            <a:off x="1600392" y="636105"/>
            <a:ext cx="8489503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18"/>
              </a:lnSpc>
            </a:pPr>
            <a:r>
              <a:rPr lang="en-US" sz="4266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266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68F220A-F4FA-8196-66C1-D561D97706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83312"/>
            <a:ext cx="620165" cy="561288"/>
          </a:xfrm>
          <a:prstGeom prst="rect">
            <a:avLst/>
          </a:prstGeom>
        </p:spPr>
      </p:pic>
      <p:sp>
        <p:nvSpPr>
          <p:cNvPr id="7" name="Espaço Reservado para Conteúdo 4"/>
          <p:cNvSpPr txBox="1">
            <a:spLocks/>
          </p:cNvSpPr>
          <p:nvPr/>
        </p:nvSpPr>
        <p:spPr>
          <a:xfrm>
            <a:off x="0" y="1396181"/>
            <a:ext cx="12192000" cy="5461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  <a:defRPr/>
            </a:pPr>
            <a:r>
              <a:rPr lang="pt-BR" sz="2800" b="1" dirty="0"/>
              <a:t>Panorama geral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pt-BR" sz="2400" u="sng" dirty="0"/>
              <a:t>Quais artefatos?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dirty="0"/>
              <a:t>O objetivo da engenharia de requisitos é fornecer a todas as partes um entendimento escrito do problema. Isso pode ser obtido por meio de uma série de artefatos: cenários de uso, listas de funções e características, modelos de análise ou uma especificação.</a:t>
            </a:r>
          </a:p>
        </p:txBody>
      </p:sp>
    </p:spTree>
    <p:extLst>
      <p:ext uri="{BB962C8B-B14F-4D97-AF65-F5344CB8AC3E}">
        <p14:creationId xmlns:p14="http://schemas.microsoft.com/office/powerpoint/2010/main" val="2043485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D7C0B-D728-C545-974F-56C0CA23F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84B0952-8287-F7FD-26F0-A971E51B5510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781044"/>
            <a:ext cx="2540000" cy="1076955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98738756-39BB-BD69-125E-8B820CAAD0E4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8089EA0-8176-596E-EE73-C68CA86061BE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9AAA8EC-BCA8-04CA-FC5D-C6042DD094C2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1CA1774-E9FD-4A5B-25F2-F3DBCF9026A5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65159F5-A9C9-1A79-1539-1E8CDD85D4B6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C1A5C269-24B8-0A76-26EF-E30E2FCAF811}"/>
              </a:ext>
            </a:extLst>
          </p:cNvPr>
          <p:cNvSpPr txBox="1"/>
          <p:nvPr/>
        </p:nvSpPr>
        <p:spPr>
          <a:xfrm>
            <a:off x="1600392" y="636105"/>
            <a:ext cx="8489503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18"/>
              </a:lnSpc>
            </a:pPr>
            <a:r>
              <a:rPr lang="en-US" sz="4266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endParaRPr lang="en-US" sz="4266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B3F63E0-765B-D0F2-AFC8-4CCF5969FC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83312"/>
            <a:ext cx="620165" cy="561288"/>
          </a:xfrm>
          <a:prstGeom prst="rect">
            <a:avLst/>
          </a:prstGeom>
        </p:spPr>
      </p:pic>
      <p:sp>
        <p:nvSpPr>
          <p:cNvPr id="7" name="Espaço Reservado para Conteúdo 4"/>
          <p:cNvSpPr txBox="1">
            <a:spLocks/>
          </p:cNvSpPr>
          <p:nvPr/>
        </p:nvSpPr>
        <p:spPr>
          <a:xfrm>
            <a:off x="0" y="1396181"/>
            <a:ext cx="12198432" cy="5461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  <a:defRPr/>
            </a:pPr>
            <a:r>
              <a:rPr lang="pt-BR" sz="2000" b="1" dirty="0"/>
              <a:t>Panorama geral</a:t>
            </a: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pt-BR" sz="2400" u="sng" dirty="0"/>
              <a:t>Como garantir que o trabalho foi realizado corretamente?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dirty="0"/>
              <a:t>Os artefatos da engenharia de requisitos são revisados com os envolvidos para garantir que aquilo que você entendeu é realmente aquilo que eles queriam dizer.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u="sng" dirty="0">
                <a:solidFill>
                  <a:srgbClr val="FF0000"/>
                </a:solidFill>
              </a:rPr>
              <a:t>Alerta</a:t>
            </a:r>
            <a:r>
              <a:rPr lang="pt-BR" sz="2400" dirty="0"/>
              <a:t>: mesmo depois de todas as partes terem entrado em acordo, as coisas vão mudar e continuarão mudando ao logo do projeto.</a:t>
            </a:r>
          </a:p>
        </p:txBody>
      </p:sp>
    </p:spTree>
    <p:extLst>
      <p:ext uri="{BB962C8B-B14F-4D97-AF65-F5344CB8AC3E}">
        <p14:creationId xmlns:p14="http://schemas.microsoft.com/office/powerpoint/2010/main" val="2886753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FA071-F919-5577-9DC3-EDD738EA5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1CE3DBB-B3DB-B8FD-E3F9-EF9D2C8CC09C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781044"/>
            <a:ext cx="2540000" cy="1076955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F092061C-EAD2-56EC-6DBC-57C9CF95A035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18F8464-30EA-193D-6EF1-F7C23587275E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008BBC3-CF2C-04A9-AF1B-EFC3EC48620C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2C0A1F4-0F70-8260-C0CA-53E99A3AE256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D392692-8D27-D5D8-1BBC-BE682406BDF3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9894FB41-407F-524F-A7DA-AE698C7026B8}"/>
              </a:ext>
            </a:extLst>
          </p:cNvPr>
          <p:cNvSpPr txBox="1"/>
          <p:nvPr/>
        </p:nvSpPr>
        <p:spPr>
          <a:xfrm>
            <a:off x="1600392" y="636105"/>
            <a:ext cx="8489503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18"/>
              </a:lnSpc>
            </a:pPr>
            <a:r>
              <a:rPr lang="en-US" sz="4266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Dúvidas</a:t>
            </a:r>
            <a:r>
              <a:rPr lang="en-US" sz="4266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???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107CD6A-23DC-866C-C84F-A6005C3A2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83312"/>
            <a:ext cx="620165" cy="561288"/>
          </a:xfrm>
          <a:prstGeom prst="rect">
            <a:avLst/>
          </a:prstGeom>
        </p:spPr>
      </p:pic>
      <p:pic>
        <p:nvPicPr>
          <p:cNvPr id="71684" name="Picture 2" descr="Resultado de imagem para DÃVIDAS">
            <a:extLst>
              <a:ext uri="{FF2B5EF4-FFF2-40B4-BE49-F238E27FC236}">
                <a16:creationId xmlns:a16="http://schemas.microsoft.com/office/drawing/2014/main" id="{A4987595-01AE-40CB-9E9F-21DD44F13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080" y="2353945"/>
            <a:ext cx="5891212" cy="357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6481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9EE48-EFF0-B1F0-2274-78C115B2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D7D2542-638C-A5B6-2F28-39ED8EF0EA17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5781044"/>
            <a:ext cx="2540000" cy="1076955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6A6FDD2A-94C6-02B2-59F1-B1ACD0A15D6E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447FDB6-3F82-F689-9DB2-39614F029001}"/>
              </a:ext>
            </a:extLst>
          </p:cNvPr>
          <p:cNvGrpSpPr>
            <a:grpSpLocks noChangeAspect="1"/>
          </p:cNvGrpSpPr>
          <p:nvPr/>
        </p:nvGrpSpPr>
        <p:grpSpPr>
          <a:xfrm>
            <a:off x="734590" y="1315603"/>
            <a:ext cx="10722820" cy="34967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B878F9C-619E-54C7-55AA-061768C6894F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5338A8A-1916-39C7-3C31-92FF7B4054AF}"/>
              </a:ext>
            </a:extLst>
          </p:cNvPr>
          <p:cNvGrpSpPr>
            <a:grpSpLocks noChangeAspect="1"/>
          </p:cNvGrpSpPr>
          <p:nvPr/>
        </p:nvGrpSpPr>
        <p:grpSpPr>
          <a:xfrm>
            <a:off x="9919252" y="6015063"/>
            <a:ext cx="1538158" cy="65591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564CAC9-5AC1-E84F-38DA-10D6BA349C7B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61AB9969-F920-7494-37A2-4F859C60CEF4}"/>
              </a:ext>
            </a:extLst>
          </p:cNvPr>
          <p:cNvSpPr txBox="1"/>
          <p:nvPr/>
        </p:nvSpPr>
        <p:spPr>
          <a:xfrm>
            <a:off x="1600392" y="636105"/>
            <a:ext cx="8489503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18"/>
              </a:lnSpc>
            </a:pPr>
            <a:r>
              <a:rPr lang="en-US" sz="4266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Exercício</a:t>
            </a:r>
            <a:r>
              <a:rPr lang="en-US" sz="4266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266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fixação</a:t>
            </a:r>
            <a:endParaRPr lang="en-US" sz="4266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F00AA8F-AF5C-05ED-EAAD-9AABC497F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83312"/>
            <a:ext cx="620165" cy="561288"/>
          </a:xfrm>
          <a:prstGeom prst="rect">
            <a:avLst/>
          </a:prstGeom>
        </p:spPr>
      </p:pic>
      <p:sp>
        <p:nvSpPr>
          <p:cNvPr id="7" name="Espaço Reservado para Conteúdo 4"/>
          <p:cNvSpPr txBox="1">
            <a:spLocks/>
          </p:cNvSpPr>
          <p:nvPr/>
        </p:nvSpPr>
        <p:spPr>
          <a:xfrm>
            <a:off x="0" y="1396181"/>
            <a:ext cx="12192000" cy="5461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endParaRPr lang="pt-BR" sz="2000"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pt-BR" sz="2000" dirty="0"/>
          </a:p>
          <a:p>
            <a:pPr marL="0" indent="0" algn="ctr">
              <a:lnSpc>
                <a:spcPct val="150000"/>
              </a:lnSpc>
              <a:buNone/>
              <a:defRPr/>
            </a:pPr>
            <a:r>
              <a:rPr lang="pt-BR" sz="2800" dirty="0"/>
              <a:t>Liste alguns requisitos para o desenvolvimento de um produto de software a ser utilizado na gestão de uma </a:t>
            </a:r>
            <a:r>
              <a:rPr lang="pt-BR" sz="2800"/>
              <a:t>pequena confeitaria</a:t>
            </a:r>
            <a:r>
              <a:rPr lang="pt-BR" sz="2800" dirty="0"/>
              <a:t>.</a:t>
            </a:r>
          </a:p>
          <a:p>
            <a:pPr marL="0" indent="0">
              <a:lnSpc>
                <a:spcPct val="150000"/>
              </a:lnSpc>
              <a:buNone/>
              <a:defRPr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9826212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2259</TotalTime>
  <Words>487</Words>
  <Application>Microsoft Office PowerPoint</Application>
  <PresentationFormat>Widescreen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 Avenir Next Arabic</vt:lpstr>
      <vt:lpstr> Avenir Next Arabic Bold</vt:lpstr>
      <vt:lpstr>Arial</vt:lpstr>
      <vt:lpstr>Calibri</vt:lpstr>
      <vt:lpstr>Calibri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de Software</dc:title>
  <dc:creator>Usuario</dc:creator>
  <cp:lastModifiedBy>CHAIENE MERCEDES DA SILVA MINELLA</cp:lastModifiedBy>
  <cp:revision>82</cp:revision>
  <dcterms:created xsi:type="dcterms:W3CDTF">2017-02-19T11:14:52Z</dcterms:created>
  <dcterms:modified xsi:type="dcterms:W3CDTF">2026-02-27T11:53:46Z</dcterms:modified>
</cp:coreProperties>
</file>