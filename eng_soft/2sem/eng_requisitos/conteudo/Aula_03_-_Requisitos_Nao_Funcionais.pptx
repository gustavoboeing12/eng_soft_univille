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99" r:id="rId6"/>
    <p:sldId id="347" r:id="rId7"/>
    <p:sldId id="345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294" r:id="rId24"/>
    <p:sldId id="344" r:id="rId25"/>
    <p:sldId id="318" r:id="rId26"/>
    <p:sldId id="363" r:id="rId27"/>
    <p:sldId id="364" r:id="rId28"/>
    <p:sldId id="365" r:id="rId29"/>
    <p:sldId id="258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4" d="100"/>
          <a:sy n="64" d="100"/>
        </p:scale>
        <p:origin x="5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hyperlink" Target="http://www.dsc.ufcg.edu.br/~jacques/cursos/proj/gerenciadesenv/naofuncionais.ht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desc.br/arquivos/cct/id_cpmenu/1024/marcela_leite_15167056020025_1024.pdf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844229" y="833683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/>
                <a:ea typeface="Calibri"/>
                <a:cs typeface="Calibri"/>
              </a:rPr>
              <a:t>Engenharia de Software – Univille</a:t>
            </a:r>
            <a:endParaRPr lang="pt-BR" sz="2400" dirty="0">
              <a:solidFill>
                <a:srgbClr val="00623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8889E4C-4AA4-1FF5-58D9-B3FC5A215783}"/>
              </a:ext>
            </a:extLst>
          </p:cNvPr>
          <p:cNvSpPr txBox="1"/>
          <p:nvPr/>
        </p:nvSpPr>
        <p:spPr>
          <a:xfrm>
            <a:off x="844229" y="1793122"/>
            <a:ext cx="805129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4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0B08757-A853-AEC5-7B90-B66967D948D2}"/>
              </a:ext>
            </a:extLst>
          </p:cNvPr>
          <p:cNvSpPr txBox="1"/>
          <p:nvPr/>
        </p:nvSpPr>
        <p:spPr>
          <a:xfrm>
            <a:off x="824351" y="3614642"/>
            <a:ext cx="64907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de Software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649E1A2-7D89-7CBC-8D2D-6002CD61BF6B}"/>
              </a:ext>
            </a:extLst>
          </p:cNvPr>
          <p:cNvSpPr txBox="1"/>
          <p:nvPr/>
        </p:nvSpPr>
        <p:spPr>
          <a:xfrm>
            <a:off x="844229" y="4046487"/>
            <a:ext cx="64907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Prof.ª Chaiene M. da Silva Minella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Relembrando...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  <a:p>
            <a:pPr algn="just">
              <a:lnSpc>
                <a:spcPct val="150000"/>
              </a:lnSpc>
              <a:defRPr/>
            </a:pPr>
            <a:r>
              <a:rPr lang="pt-BR" altLang="pt-BR" sz="2400" u="sng" dirty="0"/>
              <a:t>Requisitos funcionais</a:t>
            </a:r>
            <a:r>
              <a:rPr lang="pt-BR" altLang="pt-BR" sz="2400" dirty="0"/>
              <a:t> são aqueles que definem as funcionalidades do sistema de forma completa e concisa. 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4975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382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Segundo </a:t>
            </a:r>
            <a:r>
              <a:rPr lang="pt-BR" altLang="pt-BR" sz="2400" dirty="0" err="1"/>
              <a:t>Sommerville</a:t>
            </a:r>
            <a:r>
              <a:rPr lang="pt-BR" altLang="pt-BR" sz="2400" dirty="0"/>
              <a:t> (2007) os requisitos de sistemas podem ser divididos em </a:t>
            </a:r>
            <a:r>
              <a:rPr lang="pt-BR" altLang="pt-BR" sz="2400" u="sng" dirty="0"/>
              <a:t>requisitos funcionais</a:t>
            </a:r>
            <a:r>
              <a:rPr lang="pt-BR" altLang="pt-BR" sz="2400" dirty="0"/>
              <a:t>, </a:t>
            </a:r>
            <a:r>
              <a:rPr lang="pt-BR" altLang="pt-BR" sz="2400" u="sng" dirty="0"/>
              <a:t>não funcionais</a:t>
            </a:r>
            <a:r>
              <a:rPr lang="pt-BR" altLang="pt-BR" sz="2400" dirty="0"/>
              <a:t> e de </a:t>
            </a:r>
            <a:r>
              <a:rPr lang="pt-BR" altLang="pt-BR" sz="2400" u="sng" dirty="0"/>
              <a:t>domínio</a:t>
            </a:r>
            <a:r>
              <a:rPr lang="pt-BR" altLang="pt-BR" sz="2400" dirty="0"/>
              <a:t>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400" dirty="0"/>
          </a:p>
          <a:p>
            <a:pPr algn="just">
              <a:lnSpc>
                <a:spcPct val="150000"/>
              </a:lnSpc>
            </a:pPr>
            <a:r>
              <a:rPr lang="pt-BR" altLang="pt-BR" sz="2400" dirty="0"/>
              <a:t>Os </a:t>
            </a:r>
            <a:r>
              <a:rPr lang="pt-BR" altLang="pt-BR" sz="2400" u="sng" dirty="0"/>
              <a:t>requisitos de domínio</a:t>
            </a:r>
            <a:r>
              <a:rPr lang="pt-BR" altLang="pt-BR" sz="2400" dirty="0"/>
              <a:t> estão relacionados ao domínio de aplicação, como </a:t>
            </a:r>
            <a:r>
              <a:rPr lang="pt-BR" altLang="pt-BR" sz="2400" u="sng" dirty="0"/>
              <a:t>tipos</a:t>
            </a:r>
            <a:r>
              <a:rPr lang="pt-BR" altLang="pt-BR" sz="2400" dirty="0"/>
              <a:t> e </a:t>
            </a:r>
            <a:r>
              <a:rPr lang="pt-BR" altLang="pt-BR" sz="2400" u="sng" dirty="0"/>
              <a:t>tamanho de dados</a:t>
            </a:r>
            <a:r>
              <a:rPr lang="pt-BR" altLang="pt-BR" sz="2400" dirty="0"/>
              <a:t>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769794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Picture 2" descr="Resultado de imagem para requisitos nÃ£o funcionais">
            <a:extLst>
              <a:ext uri="{FF2B5EF4-FFF2-40B4-BE49-F238E27FC236}">
                <a16:creationId xmlns:a16="http://schemas.microsoft.com/office/drawing/2014/main" id="{06E59D41-FF9F-2A53-7E3C-A88075A5B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948" y="2168042"/>
            <a:ext cx="5033755" cy="388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10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1050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  <p:pic>
        <p:nvPicPr>
          <p:cNvPr id="4" name="Imagem 1">
            <a:extLst>
              <a:ext uri="{FF2B5EF4-FFF2-40B4-BE49-F238E27FC236}">
                <a16:creationId xmlns:a16="http://schemas.microsoft.com/office/drawing/2014/main" id="{AC776B7E-E990-F674-1131-9B10ED4E3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349" y="1842633"/>
            <a:ext cx="6892925" cy="467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596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271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400" dirty="0"/>
              <a:t>Os requisitos </a:t>
            </a:r>
            <a:r>
              <a:rPr lang="pt-BR" altLang="pt-BR" sz="2400" u="sng" dirty="0"/>
              <a:t>não funcionais</a:t>
            </a:r>
            <a:r>
              <a:rPr lang="pt-BR" altLang="pt-BR" sz="2400" dirty="0"/>
              <a:t> se referem as restrições do projeto que afetam uma ou mais de suas funcionalidades, tais como restrições de tempo, utilização de recursos ou padrões de desenvolvimento. 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11218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382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defRPr/>
            </a:pPr>
            <a:r>
              <a:rPr lang="pt-BR" sz="2400" dirty="0" err="1"/>
              <a:t>Sommerville</a:t>
            </a:r>
            <a:r>
              <a:rPr lang="pt-BR" sz="2400" dirty="0"/>
              <a:t> (2007) divide os </a:t>
            </a:r>
            <a:r>
              <a:rPr lang="pt-BR" sz="2400" b="1" dirty="0"/>
              <a:t>requisitos não funcionais </a:t>
            </a:r>
            <a:r>
              <a:rPr lang="pt-BR" sz="2400" dirty="0"/>
              <a:t>em três tipos: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requisitos de </a:t>
            </a:r>
            <a:r>
              <a:rPr lang="pt-BR" sz="2400" u="sng" dirty="0"/>
              <a:t>produto</a:t>
            </a:r>
            <a:r>
              <a:rPr lang="pt-BR" sz="2400" dirty="0"/>
              <a:t>, que definem o comportamento e qualidade do produto;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requisitos </a:t>
            </a:r>
            <a:r>
              <a:rPr lang="pt-BR" sz="2400" u="sng" dirty="0"/>
              <a:t>organizacionais</a:t>
            </a:r>
            <a:r>
              <a:rPr lang="pt-BR" sz="2400" dirty="0"/>
              <a:t>, relacionados à qualidade do projeto; e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dirty="0"/>
              <a:t>requisitos </a:t>
            </a:r>
            <a:r>
              <a:rPr lang="pt-BR" sz="2400" u="sng" dirty="0"/>
              <a:t>externos</a:t>
            </a:r>
            <a:r>
              <a:rPr lang="pt-BR" sz="2400" dirty="0"/>
              <a:t>, que abrangem os comportamentos emergentes com a integração com outros sistemas.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09408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2158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400" b="1" dirty="0"/>
              <a:t>Descrição dos Requisitos Não Funcionais</a:t>
            </a:r>
          </a:p>
          <a:p>
            <a:pPr>
              <a:defRPr/>
            </a:pPr>
            <a:endParaRPr lang="pt-BR" sz="2400" b="1" dirty="0"/>
          </a:p>
          <a:p>
            <a:pPr marL="0" indent="0">
              <a:defRPr/>
            </a:pPr>
            <a:r>
              <a:rPr lang="pt-BR" sz="2400" dirty="0"/>
              <a:t>Requisitos não funcionais incluem </a:t>
            </a:r>
            <a:r>
              <a:rPr lang="pt-BR" sz="2400" u="sng" dirty="0"/>
              <a:t>Atributos de Qualidade</a:t>
            </a:r>
            <a:r>
              <a:rPr lang="pt-BR" sz="2400" dirty="0"/>
              <a:t> para o produto.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73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4774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Atributos importantes para os </a:t>
            </a:r>
            <a:r>
              <a:rPr lang="pt-BR" altLang="pt-BR" sz="2800" b="1" u="sng" dirty="0"/>
              <a:t>usuários</a:t>
            </a:r>
          </a:p>
          <a:p>
            <a:pPr algn="ctr"/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Desempenho</a:t>
            </a:r>
            <a:r>
              <a:rPr lang="pt-BR" altLang="pt-BR" sz="2400" dirty="0"/>
              <a:t> ("Ao registrar um item sendo vendido, a descrição e preço devem aparecer em, no máximo, 2 segundos");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Volume de utilização</a:t>
            </a:r>
            <a:r>
              <a:rPr lang="pt-BR" altLang="pt-BR" sz="2400" dirty="0"/>
              <a:t>, incluindo número de usuários, número de transações, ... ("O sistema deverá suportar uma carga máxima de 2000 usuários simultâneos com degradação de desempenho de, no máximo, 10% em qualquer operação");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Disponibilidade</a:t>
            </a:r>
            <a:r>
              <a:rPr lang="pt-BR" altLang="pt-BR" sz="2400" dirty="0"/>
              <a:t> ("O sistema estará disponível pelo menos 99,7% do tempo em dias de semana entre 06:00 e meia-noite e pelo menos 99,95% entre 16:00 e 18:00");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Integridade/segurança</a:t>
            </a:r>
            <a:r>
              <a:rPr lang="pt-BR" altLang="pt-BR" sz="2400" dirty="0"/>
              <a:t> ("Apenas usuários com privilégios de acesso de Auditor poderão visualizar históricos de transações de clientes");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3078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6713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Atributos importantes para os </a:t>
            </a:r>
            <a:r>
              <a:rPr lang="pt-BR" altLang="pt-BR" sz="2800" b="1" u="sng" dirty="0"/>
              <a:t>usuários</a:t>
            </a:r>
          </a:p>
          <a:p>
            <a:pPr algn="ctr"/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Interoperabilidade</a:t>
            </a:r>
            <a:r>
              <a:rPr lang="pt-BR" altLang="pt-BR" sz="2400" dirty="0"/>
              <a:t> ("O Sistema de Rastreamento de Produtos Químicos deverá ser capaz de importar qualquer estrutura química válida das ferramentas </a:t>
            </a:r>
            <a:r>
              <a:rPr lang="pt-BR" altLang="pt-BR" sz="2400" dirty="0" err="1"/>
              <a:t>ChemiDraw</a:t>
            </a:r>
            <a:r>
              <a:rPr lang="pt-BR" altLang="pt-BR" sz="2400" dirty="0"/>
              <a:t> e </a:t>
            </a:r>
            <a:r>
              <a:rPr lang="pt-BR" altLang="pt-BR" sz="2400" dirty="0" err="1"/>
              <a:t>Chem-Struct</a:t>
            </a:r>
            <a:r>
              <a:rPr lang="pt-BR" altLang="pt-BR" sz="2400" dirty="0"/>
              <a:t>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Compatibilidade com outras versões e necessidades de migração </a:t>
            </a:r>
            <a:r>
              <a:rPr lang="pt-BR" altLang="pt-BR" sz="2400" dirty="0"/>
              <a:t>("O sistema deverá reconhecer arquivos de versões antigas e transformar os arquivos para o novo formato automaticamente, após confirmação pelo usuário");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Confiabilidade</a:t>
            </a:r>
            <a:r>
              <a:rPr lang="pt-BR" altLang="pt-BR" sz="2400" dirty="0"/>
              <a:t> ("Não mais do que 5 experimentos químicos em cada 1000 podem ser perdidos devido a falhas de software");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Hardware e software alvo</a:t>
            </a:r>
            <a:r>
              <a:rPr lang="pt-BR" altLang="pt-BR" sz="2400" dirty="0"/>
              <a:t> ("O produto será desenvolvido para ambientes Windows e para máquinas com pelo menos 128 MB de memória");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400" dirty="0"/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400" dirty="0"/>
          </a:p>
          <a:p>
            <a:pPr>
              <a:defRPr/>
            </a:pPr>
            <a:endParaRPr lang="pt-BR" sz="2400" dirty="0"/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2784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560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Atributos importantes para os </a:t>
            </a:r>
            <a:r>
              <a:rPr lang="pt-BR" altLang="pt-BR" sz="2800" b="1" u="sng" dirty="0"/>
              <a:t>usuários</a:t>
            </a:r>
          </a:p>
          <a:p>
            <a:pPr algn="ctr"/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Robustez</a:t>
            </a:r>
            <a:r>
              <a:rPr lang="pt-BR" altLang="pt-BR" sz="2400" dirty="0"/>
              <a:t> ("Todas as variáveis de entrada terão valores default e tais valores serão usados sempre que dados de entrada estiverem faltando ou inválidos");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Tolerância a falha</a:t>
            </a:r>
            <a:r>
              <a:rPr lang="pt-BR" altLang="pt-BR" sz="2400" dirty="0"/>
              <a:t> ("O sistema deve fazer log dos pagamentos autorizados via cartão de crédito em 24 horas, mesmo com falhas de energia ou de dispositivo");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Usabilidade</a:t>
            </a:r>
            <a:r>
              <a:rPr lang="pt-BR" altLang="pt-BR" sz="2400" dirty="0"/>
              <a:t> ("Um novo usuário deverá ser capaz de fazer um pedido de compra de um novo produto químico após não mais do que 30 minutos de orientação");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Tipo de interface desejada</a:t>
            </a:r>
            <a:r>
              <a:rPr lang="pt-BR" altLang="pt-BR" sz="2400" dirty="0"/>
              <a:t> ("O sistema deverá ser acessado completamente via browser HTTP/HTML");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400" dirty="0"/>
          </a:p>
          <a:p>
            <a:pPr>
              <a:defRPr/>
            </a:pPr>
            <a:endParaRPr lang="pt-BR" sz="2400" dirty="0"/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6250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597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Atributos importantes para os </a:t>
            </a:r>
            <a:r>
              <a:rPr lang="pt-BR" altLang="pt-BR" sz="2800" b="1" u="sng" dirty="0"/>
              <a:t>usuários</a:t>
            </a:r>
          </a:p>
          <a:p>
            <a:pPr algn="ctr"/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Necessidades de internacionalização</a:t>
            </a:r>
            <a:r>
              <a:rPr lang="pt-BR" altLang="pt-BR" sz="2400" dirty="0"/>
              <a:t> ("O produto será disponibilizado em inglês, mas de forma a permitir que versões em línguas latinas possam ser produzidas sem necessidade de ter acesso ao código fonte");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Uso de padrões</a:t>
            </a:r>
            <a:r>
              <a:rPr lang="pt-BR" altLang="pt-BR" sz="2400" dirty="0"/>
              <a:t> ("O produto deverá dar suporte aos protocolos SNMP versões 1, 2 e 3");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Aspectos legais</a:t>
            </a:r>
            <a:r>
              <a:rPr lang="pt-BR" altLang="pt-BR" sz="2400" dirty="0"/>
              <a:t> ("O sistema deverá seguir regras do documento XPTO-12X/2001 do Banco Central no que diz respeito à </a:t>
            </a:r>
            <a:r>
              <a:rPr lang="pt-BR" altLang="pt-BR" sz="2400" dirty="0" err="1"/>
              <a:t>auditibilidade</a:t>
            </a:r>
            <a:r>
              <a:rPr lang="pt-BR" altLang="pt-BR" sz="2400" dirty="0"/>
              <a:t> das transações efetuadas");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Requisitos de instalação</a:t>
            </a:r>
            <a:r>
              <a:rPr lang="pt-BR" altLang="pt-BR" sz="2400" dirty="0"/>
              <a:t> ("O Produto deve ser instalável através do instalador RPM do Linux");</a:t>
            </a:r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400" dirty="0"/>
          </a:p>
          <a:p>
            <a:pPr>
              <a:defRPr/>
            </a:pPr>
            <a:endParaRPr lang="pt-BR" sz="2400" dirty="0"/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8343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4497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altLang="pt-BR" sz="2800" b="1" dirty="0"/>
              <a:t>Atributos importantes para os </a:t>
            </a:r>
            <a:r>
              <a:rPr lang="pt-BR" altLang="pt-BR" sz="2800" b="1" u="sng" dirty="0"/>
              <a:t>desenvolvedores</a:t>
            </a:r>
          </a:p>
          <a:p>
            <a:pPr algn="ctr"/>
            <a:endParaRPr lang="pt-BR" altLang="pt-BR" sz="2800" b="1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 err="1"/>
              <a:t>Manutenabilidade</a:t>
            </a:r>
            <a:r>
              <a:rPr lang="pt-BR" altLang="pt-BR" sz="2400" dirty="0"/>
              <a:t> ("Modificações a qualquer relatório deverão ser implementadas 24 horas após recepção de aviso de modificação de regulamentação pelo Ministério de Agricultura");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/>
              <a:t>Portabilidade</a:t>
            </a:r>
            <a:r>
              <a:rPr lang="pt-BR" altLang="pt-BR" sz="2400" dirty="0"/>
              <a:t> ("O produto deverá ser desenvolvido de forma a possibilitar seu transporte para Linux em, no máximo, 60 dias");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400" b="1" dirty="0" err="1"/>
              <a:t>Reusabilidade</a:t>
            </a:r>
            <a:r>
              <a:rPr lang="pt-BR" altLang="pt-BR" sz="2400" dirty="0"/>
              <a:t> ("O produto deverá usar componentes corporativos existentes sob forma de Enterprise </a:t>
            </a:r>
            <a:r>
              <a:rPr lang="pt-BR" altLang="pt-BR" sz="2400" dirty="0" err="1"/>
              <a:t>JavaBeans</a:t>
            </a:r>
            <a:r>
              <a:rPr lang="pt-BR" altLang="pt-BR" sz="2400" dirty="0"/>
              <a:t>. Novos componentes deverão ser </a:t>
            </a:r>
            <a:r>
              <a:rPr lang="pt-BR" altLang="pt-BR" sz="2400" dirty="0" err="1"/>
              <a:t>EJBs</a:t>
            </a:r>
            <a:r>
              <a:rPr lang="pt-BR" altLang="pt-BR" sz="2400" dirty="0"/>
              <a:t>");</a:t>
            </a:r>
            <a:endParaRPr lang="pt-BR" altLang="pt-BR" sz="2400" b="1" dirty="0"/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57521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505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Os requisitos não funcionais de um sistema que envolve software </a:t>
            </a:r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influenciam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fortemente a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aceitação do produto por parte do usuário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Questões como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usabilidade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,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tempo de resposta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e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consumo de recursos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são alguns desses atributos que </a:t>
            </a:r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podem fazer com que um usuário deixe de utilizar um produto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Essas características são o que se chama de </a:t>
            </a:r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qualidade em uso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No entanto, existe um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conjunto de atributos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que não é perceptível diretamente pelos usuários: os </a:t>
            </a:r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atributos de qualidade interna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Estes são requisitos que vão </a:t>
            </a:r>
            <a:r>
              <a:rPr lang="pt-BR" altLang="pt-BR" sz="2000" u="sng" dirty="0">
                <a:solidFill>
                  <a:srgbClr val="000000"/>
                </a:solidFill>
                <a:latin typeface="Gill Sans" charset="0"/>
                <a:sym typeface="Gill Sans" charset="0"/>
              </a:rPr>
              <a:t>tornar a manutenção do produto mais fácil ou mais difícil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e que vão influenciar diretamente nos </a:t>
            </a:r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custos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de manutenção.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78033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567" y="6102407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228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Neste Infográfico, você irá acompanhar os </a:t>
            </a:r>
          </a:p>
          <a:p>
            <a:pPr algn="just"/>
            <a:r>
              <a:rPr lang="pt-BR" altLang="pt-BR" sz="2000" b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atributos de qualidade interna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 de produtos de </a:t>
            </a:r>
            <a:r>
              <a:rPr lang="pt-BR" altLang="pt-BR" sz="2000" i="1" dirty="0">
                <a:solidFill>
                  <a:srgbClr val="000000"/>
                </a:solidFill>
                <a:latin typeface="Gill Sans" charset="0"/>
                <a:sym typeface="Gill Sans" charset="0"/>
              </a:rPr>
              <a:t>software</a:t>
            </a:r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.</a:t>
            </a:r>
          </a:p>
          <a:p>
            <a:pPr algn="just"/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/>
            <a:endParaRPr lang="pt-BR" altLang="pt-BR" sz="20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  <p:pic>
        <p:nvPicPr>
          <p:cNvPr id="4" name="Imagem 2">
            <a:extLst>
              <a:ext uri="{FF2B5EF4-FFF2-40B4-BE49-F238E27FC236}">
                <a16:creationId xmlns:a16="http://schemas.microsoft.com/office/drawing/2014/main" id="{31E8D64E-0973-2F12-8FED-E76535E93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628" y="79798"/>
            <a:ext cx="4063561" cy="6705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9209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3637" y="5903624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428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pt-BR" sz="2000" u="sng" dirty="0">
                <a:latin typeface="Lato" panose="020F0502020204030203" pitchFamily="34" charset="0"/>
              </a:rPr>
              <a:t>Exemplo</a:t>
            </a:r>
            <a:r>
              <a:rPr lang="pt-BR" sz="2000" dirty="0">
                <a:latin typeface="Lato" panose="020F0502020204030203" pitchFamily="34" charset="0"/>
              </a:rPr>
              <a:t>:</a:t>
            </a:r>
          </a:p>
          <a:p>
            <a:pPr algn="just">
              <a:defRPr/>
            </a:pPr>
            <a:endParaRPr lang="pt-BR" sz="2000" dirty="0">
              <a:latin typeface="Lato" panose="020F0502020204030203" pitchFamily="34" charset="0"/>
            </a:endParaRPr>
          </a:p>
          <a:p>
            <a:pPr algn="just">
              <a:defRPr/>
            </a:pPr>
            <a:r>
              <a:rPr lang="pt-BR" sz="2000" dirty="0">
                <a:latin typeface="Lato" panose="020F0502020204030203" pitchFamily="34" charset="0"/>
              </a:rPr>
              <a:t>Suponha que, com o aumento da demanda por trabalho remoto, você tenha sido escalado para desenvolver um </a:t>
            </a:r>
            <a:r>
              <a:rPr lang="pt-BR" sz="2000" i="1" dirty="0">
                <a:latin typeface="Lato" panose="020F0502020204030203" pitchFamily="34" charset="0"/>
              </a:rPr>
              <a:t>software </a:t>
            </a:r>
            <a:r>
              <a:rPr lang="pt-BR" sz="2000" dirty="0">
                <a:latin typeface="Lato" panose="020F0502020204030203" pitchFamily="34" charset="0"/>
              </a:rPr>
              <a:t>para apoiar reuniões remotas. </a:t>
            </a:r>
          </a:p>
          <a:p>
            <a:pPr algn="just">
              <a:defRPr/>
            </a:pPr>
            <a:endParaRPr lang="pt-BR" sz="2000" dirty="0">
              <a:latin typeface="Lato" panose="020F0502020204030203" pitchFamily="34" charset="0"/>
            </a:endParaRPr>
          </a:p>
          <a:p>
            <a:pPr algn="just">
              <a:defRPr/>
            </a:pPr>
            <a:r>
              <a:rPr lang="pt-BR" sz="2000" dirty="0">
                <a:latin typeface="Lato" panose="020F0502020204030203" pitchFamily="34" charset="0"/>
              </a:rPr>
              <a:t>Existe muita reclamação no mercado sobre os </a:t>
            </a:r>
            <a:r>
              <a:rPr lang="pt-BR" sz="2000" i="1" dirty="0">
                <a:latin typeface="Lato" panose="020F0502020204030203" pitchFamily="34" charset="0"/>
              </a:rPr>
              <a:t>softwares </a:t>
            </a:r>
            <a:r>
              <a:rPr lang="pt-BR" sz="2000" dirty="0">
                <a:latin typeface="Lato" panose="020F0502020204030203" pitchFamily="34" charset="0"/>
              </a:rPr>
              <a:t>proprietários, que são caros, e sobre os </a:t>
            </a:r>
            <a:r>
              <a:rPr lang="pt-BR" sz="2000" i="1" dirty="0">
                <a:latin typeface="Lato" panose="020F0502020204030203" pitchFamily="34" charset="0"/>
              </a:rPr>
              <a:t>softwares</a:t>
            </a:r>
            <a:r>
              <a:rPr lang="pt-BR" sz="2000" dirty="0">
                <a:latin typeface="Lato" panose="020F0502020204030203" pitchFamily="34" charset="0"/>
              </a:rPr>
              <a:t> gratuitos, com vulnerabilidades de segurança. </a:t>
            </a:r>
          </a:p>
          <a:p>
            <a:pPr algn="just">
              <a:defRPr/>
            </a:pPr>
            <a:endParaRPr lang="pt-BR" sz="2000" dirty="0">
              <a:latin typeface="Lato" panose="020F0502020204030203" pitchFamily="34" charset="0"/>
            </a:endParaRPr>
          </a:p>
          <a:p>
            <a:pPr algn="just">
              <a:defRPr/>
            </a:pPr>
            <a:r>
              <a:rPr lang="pt-BR" sz="2000" dirty="0">
                <a:latin typeface="Lato" panose="020F0502020204030203" pitchFamily="34" charset="0"/>
              </a:rPr>
              <a:t>Você precisa desenvolver um </a:t>
            </a:r>
            <a:r>
              <a:rPr lang="pt-BR" sz="2000" i="1" dirty="0">
                <a:latin typeface="Lato" panose="020F0502020204030203" pitchFamily="34" charset="0"/>
              </a:rPr>
              <a:t>software </a:t>
            </a:r>
            <a:r>
              <a:rPr lang="pt-BR" sz="2000" dirty="0">
                <a:latin typeface="Lato" panose="020F0502020204030203" pitchFamily="34" charset="0"/>
              </a:rPr>
              <a:t>para ser utilizado em reuniões de trabalho da sua empresa via Internet.</a:t>
            </a:r>
          </a:p>
          <a:p>
            <a:pPr algn="just">
              <a:defRPr/>
            </a:pPr>
            <a:endParaRPr lang="pt-BR" sz="2000" dirty="0">
              <a:latin typeface="Lato" panose="020F0502020204030203" pitchFamily="34" charset="0"/>
            </a:endParaRPr>
          </a:p>
          <a:p>
            <a:pPr algn="just">
              <a:defRPr/>
            </a:pPr>
            <a:r>
              <a:rPr lang="pt-BR" sz="2000" dirty="0">
                <a:latin typeface="Lato" panose="020F0502020204030203" pitchFamily="34" charset="0"/>
              </a:rPr>
              <a:t>Acompanhe, a seguir, o que deve ser considerado: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5503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89" y="6102407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197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altLang="pt-BR" sz="2000" dirty="0"/>
              <a:t>​​​​​​​Seu gerente lhe pediu para, com base no contexto apresentado, </a:t>
            </a:r>
          </a:p>
          <a:p>
            <a:pPr algn="just">
              <a:lnSpc>
                <a:spcPct val="150000"/>
              </a:lnSpc>
            </a:pPr>
            <a:r>
              <a:rPr lang="pt-BR" altLang="pt-BR" sz="2000" dirty="0"/>
              <a:t>decidir quais são os </a:t>
            </a:r>
            <a:r>
              <a:rPr lang="pt-BR" altLang="pt-BR" sz="2000" b="1" u="sng" dirty="0"/>
              <a:t>requisitos não funcionais</a:t>
            </a:r>
            <a:r>
              <a:rPr lang="pt-BR" altLang="pt-BR" sz="2000" dirty="0"/>
              <a:t> que deveriam </a:t>
            </a:r>
          </a:p>
          <a:p>
            <a:pPr algn="just">
              <a:lnSpc>
                <a:spcPct val="150000"/>
              </a:lnSpc>
            </a:pPr>
            <a:r>
              <a:rPr lang="pt-BR" altLang="pt-BR" sz="2000" dirty="0"/>
              <a:t>estar presentes, bem como os atributos para validá-los.</a:t>
            </a:r>
            <a:endParaRPr lang="pt-BR" altLang="pt-BR" sz="18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  <p:pic>
        <p:nvPicPr>
          <p:cNvPr id="4" name="Picture 8" descr="Descrição da imagem não disponível">
            <a:extLst>
              <a:ext uri="{FF2B5EF4-FFF2-40B4-BE49-F238E27FC236}">
                <a16:creationId xmlns:a16="http://schemas.microsoft.com/office/drawing/2014/main" id="{40427D14-2E45-EDDE-8C59-4AA1358E9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299" y="67091"/>
            <a:ext cx="3020321" cy="6734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937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89" y="6102407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1050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altLang="pt-BR" sz="2000" dirty="0"/>
              <a:t>Levantamento de requisitos não funcionais com base em histórias de usuários.</a:t>
            </a:r>
            <a:endParaRPr lang="pt-BR" altLang="pt-BR" sz="1800" dirty="0"/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0CD548B-25A8-7115-0790-108DEF7BCF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328" y="23101"/>
            <a:ext cx="1933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01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Requisitos Não Funcionais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89" y="6102407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742321"/>
            <a:ext cx="10722820" cy="896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altLang="pt-BR" sz="2000" dirty="0">
                <a:solidFill>
                  <a:srgbClr val="000000"/>
                </a:solidFill>
                <a:latin typeface="Gill Sans" charset="0"/>
                <a:sym typeface="Gill Sans" charset="0"/>
              </a:rPr>
              <a:t>Atributos de qualidade para requisitos não funcionais.​​​​​​​</a:t>
            </a:r>
            <a:endParaRPr lang="pt-BR" altLang="pt-BR" sz="1400" dirty="0">
              <a:solidFill>
                <a:srgbClr val="000000"/>
              </a:solidFill>
              <a:latin typeface="Gill Sans" charset="0"/>
              <a:sym typeface="Gill Sans" charset="0"/>
            </a:endParaRP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FC143F-8224-CEFA-ABBE-CCB3712DFE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0917" y="334829"/>
            <a:ext cx="185370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352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89775" y="690456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Dúvidas ???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pic>
        <p:nvPicPr>
          <p:cNvPr id="4" name="Picture 4" descr="a cartoon pug dog with a question mark above its head">
            <a:extLst>
              <a:ext uri="{FF2B5EF4-FFF2-40B4-BE49-F238E27FC236}">
                <a16:creationId xmlns:a16="http://schemas.microsoft.com/office/drawing/2014/main" id="{C1F1CFF8-B374-2A77-89F3-2D5919237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714" y="2355572"/>
            <a:ext cx="3977665" cy="397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13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Saiba mais !!!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pt-BR" sz="2400" dirty="0"/>
              <a:t>Requisitos não funcionais (leitura recomendada)</a:t>
            </a:r>
          </a:p>
        </p:txBody>
      </p:sp>
    </p:spTree>
    <p:extLst>
      <p:ext uri="{BB962C8B-B14F-4D97-AF65-F5344CB8AC3E}">
        <p14:creationId xmlns:p14="http://schemas.microsoft.com/office/powerpoint/2010/main" val="981592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Referência bibliográfica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</a:pPr>
            <a:r>
              <a:rPr lang="pt-BR" altLang="pt-BR" sz="2000" dirty="0"/>
              <a:t>SOMMERVILLE, I. Engenharia Software. São Paulo, SP, BR: Pearson, 2007. ISBN 9788588639287.</a:t>
            </a:r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000" dirty="0"/>
              <a:t>LEITE, Marcela. Tratamento de requisitos não-funcionais em sistemas de </a:t>
            </a:r>
            <a:r>
              <a:rPr lang="pt-BR" altLang="pt-BR" sz="2000" dirty="0" err="1"/>
              <a:t>tempo-real</a:t>
            </a:r>
            <a:r>
              <a:rPr lang="pt-BR" altLang="pt-BR" sz="2000" dirty="0"/>
              <a:t> embarcados implementados em VHDL/FPGA. 2014. Disponível em: </a:t>
            </a:r>
            <a:r>
              <a:rPr lang="pt-BR" altLang="pt-BR" sz="2000" dirty="0">
                <a:hlinkClick r:id="rId6"/>
              </a:rPr>
              <a:t>https://www.udesc.br/arquivos/cct/id_cpmenu/1024/marcela_leite_15167056020025_1024.pdf</a:t>
            </a:r>
            <a:endParaRPr lang="pt-BR" altLang="pt-BR" sz="2000" dirty="0"/>
          </a:p>
          <a:p>
            <a:pPr marL="0" indent="0" algn="just">
              <a:lnSpc>
                <a:spcPct val="150000"/>
              </a:lnSpc>
            </a:pPr>
            <a:endParaRPr lang="pt-BR" altLang="pt-BR" sz="2000" dirty="0"/>
          </a:p>
          <a:p>
            <a:pPr marL="0" indent="0" algn="just">
              <a:lnSpc>
                <a:spcPct val="150000"/>
              </a:lnSpc>
            </a:pPr>
            <a:r>
              <a:rPr lang="pt-BR" altLang="pt-BR" sz="2000" dirty="0">
                <a:hlinkClick r:id="rId7"/>
              </a:rPr>
              <a:t>http://www.dsc.ufcg.edu.br/~jacques/cursos/proj/gerenciadesenv/naofuncionais.htm</a:t>
            </a:r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1044964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Exercício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428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1" dirty="0"/>
              <a:t>Cenário: Sistema de Gestão de Pedidos para uma Rede de Restaurantes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400" dirty="0"/>
              <a:t>A rede de restaurantes </a:t>
            </a:r>
            <a:r>
              <a:rPr lang="pt-BR" sz="2400" b="1" dirty="0"/>
              <a:t>Delícias Saborosas</a:t>
            </a:r>
            <a:r>
              <a:rPr lang="pt-BR" sz="2400" dirty="0"/>
              <a:t> está implementando um sistema de gestão de pedidos para facilitar o atendimento e melhorar a eficiência dos restaurantes. O sistema será utilizado tanto pelos atendentes (para pedidos presenciais) quanto pelos clientes via aplicativo móvel (para pedidos de entrega). O sistema será responsável por gerenciar desde a entrada dos pedidos até a confirmação do pagamento e o envio das informações à cozinha. A empresa tem a expectativa de crescer rapidamente nos próximos anos, com uma média de 1.000 pedidos por dia atualmente, podendo chegar a 10.000 em um futuro próximo.</a:t>
            </a:r>
          </a:p>
          <a:p>
            <a:pPr algn="just">
              <a:lnSpc>
                <a:spcPct val="150000"/>
              </a:lnSpc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17221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Exercício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Identificação de Requisitos Não Funcionais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t-BR" sz="2000" dirty="0"/>
              <a:t>Desempenho:</a:t>
            </a:r>
          </a:p>
          <a:p>
            <a:pPr marL="804863" indent="-342900">
              <a:buFont typeface="Wingdings" panose="05000000000000000000" pitchFamily="2" charset="2"/>
              <a:buChar char="ü"/>
            </a:pPr>
            <a:r>
              <a:rPr lang="pt-BR" sz="2000" dirty="0"/>
              <a:t>O sistema deve ser capaz de processar até 10.000 pedidos por dia sem degradação 	perceptível no tempo de resposta.</a:t>
            </a:r>
          </a:p>
          <a:p>
            <a:pPr marL="804863" indent="-342900">
              <a:buFont typeface="Wingdings" panose="05000000000000000000" pitchFamily="2" charset="2"/>
              <a:buChar char="ü"/>
            </a:pPr>
            <a:r>
              <a:rPr lang="pt-BR" sz="2000" dirty="0"/>
              <a:t>...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Escalabilidade:</a:t>
            </a:r>
          </a:p>
          <a:p>
            <a:pPr marL="804863" indent="-342900" algn="just">
              <a:buFont typeface="Wingdings" panose="05000000000000000000" pitchFamily="2" charset="2"/>
              <a:buChar char="ü"/>
              <a:defRPr/>
            </a:pPr>
            <a:r>
              <a:rPr lang="pt-BR" sz="2000" dirty="0"/>
              <a:t>O sistema deve suportar o aumento de carga conforme o número de restaurantes e clientes cresce, mantendo o desempenho esperado.</a:t>
            </a:r>
          </a:p>
          <a:p>
            <a:pPr marL="804863" indent="-342900" algn="just">
              <a:buFont typeface="Wingdings" panose="05000000000000000000" pitchFamily="2" charset="2"/>
              <a:buChar char="ü"/>
              <a:defRPr/>
            </a:pPr>
            <a:r>
              <a:rPr lang="pt-BR" sz="2000" dirty="0"/>
              <a:t>...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Segurança:</a:t>
            </a:r>
          </a:p>
          <a:p>
            <a:pPr marL="804863" indent="-342900" algn="just">
              <a:buFont typeface="Wingdings" panose="05000000000000000000" pitchFamily="2" charset="2"/>
              <a:buChar char="ü"/>
              <a:defRPr/>
            </a:pPr>
            <a:r>
              <a:rPr lang="pt-BR" sz="2000" dirty="0"/>
              <a:t>O sistema deve garantir a criptografia de todas as transações de pagamento, protegendo os dados de cartão de crédito dos clientes.</a:t>
            </a:r>
          </a:p>
          <a:p>
            <a:pPr marL="804863" indent="-342900" algn="just">
              <a:buFont typeface="Wingdings" panose="05000000000000000000" pitchFamily="2" charset="2"/>
              <a:buChar char="ü"/>
              <a:defRPr/>
            </a:pPr>
            <a:r>
              <a:rPr lang="pt-BR" sz="2000" dirty="0"/>
              <a:t>...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82816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DE02F974-BA35-6E86-DDF2-2384EACE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296" y="23101"/>
            <a:ext cx="3140765" cy="13316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000B7BB-867B-0025-723D-F502A2A33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0" y="1564078"/>
            <a:ext cx="10722820" cy="349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9125C9-25D2-EC77-0D42-5F56EA50C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73" y="755593"/>
            <a:ext cx="552998" cy="48975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2694DF-947B-20A2-DEDC-3E9F8FBAFCD3}"/>
              </a:ext>
            </a:extLst>
          </p:cNvPr>
          <p:cNvSpPr txBox="1"/>
          <p:nvPr/>
        </p:nvSpPr>
        <p:spPr>
          <a:xfrm>
            <a:off x="1459958" y="735715"/>
            <a:ext cx="956253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32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Exercício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549AA1-40F1-A669-B010-1340D1FD3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9040" y="6107946"/>
            <a:ext cx="1668393" cy="71145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A00C6AE-1E22-AB9F-82BD-048C765E32C6}"/>
              </a:ext>
            </a:extLst>
          </p:cNvPr>
          <p:cNvSpPr txBox="1"/>
          <p:nvPr/>
        </p:nvSpPr>
        <p:spPr>
          <a:xfrm>
            <a:off x="734590" y="1623053"/>
            <a:ext cx="1072282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Identificação de Requisitos Não Funcionais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Confiabilidade: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Usabilidade: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Portabilidade: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Manutenibilidade: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pt-BR" sz="2000" dirty="0"/>
              <a:t>Compatibilidade</a:t>
            </a:r>
            <a:r>
              <a:rPr lang="pt-BR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26000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Forma&#10;&#10;Descrição gerada automaticamente">
            <a:extLst>
              <a:ext uri="{FF2B5EF4-FFF2-40B4-BE49-F238E27FC236}">
                <a16:creationId xmlns:a16="http://schemas.microsoft.com/office/drawing/2014/main" id="{D9C21255-832C-0C97-CDB6-FEDA35FCEE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68" b="4073"/>
          <a:stretch/>
        </p:blipFill>
        <p:spPr>
          <a:xfrm>
            <a:off x="6482632" y="-59933"/>
            <a:ext cx="5711925" cy="693617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E45FD73-4524-6DDC-9022-1AE8D1B31D56}"/>
              </a:ext>
            </a:extLst>
          </p:cNvPr>
          <p:cNvSpPr txBox="1"/>
          <p:nvPr/>
        </p:nvSpPr>
        <p:spPr>
          <a:xfrm>
            <a:off x="964799" y="963898"/>
            <a:ext cx="649070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Profª. Chaiene M. da Silva Minella, MSc.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Engetec | Engenharia de Software</a:t>
            </a:r>
          </a:p>
          <a:p>
            <a:r>
              <a:rPr lang="pt-BR" sz="2400" dirty="0">
                <a:solidFill>
                  <a:srgbClr val="006232"/>
                </a:solidFill>
                <a:latin typeface="Avenir Next LT Pro"/>
                <a:ea typeface="Calibri"/>
                <a:cs typeface="Calibri"/>
              </a:rPr>
              <a:t>chaiene.minella@univille.br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BE1C8A9-5FC8-F58D-EDE5-270C56DC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20" y="4405971"/>
            <a:ext cx="3787695" cy="16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6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4842f8-7ef1-496c-81d4-96339beddf31">
      <Terms xmlns="http://schemas.microsoft.com/office/infopath/2007/PartnerControls"/>
    </lcf76f155ced4ddcb4097134ff3c332f>
    <_ip_UnifiedCompliancePolicyUIAction xmlns="http://schemas.microsoft.com/sharepoint/v3" xsi:nil="true"/>
    <N_x00fa_mero xmlns="d24842f8-7ef1-496c-81d4-96339beddf31" xsi:nil="true"/>
    <Data xmlns="d24842f8-7ef1-496c-81d4-96339beddf31" xsi:nil="true"/>
    <DataeHora xmlns="d24842f8-7ef1-496c-81d4-96339beddf31" xsi:nil="true"/>
    <_ip_UnifiedCompliancePolicyProperties xmlns="http://schemas.microsoft.com/sharepoint/v3" xsi:nil="true"/>
    <TaxCatchAll xmlns="c449436b-c177-4fc4-b4b5-7bced3aa4339" xsi:nil="true"/>
    <_Flow_SignoffStatus xmlns="d24842f8-7ef1-496c-81d4-96339beddf3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9B7C91391FBB4790D15430585BD576" ma:contentTypeVersion="24" ma:contentTypeDescription="Crie um novo documento." ma:contentTypeScope="" ma:versionID="352ad4e336e23d8ae6c3cbead189ee20">
  <xsd:schema xmlns:xsd="http://www.w3.org/2001/XMLSchema" xmlns:xs="http://www.w3.org/2001/XMLSchema" xmlns:p="http://schemas.microsoft.com/office/2006/metadata/properties" xmlns:ns1="http://schemas.microsoft.com/sharepoint/v3" xmlns:ns2="d24842f8-7ef1-496c-81d4-96339beddf31" xmlns:ns3="c449436b-c177-4fc4-b4b5-7bced3aa4339" targetNamespace="http://schemas.microsoft.com/office/2006/metadata/properties" ma:root="true" ma:fieldsID="8fed7937480412d05220b1982a8ea47f" ns1:_="" ns2:_="" ns3:_="">
    <xsd:import namespace="http://schemas.microsoft.com/sharepoint/v3"/>
    <xsd:import namespace="d24842f8-7ef1-496c-81d4-96339beddf31"/>
    <xsd:import namespace="c449436b-c177-4fc4-b4b5-7bced3aa43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N_x00fa_mero" minOccurs="0"/>
                <xsd:element ref="ns2:Data" minOccurs="0"/>
                <xsd:element ref="ns2:DataeHora" minOccurs="0"/>
                <xsd:element ref="ns2:MediaServiceSearchProperties" minOccurs="0"/>
                <xsd:element ref="ns2:_Flow_SignoffStatu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nterface do Usuário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4842f8-7ef1-496c-81d4-96339bedd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Marcações de imagem" ma:readOnly="false" ma:fieldId="{5cf76f15-5ced-4ddc-b409-7134ff3c332f}" ma:taxonomyMulti="true" ma:sspId="6abd3df3-db9b-46ca-b07f-13c267e856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N_x00fa_mero" ma:index="26" nillable="true" ma:displayName="Número" ma:format="Dropdown" ma:internalName="N_x00fa_mero" ma:percentage="FALSE">
      <xsd:simpleType>
        <xsd:restriction base="dms:Number"/>
      </xsd:simpleType>
    </xsd:element>
    <xsd:element name="Data" ma:index="27" nillable="true" ma:displayName="Data" ma:format="DateTime" ma:internalName="Data">
      <xsd:simpleType>
        <xsd:restriction base="dms:DateTime"/>
      </xsd:simpleType>
    </xsd:element>
    <xsd:element name="DataeHora" ma:index="28" nillable="true" ma:displayName="Data e Hora" ma:format="DateTime" ma:internalName="DataeHora">
      <xsd:simpleType>
        <xsd:restriction base="dms:DateTime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0" nillable="true" ma:displayName="Status de liberação" ma:internalName="Status_x0020_de_x0020_libera_x00e7__x00e3_o">
      <xsd:simpleType>
        <xsd:restriction base="dms:Text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49436b-c177-4fc4-b4b5-7bced3aa43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01397b2-60c4-4a6e-b399-fdccb5dd0c2d}" ma:internalName="TaxCatchAll" ma:showField="CatchAllData" ma:web="c449436b-c177-4fc4-b4b5-7bced3aa43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374677-D8F3-4450-81AC-53128A12B2B0}">
  <ds:schemaRefs>
    <ds:schemaRef ds:uri="http://schemas.microsoft.com/office/2006/metadata/properties"/>
    <ds:schemaRef ds:uri="http://schemas.microsoft.com/office/infopath/2007/PartnerControls"/>
    <ds:schemaRef ds:uri="d24842f8-7ef1-496c-81d4-96339beddf31"/>
    <ds:schemaRef ds:uri="http://schemas.microsoft.com/sharepoint/v3"/>
    <ds:schemaRef ds:uri="c449436b-c177-4fc4-b4b5-7bced3aa4339"/>
  </ds:schemaRefs>
</ds:datastoreItem>
</file>

<file path=customXml/itemProps2.xml><?xml version="1.0" encoding="utf-8"?>
<ds:datastoreItem xmlns:ds="http://schemas.openxmlformats.org/officeDocument/2006/customXml" ds:itemID="{48E6E203-6BAE-46D0-9474-0FAA28088B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4842f8-7ef1-496c-81d4-96339beddf31"/>
    <ds:schemaRef ds:uri="c449436b-c177-4fc4-b4b5-7bced3aa43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3FD91B-4437-4986-B7C6-7FE5E9555C6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33dd0b0-a9be-4e97-a0c3-b0e677403699}" enabled="1" method="Privileged" siteId="{57fe0ac9-f7f7-4580-8b30-5aa7f0ac8e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1329</Words>
  <Application>Microsoft Office PowerPoint</Application>
  <PresentationFormat>Widescreen</PresentationFormat>
  <Paragraphs>133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27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CHAIENE MERCEDES DA SILVA MINELLA</cp:lastModifiedBy>
  <cp:revision>97</cp:revision>
  <dcterms:created xsi:type="dcterms:W3CDTF">2024-02-21T18:56:16Z</dcterms:created>
  <dcterms:modified xsi:type="dcterms:W3CDTF">2026-10-21T10:47:54Z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0x010100449B7C91391FBB4790D15430585BD576</vt:lpwstr>
  </property>
  <property fmtid="{D5CDD505-2E9C-101B-9397-08002B2CF9AE}" pid="3" name="MediaServiceImageTags">
    <vt:lpwstr/>
  </property>
</Properties>
</file>