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9" r:id="rId11"/>
    <p:sldId id="268" r:id="rId12"/>
    <p:sldId id="265" r:id="rId13"/>
    <p:sldId id="270" r:id="rId14"/>
    <p:sldId id="258" r:id="rId15"/>
    <p:sldId id="259" r:id="rId16"/>
  </p:sldIdLst>
  <p:sldSz cx="18288000" cy="10287000"/>
  <p:notesSz cx="6858000" cy="9144000"/>
  <p:embeddedFontLst>
    <p:embeddedFont>
      <p:font typeface=" Avenir Next Arabic"/>
      <p:regular r:id="rId17"/>
    </p:embeddedFont>
    <p:embeddedFont>
      <p:font typeface=" Avenir Next Arabic Bold"/>
      <p:regular r:id="rId18"/>
    </p:embeddedFont>
    <p:embeddedFont>
      <p:font typeface="Cambria Math" panose="02040503050406030204" pitchFamily="18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modSld">
      <pc:chgData name="CHAIENE MERCEDES DA SILVA MINELLA" userId="03c40756-137a-4d89-92ad-627326a1a7b4" providerId="ADAL" clId="{B70A75BF-988A-4E24-A962-02E599989989}" dt="2026-10-13T23:36:19.850" v="1" actId="20577"/>
      <pc:docMkLst>
        <pc:docMk/>
      </pc:docMkLst>
      <pc:sldChg chg="modSp mod">
        <pc:chgData name="CHAIENE MERCEDES DA SILVA MINELLA" userId="03c40756-137a-4d89-92ad-627326a1a7b4" providerId="ADAL" clId="{B70A75BF-988A-4E24-A962-02E599989989}" dt="2026-10-13T23:36:19.850" v="1" actId="20577"/>
        <pc:sldMkLst>
          <pc:docMk/>
          <pc:sldMk cId="0" sldId="259"/>
        </pc:sldMkLst>
        <pc:spChg chg="mod">
          <ac:chgData name="CHAIENE MERCEDES DA SILVA MINELLA" userId="03c40756-137a-4d89-92ad-627326a1a7b4" providerId="ADAL" clId="{B70A75BF-988A-4E24-A962-02E599989989}" dt="2026-10-13T23:36:19.850" v="1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757985" y="3234269"/>
            <a:ext cx="1810499" cy="1705490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2819400" y="3233430"/>
            <a:ext cx="9553178" cy="101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6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6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19400" y="4286626"/>
            <a:ext cx="9553178" cy="55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Requisitos</a:t>
            </a:r>
            <a:endParaRPr lang="en-US" sz="24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D17381A-63F8-6555-E4AD-67E53935CFAF}"/>
              </a:ext>
            </a:extLst>
          </p:cNvPr>
          <p:cNvGrpSpPr>
            <a:grpSpLocks noChangeAspect="1"/>
          </p:cNvGrpSpPr>
          <p:nvPr/>
        </p:nvGrpSpPr>
        <p:grpSpPr>
          <a:xfrm>
            <a:off x="1181100" y="7670548"/>
            <a:ext cx="3276600" cy="1398357"/>
            <a:chOff x="0" y="0"/>
            <a:chExt cx="5816916" cy="248249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1A4F598-EA5F-4E7D-CB0C-CF7CB6A4BB10}"/>
                </a:ext>
              </a:extLst>
            </p:cNvPr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F6513F38-3E80-3A58-9ED9-D1CA2661D755}"/>
              </a:ext>
            </a:extLst>
          </p:cNvPr>
          <p:cNvSpPr txBox="1"/>
          <p:nvPr/>
        </p:nvSpPr>
        <p:spPr>
          <a:xfrm>
            <a:off x="1828800" y="1138163"/>
            <a:ext cx="111252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UNIVILLE -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da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Região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de Joinville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42696FA-CDB4-BA72-416D-E714CB6E3CB3}"/>
              </a:ext>
            </a:extLst>
          </p:cNvPr>
          <p:cNvSpPr txBox="1"/>
          <p:nvPr/>
        </p:nvSpPr>
        <p:spPr>
          <a:xfrm>
            <a:off x="1066800" y="9182100"/>
            <a:ext cx="914400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8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 - Profª Mª Chaiene M. da Silva Minella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11CA974-B82E-D349-2C59-98C8F433C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024968"/>
            <a:ext cx="552599" cy="500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2354044-EE60-FD2C-C1FE-4B4BB893A1FE}"/>
              </a:ext>
            </a:extLst>
          </p:cNvPr>
          <p:cNvSpPr txBox="1"/>
          <p:nvPr/>
        </p:nvSpPr>
        <p:spPr>
          <a:xfrm>
            <a:off x="1143000" y="2811604"/>
            <a:ext cx="16043086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Requisitos Funcionais (RF)</a:t>
            </a:r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 descrevem </a:t>
            </a:r>
            <a:r>
              <a:rPr lang="pt-BR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 que o sistema deve fazer</a:t>
            </a:r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Representam </a:t>
            </a:r>
            <a:r>
              <a:rPr lang="pt-BR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funções, comportamentos ou serviços</a:t>
            </a:r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 que o sistema deve oferecer ao usuário ou a outros sistemas.</a:t>
            </a:r>
          </a:p>
          <a:p>
            <a:pPr algn="just"/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pt-BR" sz="4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Um requisito funcional especifica uma função que o sistema deve ser capaz de realizar</a:t>
            </a:r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.”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pt-B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pt-BR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Sommerville</a:t>
            </a:r>
            <a:r>
              <a:rPr lang="pt-B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, 2019)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4F4A-A9A6-2938-B6E4-CF5774C5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70222A-934C-8A99-31EC-6BEA1BD9D4D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C59F553B-1411-D5C1-81BA-B137447CA9F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8C46994-E219-E3B8-EF4B-D02CADF85B69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8529965-DB17-BACB-0679-F2319C2EEF5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10ECDD7-A475-6F45-E520-714F6E3E3ED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85B14E6-BCC9-B4DF-4AF9-EE08470829B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5E99426-18BE-340B-7049-BA22A3FE6315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CC3C96F-BD4E-2A96-82F0-4A5590B83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92B26F4-DEF9-8867-F5C9-7D10761132E3}"/>
              </a:ext>
            </a:extLst>
          </p:cNvPr>
          <p:cNvSpPr txBox="1"/>
          <p:nvPr/>
        </p:nvSpPr>
        <p:spPr>
          <a:xfrm>
            <a:off x="1143000" y="2811604"/>
            <a:ext cx="160430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5C6D5AD-127E-9BC4-60D5-9D36A4EB1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575974"/>
              </p:ext>
            </p:extLst>
          </p:nvPr>
        </p:nvGraphicFramePr>
        <p:xfrm>
          <a:off x="1089755" y="3408520"/>
          <a:ext cx="16042076" cy="3647068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1577113601"/>
                    </a:ext>
                  </a:extLst>
                </a:gridCol>
                <a:gridCol w="10708076">
                  <a:extLst>
                    <a:ext uri="{9D8B030D-6E8A-4147-A177-3AD203B41FA5}">
                      <a16:colId xmlns:a16="http://schemas.microsoft.com/office/drawing/2014/main" val="2139187464"/>
                    </a:ext>
                  </a:extLst>
                </a:gridCol>
              </a:tblGrid>
              <a:tr h="412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Sistema</a:t>
                      </a:r>
                      <a:endParaRPr lang="pt-BR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Requisito Funcional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239892"/>
                  </a:ext>
                </a:extLst>
              </a:tr>
              <a:tr h="72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Sistema bancário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O sistema deve permitir que o usuário realize transferências entre contas.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036224"/>
                  </a:ext>
                </a:extLst>
              </a:tr>
              <a:tr h="103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E-commerce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O sistema deve enviar um e-mail de confirmação após a finalização da compra.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834316"/>
                  </a:ext>
                </a:extLst>
              </a:tr>
              <a:tr h="103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Aplicativo de controle de estoque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O sistema deve registrar automaticamente a entrada de novos produtos.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667828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D6B01707-BD6C-351A-6F3B-BFB461B4DA29}"/>
              </a:ext>
            </a:extLst>
          </p:cNvPr>
          <p:cNvSpPr txBox="1"/>
          <p:nvPr/>
        </p:nvSpPr>
        <p:spPr>
          <a:xfrm>
            <a:off x="1101885" y="220304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Exemplos</a:t>
            </a:r>
            <a:endParaRPr lang="pt-BR" b="1" u="sng" dirty="0"/>
          </a:p>
        </p:txBody>
      </p:sp>
    </p:spTree>
    <p:extLst>
      <p:ext uri="{BB962C8B-B14F-4D97-AF65-F5344CB8AC3E}">
        <p14:creationId xmlns:p14="http://schemas.microsoft.com/office/powerpoint/2010/main" val="407056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21BB-DB03-9A37-D33F-45FAFBDD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9ACE80-2851-8A66-59C7-6E3E04AA9AF4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909717A-366E-BA0A-22A7-F8826CAD0AB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6D8532C-828F-A9E8-CEB1-5F8436D80DC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9056CC-64B9-BBCD-4FFB-34088D0D830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EDAB2C6-AEF1-6C9F-0818-6826368A6DD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2DFBCBA-3A81-1F2E-990D-5CCA8AE624F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195D364-8366-4D44-8169-7711657622D2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3A2C9FE-1A6C-B5BF-E982-66A29524F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19C8811-CBDD-0DC5-EFCB-BC5E5FD895A5}"/>
              </a:ext>
            </a:extLst>
          </p:cNvPr>
          <p:cNvSpPr txBox="1"/>
          <p:nvPr/>
        </p:nvSpPr>
        <p:spPr>
          <a:xfrm>
            <a:off x="1143000" y="2095500"/>
            <a:ext cx="160430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Características de um Bom Requisito Funcional</a:t>
            </a:r>
          </a:p>
          <a:p>
            <a:endParaRPr lang="pt-BR" sz="4400" b="1" dirty="0"/>
          </a:p>
          <a:p>
            <a:r>
              <a:rPr lang="pt-BR" sz="4400" dirty="0"/>
              <a:t>Um requisito funcional deve ser:</a:t>
            </a:r>
          </a:p>
          <a:p>
            <a:endParaRPr lang="pt-BR" sz="4400" dirty="0"/>
          </a:p>
          <a:p>
            <a:r>
              <a:rPr lang="pt-BR" sz="4400" b="1" dirty="0"/>
              <a:t>Claro:</a:t>
            </a:r>
            <a:r>
              <a:rPr lang="pt-BR" sz="4400" dirty="0"/>
              <a:t> sem ambiguidades.</a:t>
            </a:r>
          </a:p>
          <a:p>
            <a:r>
              <a:rPr lang="pt-BR" sz="4400" b="1" dirty="0"/>
              <a:t>Compreensível:</a:t>
            </a:r>
            <a:r>
              <a:rPr lang="pt-BR" sz="4400" dirty="0"/>
              <a:t> para cliente e desenvolvedor.</a:t>
            </a:r>
          </a:p>
          <a:p>
            <a:r>
              <a:rPr lang="pt-BR" sz="4400" b="1" dirty="0"/>
              <a:t>Consistente:</a:t>
            </a:r>
            <a:r>
              <a:rPr lang="pt-BR" sz="4400" dirty="0"/>
              <a:t> sem contradições.</a:t>
            </a:r>
          </a:p>
          <a:p>
            <a:r>
              <a:rPr lang="pt-BR" sz="4400" b="1" dirty="0"/>
              <a:t>Verificável:</a:t>
            </a:r>
            <a:r>
              <a:rPr lang="pt-BR" sz="4400" dirty="0"/>
              <a:t> possível de testar.</a:t>
            </a:r>
          </a:p>
          <a:p>
            <a:r>
              <a:rPr lang="pt-BR" sz="4400" b="1" dirty="0"/>
              <a:t>Rastreável:</a:t>
            </a:r>
            <a:r>
              <a:rPr lang="pt-BR" sz="4400" dirty="0"/>
              <a:t> ligado a outros artefatos (casos de uso, testes, código).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2B598-2300-E5FB-7D55-4FE2A5BF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9DBF73-97CB-C83F-259D-825F24249A2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DF951816-76E5-526C-4057-023E3E81E340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7DF0CC5-7556-9356-D27B-0BB756D08553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FDBD04-351D-5443-2FA8-592EFAC203D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58C1E91-622F-C7A8-3AB2-F01F3A133D0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8EBB318-839A-7522-D2E0-807AC34AE79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8A2709A-A742-544E-5988-A1CA8A22762F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1900A3B-AEE2-8A97-00AF-C05626757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CEB35E-16B7-A2FA-6057-B2D2D0373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3797902"/>
            <a:ext cx="12773148" cy="341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4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6334A-2385-7661-9B21-33C3DF64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76F944D-E92F-090C-61A6-12D49DD1A7F7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D2FB1C6-5058-5119-65E0-66EE3744DFD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FCF5D12-A084-5D54-5C7A-EBA41CBEE82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F058F7E-00B5-FCEE-C184-57004125752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258C426-D236-ABB3-3FD2-56A2E2A1CBAD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6F18155-8372-1448-4491-D92DB3CE0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ABADFF0-64A1-ADDE-CEF7-4F462A04DC4D}"/>
              </a:ext>
            </a:extLst>
          </p:cNvPr>
          <p:cNvSpPr txBox="1"/>
          <p:nvPr/>
        </p:nvSpPr>
        <p:spPr>
          <a:xfrm>
            <a:off x="1143000" y="2095500"/>
            <a:ext cx="160430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Os requisitos funcionais podem ser descritos de várias formas</a:t>
            </a:r>
            <a:r>
              <a:rPr lang="pt-BR" sz="4400" dirty="0"/>
              <a:t>: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732F89C-0683-8DBB-9935-D1140BA1F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970590"/>
            <a:ext cx="11125200" cy="71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5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E034-BD4C-B256-63F4-F29B9DEB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19F3584-01F3-953A-5FEC-42CE2E330392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9890DC8-F578-8260-66E4-D6AEAC11109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49E08A6-4BC8-0491-F808-7EE6FE73A55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23F2408-1A1D-EADF-9140-8DB16FCFFA7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4330517-6125-3FF3-A834-80D392549DD1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E24F783-2214-C54C-409A-2327F8376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02B8C39-8D86-9232-E82D-8F2E8219DBD3}"/>
              </a:ext>
            </a:extLst>
          </p:cNvPr>
          <p:cNvSpPr txBox="1"/>
          <p:nvPr/>
        </p:nvSpPr>
        <p:spPr>
          <a:xfrm>
            <a:off x="1143000" y="2095500"/>
            <a:ext cx="16043086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Exercício de fixação</a:t>
            </a:r>
          </a:p>
          <a:p>
            <a:endParaRPr lang="pt-BR" sz="4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/>
              <a:t>Uma empresa deseja um sistema de agendamento de consultas médicas online.</a:t>
            </a:r>
          </a:p>
          <a:p>
            <a:endParaRPr lang="pt-BR" sz="4400" dirty="0"/>
          </a:p>
          <a:p>
            <a:r>
              <a:rPr lang="pt-BR" sz="4400" dirty="0"/>
              <a:t>Listem </a:t>
            </a:r>
            <a:r>
              <a:rPr lang="pt-BR" sz="4400" b="1" dirty="0"/>
              <a:t>5 possíveis requisitos funcionais</a:t>
            </a:r>
            <a:r>
              <a:rPr lang="pt-BR" sz="4400" dirty="0"/>
              <a:t>.</a:t>
            </a:r>
          </a:p>
          <a:p>
            <a:endParaRPr lang="pt-BR" sz="3200" dirty="0"/>
          </a:p>
          <a:p>
            <a:r>
              <a:rPr lang="pt-BR" sz="3200" u="sng" dirty="0"/>
              <a:t>Exemplo de resposta</a:t>
            </a:r>
            <a:r>
              <a:rPr lang="pt-BR" sz="3200" dirty="0"/>
              <a:t>:</a:t>
            </a:r>
          </a:p>
          <a:p>
            <a:r>
              <a:rPr lang="pt-BR" sz="3200" dirty="0"/>
              <a:t>O sistema deve permitir o cadastro de pacientes.</a:t>
            </a:r>
          </a:p>
          <a:p>
            <a:r>
              <a:rPr lang="pt-BR" sz="3200" dirty="0"/>
              <a:t>O sistema deve permitir o agendamento de consultas com médicos disponíveis.</a:t>
            </a:r>
          </a:p>
          <a:p>
            <a:r>
              <a:rPr lang="pt-BR" sz="3200" dirty="0"/>
              <a:t>O sistema deve enviar lembretes por e-mail.</a:t>
            </a:r>
          </a:p>
          <a:p>
            <a:r>
              <a:rPr lang="pt-BR" sz="3200" dirty="0"/>
              <a:t>O sistema deve permitir o cancelamento de consultas.</a:t>
            </a:r>
          </a:p>
          <a:p>
            <a:r>
              <a:rPr lang="pt-BR" sz="3200" dirty="0"/>
              <a:t>O sistema deve registrar o histórico de consultas do paciente.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EC6C-E696-CF7B-94F0-1438ADF3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235CC6C-F2E2-8189-E178-B79C30B8EBA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58950B6-F215-01AB-49A6-CD71FAB2C85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9ECA1CC-D29F-DF1B-2999-68C5C7597662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F564B23-DC03-76D8-21CC-A71FF5290A8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6148D22-5296-C6A7-556A-71AA7B49D2E9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0928F2F-4B3E-D9B7-24A4-005692DB1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D41B7F3-E31D-3023-FF2A-3587560D8C2A}"/>
              </a:ext>
            </a:extLst>
          </p:cNvPr>
          <p:cNvSpPr txBox="1"/>
          <p:nvPr/>
        </p:nvSpPr>
        <p:spPr>
          <a:xfrm>
            <a:off x="1143000" y="2095500"/>
            <a:ext cx="1604308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Exercício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/>
              <a:t>Qual das opções abaixo representa um requisito funcional?</a:t>
            </a:r>
            <a:br>
              <a:rPr lang="pt-BR" sz="4400" dirty="0"/>
            </a:br>
            <a:r>
              <a:rPr lang="pt-BR" sz="4400" dirty="0"/>
              <a:t>a) O sistema deve responder em menos de 2 segundos.</a:t>
            </a:r>
            <a:br>
              <a:rPr lang="pt-BR" sz="4400" dirty="0"/>
            </a:br>
            <a:r>
              <a:rPr lang="pt-BR" sz="4400" dirty="0"/>
              <a:t>b) O sistema deve ser compatível com navegadores modernos.</a:t>
            </a:r>
            <a:br>
              <a:rPr lang="pt-BR" sz="4400" dirty="0"/>
            </a:br>
            <a:r>
              <a:rPr lang="pt-BR" sz="4400" dirty="0"/>
              <a:t>c) O sistema deve permitir o cadastro de novos clientes. </a:t>
            </a:r>
            <a:br>
              <a:rPr lang="pt-BR" sz="4400" dirty="0"/>
            </a:br>
            <a:r>
              <a:rPr lang="pt-BR" sz="4400" dirty="0"/>
              <a:t>d) O sistema deve ser seguro.</a:t>
            </a:r>
            <a:br>
              <a:rPr lang="pt-BR" sz="4400" dirty="0"/>
            </a:br>
            <a:r>
              <a:rPr lang="pt-BR" sz="4400" dirty="0"/>
              <a:t>e) O sistema deve ser fácil de usar.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88B51D3-91E8-8D96-3178-D512F4BCA72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1DF7BDA-C509-CE60-E7F4-05EED2AF655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9801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05E6-8C48-C6CD-F8DE-F0E37750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C04CA8F-62A2-D405-A4D9-71CE9A11CA4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069FAC-2A3E-0D17-0897-A2D2ABF537C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5E27377-87F7-0CB9-ECB3-4134804ACA22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38FD10D-AC95-E1B0-0D2A-39B84CC3444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8043703-AF21-3056-A9CC-782AB1732B3A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E93EF9F-BB69-6EA2-162C-FF1957350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9CB044D-3C55-F58F-319D-92ADDF8F1022}"/>
              </a:ext>
            </a:extLst>
          </p:cNvPr>
          <p:cNvSpPr txBox="1"/>
          <p:nvPr/>
        </p:nvSpPr>
        <p:spPr>
          <a:xfrm>
            <a:off x="1143000" y="2095500"/>
            <a:ext cx="1604308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Exercício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/>
              <a:t>Qual das opções abaixo representa um requisito funcional?</a:t>
            </a:r>
            <a:br>
              <a:rPr lang="pt-BR" sz="4400" dirty="0"/>
            </a:br>
            <a:r>
              <a:rPr lang="pt-BR" sz="4400" dirty="0"/>
              <a:t>a) O sistema deve responder em menos de 2 segundos.</a:t>
            </a:r>
            <a:br>
              <a:rPr lang="pt-BR" sz="4400" dirty="0"/>
            </a:br>
            <a:r>
              <a:rPr lang="pt-BR" sz="4400" dirty="0"/>
              <a:t>b) O sistema deve ser compatível com navegadores modernos.</a:t>
            </a:r>
            <a:br>
              <a:rPr lang="pt-BR" sz="4400" dirty="0"/>
            </a:br>
            <a:r>
              <a:rPr lang="pt-BR" sz="4400" b="1" dirty="0"/>
              <a:t>c) O sistema deve permitir o cadastro de novos clientes. </a:t>
            </a:r>
            <a:r>
              <a:rPr lang="pt-BR" sz="4400" dirty="0"/>
              <a:t>✅</a:t>
            </a:r>
            <a:br>
              <a:rPr lang="pt-BR" sz="4400" dirty="0"/>
            </a:br>
            <a:r>
              <a:rPr lang="pt-BR" sz="4400" dirty="0"/>
              <a:t>d) O sistema deve ser seguro.</a:t>
            </a:r>
            <a:br>
              <a:rPr lang="pt-BR" sz="4400" dirty="0"/>
            </a:br>
            <a:r>
              <a:rPr lang="pt-BR" sz="4400" dirty="0"/>
              <a:t>e) O sistema deve ser fácil de usar.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D960BCB-6319-7244-53E1-487D0797FC0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DEE3914-7BD4-6240-42CC-D066D8D7784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4074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3749-FF6F-0307-4836-4AD9659B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8D756BA-FA18-585D-C000-890D1852DE8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8302E7F-2D37-F8AD-857C-F39AEA05D2C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6D5F9A6-311D-B7FA-EA8D-88ECEB539DC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8BB4F31-ADE6-0CB2-9980-F399FCFA6C0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8350F52-EE2D-584B-0014-9A1FA7BC7766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46B52C2-85DD-EC3D-E0C2-7A4C79B7E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0CA0A52-0EC3-928D-C4ED-931A6FB95A86}"/>
              </a:ext>
            </a:extLst>
          </p:cNvPr>
          <p:cNvSpPr txBox="1"/>
          <p:nvPr/>
        </p:nvSpPr>
        <p:spPr>
          <a:xfrm>
            <a:off x="1143000" y="2095500"/>
            <a:ext cx="1604308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Exercício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b="1" dirty="0"/>
              <a:t>Verdadeiro ou Falso:</a:t>
            </a:r>
            <a:endParaRPr lang="pt-BR" sz="4400" dirty="0"/>
          </a:p>
          <a:p>
            <a:r>
              <a:rPr lang="pt-BR" sz="4400" dirty="0"/>
              <a:t>( ) Requisitos funcionais descrevem restrições de desempenho.</a:t>
            </a:r>
          </a:p>
          <a:p>
            <a:r>
              <a:rPr lang="pt-BR" sz="4400" dirty="0"/>
              <a:t>( ) Requisitos funcionais definem o que o sistema deve fazer.</a:t>
            </a:r>
          </a:p>
          <a:p>
            <a:r>
              <a:rPr lang="pt-BR" sz="4400" dirty="0"/>
              <a:t>( ) A clareza e a verificabilidade são qualidades desejáveis em requisitos.</a:t>
            </a:r>
          </a:p>
          <a:p>
            <a:r>
              <a:rPr lang="pt-BR" sz="4400" dirty="0"/>
              <a:t>( ) “O sistema deve ser rápido” é um exemplo de requisito funcional.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C97ACE9-1E51-9CCF-6D4D-C5D5727D90D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237B8FF-A8A7-CE92-7A36-B2D66ADAEBD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1940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B380-9816-12B1-2940-D96D409A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D23D5C1-57EC-1073-91B5-DAF8DF511AF1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6D9B37E-86CB-A890-2A4B-4417F49EAE0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6E797CE-8339-8F2E-11D8-6BB72B6ED4F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A8908E7-76A5-609E-C412-E54FA9912A4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2B7A0321-E1E1-C372-55C3-5E91ACF46F41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5A4C52D-E005-E26F-8233-A396FA035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2B0DD23-E55C-45A1-BD26-CA441B8B464F}"/>
              </a:ext>
            </a:extLst>
          </p:cNvPr>
          <p:cNvSpPr txBox="1"/>
          <p:nvPr/>
        </p:nvSpPr>
        <p:spPr>
          <a:xfrm>
            <a:off x="1143000" y="2095500"/>
            <a:ext cx="1604308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Exercício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b="1" dirty="0"/>
              <a:t>Verdadeiro ou Falso:</a:t>
            </a:r>
            <a:endParaRPr lang="pt-BR" sz="4400" dirty="0"/>
          </a:p>
          <a:p>
            <a:r>
              <a:rPr lang="pt-BR" sz="4400" dirty="0"/>
              <a:t>(F) Requisitos funcionais descrevem restrições de desempenho.</a:t>
            </a:r>
          </a:p>
          <a:p>
            <a:r>
              <a:rPr lang="pt-BR" sz="4400" dirty="0"/>
              <a:t>(V) Requisitos funcionais definem o que o sistema deve fazer.</a:t>
            </a:r>
          </a:p>
          <a:p>
            <a:r>
              <a:rPr lang="pt-BR" sz="4400" dirty="0"/>
              <a:t>(V) A clareza e a verificabilidade são qualidades desejáveis em requisitos.</a:t>
            </a:r>
          </a:p>
          <a:p>
            <a:r>
              <a:rPr lang="pt-BR" sz="4400" dirty="0"/>
              <a:t>(F) “O sistema deve ser rápido” é um exemplo de requisito funcional.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3D6C7E5D-7C96-4459-86C8-931C82BC336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54FEFED-4E48-9E31-1C86-E3BE35AAACD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33616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B8636-4023-141B-6A82-F0659913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A53C4F6-ACD8-79FC-E39F-3C32DD80836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852C80-6A63-06A9-F94B-D8558CEAF00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BD1F376-0722-C1B6-D944-EB6166021200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46B5879-0C5A-8FBE-2C87-C00E8711DF5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E92D472-B728-2773-FABE-8E0DA71B1E51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8D47DDB-FD2F-9DDD-ABF1-FF074BDEF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8F6BBBC-CC45-9364-2CC3-E1A96440C498}"/>
              </a:ext>
            </a:extLst>
          </p:cNvPr>
          <p:cNvSpPr txBox="1"/>
          <p:nvPr/>
        </p:nvSpPr>
        <p:spPr>
          <a:xfrm>
            <a:off x="1143000" y="2095500"/>
            <a:ext cx="1604308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latin typeface="+mj-lt"/>
                <a:ea typeface="Cambria Math" panose="02040503050406030204" pitchFamily="18" charset="0"/>
              </a:rPr>
              <a:t>Atividade de Fixação</a:t>
            </a:r>
          </a:p>
          <a:p>
            <a:endParaRPr lang="pt-BR" sz="4400" dirty="0">
              <a:latin typeface="+mj-lt"/>
              <a:ea typeface="Cambria Math" panose="02040503050406030204" pitchFamily="18" charset="0"/>
            </a:endParaRPr>
          </a:p>
          <a:p>
            <a:r>
              <a:rPr lang="pt-BR" sz="4400" dirty="0">
                <a:latin typeface="+mj-lt"/>
                <a:ea typeface="Cambria Math" panose="02040503050406030204" pitchFamily="18" charset="0"/>
              </a:rPr>
              <a:t>Elaborar uma lista de 10 requisitos funcionais para um sistema de controle acadêmico (cadastro de alunos, notas, disciplinas...).</a:t>
            </a:r>
          </a:p>
          <a:p>
            <a:endParaRPr lang="pt-BR" sz="4400" dirty="0">
              <a:latin typeface="+mj-lt"/>
              <a:ea typeface="Cambria Math" panose="02040503050406030204" pitchFamily="18" charset="0"/>
            </a:endParaRPr>
          </a:p>
          <a:p>
            <a:r>
              <a:rPr lang="pt-BR" sz="4400" u="sng" dirty="0">
                <a:latin typeface="+mj-lt"/>
                <a:ea typeface="Cambria Math" panose="02040503050406030204" pitchFamily="18" charset="0"/>
              </a:rPr>
              <a:t>Critérios</a:t>
            </a:r>
            <a:r>
              <a:rPr lang="pt-BR" sz="4400" dirty="0">
                <a:latin typeface="+mj-lt"/>
                <a:ea typeface="Cambria Math" panose="02040503050406030204" pitchFamily="18" charset="0"/>
              </a:rPr>
              <a:t>: </a:t>
            </a:r>
          </a:p>
          <a:p>
            <a:r>
              <a:rPr lang="pt-BR" sz="4400" dirty="0">
                <a:latin typeface="+mj-lt"/>
                <a:ea typeface="Cambria Math" panose="02040503050406030204" pitchFamily="18" charset="0"/>
              </a:rPr>
              <a:t>Redação clara e padronizada.</a:t>
            </a:r>
          </a:p>
          <a:p>
            <a:r>
              <a:rPr lang="pt-BR" sz="4400" dirty="0">
                <a:latin typeface="+mj-lt"/>
                <a:ea typeface="Cambria Math" panose="02040503050406030204" pitchFamily="18" charset="0"/>
              </a:rPr>
              <a:t>Identificador único (</a:t>
            </a:r>
            <a:r>
              <a:rPr lang="pt-BR" sz="4400" dirty="0" err="1">
                <a:latin typeface="+mj-lt"/>
                <a:ea typeface="Cambria Math" panose="02040503050406030204" pitchFamily="18" charset="0"/>
              </a:rPr>
              <a:t>ex</a:t>
            </a:r>
            <a:r>
              <a:rPr lang="pt-BR" sz="4400" dirty="0">
                <a:latin typeface="+mj-lt"/>
                <a:ea typeface="Cambria Math" panose="02040503050406030204" pitchFamily="18" charset="0"/>
              </a:rPr>
              <a:t>: RF01, RF02…).</a:t>
            </a:r>
          </a:p>
          <a:p>
            <a:r>
              <a:rPr lang="pt-BR" sz="4400" dirty="0">
                <a:latin typeface="+mj-lt"/>
                <a:ea typeface="Cambria Math" panose="02040503050406030204" pitchFamily="18" charset="0"/>
              </a:rPr>
              <a:t>Linguagem objetiva.</a:t>
            </a:r>
          </a:p>
          <a:p>
            <a:r>
              <a:rPr lang="pt-BR" sz="4400" dirty="0">
                <a:latin typeface="+mj-lt"/>
                <a:ea typeface="Cambria Math" panose="02040503050406030204" pitchFamily="18" charset="0"/>
              </a:rPr>
              <a:t>Uso de verbo de ação (permitir, registrar, enviar, validar, calcular etc.).</a:t>
            </a:r>
          </a:p>
        </p:txBody>
      </p:sp>
    </p:spTree>
    <p:extLst>
      <p:ext uri="{BB962C8B-B14F-4D97-AF65-F5344CB8AC3E}">
        <p14:creationId xmlns:p14="http://schemas.microsoft.com/office/powerpoint/2010/main" val="3419791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F058C-61D2-F1DD-657E-B735B234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D436DAE-C065-0105-1AE6-9B9BA5D11D6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D234F44-D337-311E-D014-7F6F628B114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527E04C-8578-3CD6-B7A5-2EA63FB00F3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3186E5D-1E6B-1814-8756-1DD6E5B27BF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617172D-C659-11DE-A13F-0C5B128BD8BA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Funcionais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56FDCA7-7A4E-CCA4-3FBC-14158A9F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C770543-813E-1C28-4BF3-BD9D5C328314}"/>
              </a:ext>
            </a:extLst>
          </p:cNvPr>
          <p:cNvSpPr txBox="1"/>
          <p:nvPr/>
        </p:nvSpPr>
        <p:spPr>
          <a:xfrm>
            <a:off x="1143000" y="2095500"/>
            <a:ext cx="160430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Referências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SOMMERVILLE, Ian. Engenharia de Software, 10ª Ed. Pearson, 2019.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PRESSMAN, Roger S. Engenharia de Software: uma abordagem profissional, 8ª Ed. AMGH, 2016.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IEEE </a:t>
            </a:r>
            <a:r>
              <a:rPr lang="pt-BR" sz="4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Std</a:t>
            </a: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830-1998 – </a:t>
            </a:r>
            <a:r>
              <a:rPr lang="pt-BR" sz="4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Recommended</a:t>
            </a: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BR" sz="4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Practice</a:t>
            </a: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for Software </a:t>
            </a:r>
            <a:r>
              <a:rPr lang="pt-BR" sz="4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Requirements</a:t>
            </a: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pt-BR" sz="4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Specifications</a:t>
            </a:r>
            <a:r>
              <a:rPr lang="pt-BR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A93BA5F-00CC-E8AF-468A-B9922E54AA9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6D9ECB9-F056-A6BA-2804-BDC3294C32E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787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" y="8510024"/>
            <a:ext cx="4191000" cy="1776976"/>
            <a:chOff x="0" y="0"/>
            <a:chExt cx="6937514" cy="2941492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6937502" cy="2941447"/>
            </a:xfrm>
            <a:custGeom>
              <a:avLst/>
              <a:gdLst/>
              <a:ahLst/>
              <a:cxnLst/>
              <a:rect l="l" t="t" r="r" b="b"/>
              <a:pathLst>
                <a:path w="6937502" h="2941447">
                  <a:moveTo>
                    <a:pt x="0" y="0"/>
                  </a:moveTo>
                  <a:lnTo>
                    <a:pt x="6937502" y="0"/>
                  </a:lnTo>
                  <a:lnTo>
                    <a:pt x="6937502" y="2941447"/>
                  </a:lnTo>
                  <a:lnTo>
                    <a:pt x="0" y="294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2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43583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70830" y="1115598"/>
            <a:ext cx="9553178" cy="77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 ???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0C59DBF-ECB8-9BD0-434C-6F7C247A3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pic>
        <p:nvPicPr>
          <p:cNvPr id="6" name="Picture 4" descr="a cartoon pug dog with a question mark above its head">
            <a:extLst>
              <a:ext uri="{FF2B5EF4-FFF2-40B4-BE49-F238E27FC236}">
                <a16:creationId xmlns:a16="http://schemas.microsoft.com/office/drawing/2014/main" id="{1EDFB4EC-98B3-D00D-078D-C97EF8E0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17746"/>
            <a:ext cx="5098294" cy="509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638" y="1482042"/>
            <a:ext cx="9553178" cy="2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Engetec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| Engenharia de Software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chaiene.minella@univille.br</a:t>
            </a:r>
          </a:p>
          <a:p>
            <a:pPr algn="l">
              <a:lnSpc>
                <a:spcPts val="4320"/>
              </a:lnSpc>
            </a:pPr>
            <a:endParaRPr lang="en-US" sz="36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667</Words>
  <Application>Microsoft Office PowerPoint</Application>
  <PresentationFormat>Personalizar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 Avenir Next Arabic</vt:lpstr>
      <vt:lpstr>Arial</vt:lpstr>
      <vt:lpstr>Cambria Math</vt:lpstr>
      <vt:lpstr> Avenir Next Arabic Bold</vt:lpstr>
      <vt:lpstr>Courier New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Template_Univille 60 anos.pptx</dc:title>
  <cp:lastModifiedBy>CHAIENE MERCEDES DA SILVA MINELLA</cp:lastModifiedBy>
  <cp:revision>2</cp:revision>
  <dcterms:created xsi:type="dcterms:W3CDTF">2006-08-16T00:00:00Z</dcterms:created>
  <dcterms:modified xsi:type="dcterms:W3CDTF">2026-10-14T12:11:05Z</dcterms:modified>
  <dc:identifier>DAGtVIDxolU</dc:identifier>
</cp:coreProperties>
</file>