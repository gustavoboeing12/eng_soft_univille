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58" r:id="rId17"/>
    <p:sldId id="259" r:id="rId18"/>
  </p:sldIdLst>
  <p:sldSz cx="18288000" cy="10287000"/>
  <p:notesSz cx="6858000" cy="9144000"/>
  <p:embeddedFontLst>
    <p:embeddedFont>
      <p:font typeface=" Avenir Next Arabic" panose="020B0604020202020204" charset="-78"/>
      <p:regular r:id="rId19"/>
    </p:embeddedFont>
    <p:embeddedFont>
      <p:font typeface=" Avenir Next Arabic Bold" panose="020B0604020202020204" charset="-78"/>
      <p:regular r:id="rId20"/>
    </p:embeddedFont>
    <p:embeddedFont>
      <p:font typeface="Cambria Math" panose="02040503050406030204" pitchFamily="18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ENE MERCEDES DA SILVA MINELLA" userId="03c40756-137a-4d89-92ad-627326a1a7b4" providerId="ADAL" clId="{B70A75BF-988A-4E24-A962-02E599989989}"/>
    <pc:docChg chg="modSld">
      <pc:chgData name="CHAIENE MERCEDES DA SILVA MINELLA" userId="03c40756-137a-4d89-92ad-627326a1a7b4" providerId="ADAL" clId="{B70A75BF-988A-4E24-A962-02E599989989}" dt="2026-10-05T13:51:31.222" v="1" actId="20577"/>
      <pc:docMkLst>
        <pc:docMk/>
      </pc:docMkLst>
      <pc:sldChg chg="modSp mod">
        <pc:chgData name="CHAIENE MERCEDES DA SILVA MINELLA" userId="03c40756-137a-4d89-92ad-627326a1a7b4" providerId="ADAL" clId="{B70A75BF-988A-4E24-A962-02E599989989}" dt="2026-10-05T13:51:31.222" v="1" actId="20577"/>
        <pc:sldMkLst>
          <pc:docMk/>
          <pc:sldMk cId="0" sldId="259"/>
        </pc:sldMkLst>
        <pc:spChg chg="mod">
          <ac:chgData name="CHAIENE MERCEDES DA SILVA MINELLA" userId="03c40756-137a-4d89-92ad-627326a1a7b4" providerId="ADAL" clId="{B70A75BF-988A-4E24-A962-02E599989989}" dt="2026-10-05T13:51:31.222" v="1" actId="20577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1034716" y="3404731"/>
            <a:ext cx="1810499" cy="1705490"/>
          </a:xfrm>
          <a:custGeom>
            <a:avLst/>
            <a:gdLst/>
            <a:ahLst/>
            <a:cxnLst/>
            <a:rect l="l" t="t" r="r" b="b"/>
            <a:pathLst>
              <a:path w="1810499" h="1705490">
                <a:moveTo>
                  <a:pt x="0" y="0"/>
                </a:moveTo>
                <a:lnTo>
                  <a:pt x="1810500" y="0"/>
                </a:lnTo>
                <a:lnTo>
                  <a:pt x="1810500" y="1705491"/>
                </a:lnTo>
                <a:lnTo>
                  <a:pt x="0" y="1705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3200400" y="2750090"/>
            <a:ext cx="11237748" cy="1957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</a:p>
          <a:p>
            <a:pPr algn="l">
              <a:lnSpc>
                <a:spcPts val="7920"/>
              </a:lnSpc>
            </a:pP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200400" y="4836189"/>
            <a:ext cx="9553178" cy="55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Requisitos</a:t>
            </a:r>
            <a:endParaRPr lang="en-US" sz="2400" dirty="0">
              <a:solidFill>
                <a:srgbClr val="006232"/>
              </a:solidFill>
              <a:latin typeface=" Avenir Next Arabic"/>
              <a:ea typeface=" Avenir Next Arabic"/>
              <a:cs typeface=" Avenir Next Arabic"/>
              <a:sym typeface=" Avenir Next Arabic"/>
            </a:endParaRP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6D17381A-63F8-6555-E4AD-67E53935CFAF}"/>
              </a:ext>
            </a:extLst>
          </p:cNvPr>
          <p:cNvGrpSpPr>
            <a:grpSpLocks noChangeAspect="1"/>
          </p:cNvGrpSpPr>
          <p:nvPr/>
        </p:nvGrpSpPr>
        <p:grpSpPr>
          <a:xfrm>
            <a:off x="1181100" y="7670548"/>
            <a:ext cx="3276600" cy="1398357"/>
            <a:chOff x="0" y="0"/>
            <a:chExt cx="5816916" cy="2482490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1A4F598-EA5F-4E7D-CB0C-CF7CB6A4BB10}"/>
                </a:ext>
              </a:extLst>
            </p:cNvPr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F6513F38-3E80-3A58-9ED9-D1CA2661D755}"/>
              </a:ext>
            </a:extLst>
          </p:cNvPr>
          <p:cNvSpPr txBox="1"/>
          <p:nvPr/>
        </p:nvSpPr>
        <p:spPr>
          <a:xfrm>
            <a:off x="1828800" y="1138163"/>
            <a:ext cx="11125200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UNIVILLE -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Universidade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da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Região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de Joinville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42696FA-CDB4-BA72-416D-E714CB6E3CB3}"/>
              </a:ext>
            </a:extLst>
          </p:cNvPr>
          <p:cNvSpPr txBox="1"/>
          <p:nvPr/>
        </p:nvSpPr>
        <p:spPr>
          <a:xfrm>
            <a:off x="1066800" y="9182100"/>
            <a:ext cx="9144000" cy="440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8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Software - Profª Mª Chaiene M. da Silva Minella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11CA974-B82E-D349-2C59-98C8F433C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552599" cy="5001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012EF5C-03B9-F676-B8BB-474C691D3306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FB65B0C-B949-19F9-84BC-3F503A5EC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2354044-EE60-FD2C-C1FE-4B4BB893A1FE}"/>
              </a:ext>
            </a:extLst>
          </p:cNvPr>
          <p:cNvSpPr txBox="1"/>
          <p:nvPr/>
        </p:nvSpPr>
        <p:spPr>
          <a:xfrm>
            <a:off x="1101881" y="2132390"/>
            <a:ext cx="1604308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O que é gerenciamento de requisitos em projetos ágeis?</a:t>
            </a:r>
          </a:p>
          <a:p>
            <a:endParaRPr lang="pt-BR" sz="4400" b="1" dirty="0"/>
          </a:p>
          <a:p>
            <a:pPr algn="just"/>
            <a:r>
              <a:rPr lang="pt-BR" sz="4400" dirty="0"/>
              <a:t>O gerenciamento de requisitos em projetos ágeis consiste no conjunto de práticas voltadas para </a:t>
            </a:r>
            <a:r>
              <a:rPr lang="pt-BR" sz="4400" b="1" dirty="0"/>
              <a:t>levantar, priorizar, detalhar, acompanhar e validar requisitos de forma </a:t>
            </a:r>
            <a:r>
              <a:rPr lang="pt-BR" sz="4400" b="1" u="sng" dirty="0"/>
              <a:t>incremental</a:t>
            </a:r>
            <a:r>
              <a:rPr lang="pt-BR" sz="4400" b="1" dirty="0"/>
              <a:t> e </a:t>
            </a:r>
            <a:r>
              <a:rPr lang="pt-BR" sz="4400" b="1" u="sng" dirty="0"/>
              <a:t>colaborativa</a:t>
            </a:r>
            <a:r>
              <a:rPr lang="pt-BR" sz="4400" dirty="0"/>
              <a:t>, adaptando-se às mudanças ao longo do desenvolvimento.</a:t>
            </a:r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24ADA-0A1E-38D0-8794-397420E2B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3F2126-EE59-B985-A372-00E8F6E53C78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6CAE2AD0-8689-3FE9-DD0D-71DE10A62AD2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0A79968-DD45-9D26-B7E5-A567B1C60D9E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12A5C2-DED9-40F2-9E87-130F8097363C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BF7E12A-9E1B-351C-BF29-D730A1CE8FE4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B0DB241-D836-C2CF-8F7A-D80E1B0321B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F989BED2-5A81-EEE0-88DB-3FBBF0C5AC50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5F7EDD1-6518-D17C-8A8A-2DD4D2268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7764DA5-A5F5-EB77-9CDD-0FAFA3890939}"/>
              </a:ext>
            </a:extLst>
          </p:cNvPr>
          <p:cNvSpPr txBox="1"/>
          <p:nvPr/>
        </p:nvSpPr>
        <p:spPr>
          <a:xfrm>
            <a:off x="1101881" y="2132390"/>
            <a:ext cx="1604308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O que é gerenciamento de requisitos em projetos ágeis?</a:t>
            </a:r>
          </a:p>
          <a:p>
            <a:endParaRPr lang="pt-BR" sz="4400" b="1" dirty="0"/>
          </a:p>
          <a:p>
            <a:pPr algn="just"/>
            <a:r>
              <a:rPr lang="pt-BR" sz="4400" dirty="0"/>
              <a:t>Diferente do modelo tradicional (cascata), em que os requisitos são definidos por completo no início, o ágil trabalha com </a:t>
            </a:r>
            <a:r>
              <a:rPr lang="pt-BR" sz="4400" b="1" u="sng" dirty="0"/>
              <a:t>aprendizado contínuo</a:t>
            </a:r>
            <a:r>
              <a:rPr lang="pt-BR" sz="4400" dirty="0"/>
              <a:t>, entregas frequentes e feedback constante do cliente.</a:t>
            </a:r>
          </a:p>
          <a:p>
            <a:pPr algn="r"/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192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9408C-8605-5015-81DF-ED43DFE6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73B1C1E-4051-27C5-6BF2-6AAFE566EA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32E79EB5-80D4-F8FC-D11F-791B2EA9047A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31E10DA-A48D-AA49-E178-E03920E1C310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23B5B6F-A8C0-11C3-01CE-0E78F255B2A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D4706E1-7323-49CF-D1F0-370E06CC7D22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219C76-DCF3-EA9D-8067-123BB6E7FCA4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F414E2B7-B1F3-96FE-F8A4-DE7118960925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9FCA7B9-77B0-6681-7A73-07B715956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8CBDA04-267F-6CE6-3618-8DBE981964B0}"/>
              </a:ext>
            </a:extLst>
          </p:cNvPr>
          <p:cNvSpPr txBox="1"/>
          <p:nvPr/>
        </p:nvSpPr>
        <p:spPr>
          <a:xfrm>
            <a:off x="1101881" y="2132390"/>
            <a:ext cx="1604308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Princípios fundamentais</a:t>
            </a:r>
          </a:p>
          <a:p>
            <a:endParaRPr lang="pt-BR" sz="4400" b="1" dirty="0"/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4400" dirty="0"/>
              <a:t>Colaboração constante com o cliente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4400" dirty="0"/>
              <a:t>Entrega incremental de valor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4400" dirty="0"/>
              <a:t>Requisitos flexíveis e evolutivos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4400" dirty="0"/>
              <a:t>Priorização baseada em valor e risco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4400" dirty="0"/>
              <a:t>Feedback contínuo</a:t>
            </a:r>
          </a:p>
          <a:p>
            <a:pPr marL="571500" indent="-571500">
              <a:buFont typeface="Courier New" panose="02070309020205020404" pitchFamily="49" charset="0"/>
              <a:buChar char="o"/>
            </a:pPr>
            <a:r>
              <a:rPr lang="pt-BR" sz="4400" dirty="0"/>
              <a:t>Documentação leve, porém suficiente</a:t>
            </a:r>
          </a:p>
          <a:p>
            <a:pPr algn="r"/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09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6AAE7-35CA-E3D8-1982-3E5364B49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9796BA-1D21-9351-49D2-5275C784E5F7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C934618C-4200-BD05-8E5F-8867390E87E1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EE10578-E3A1-AF46-68E0-75F8752ACF4B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1A460EF-F9D0-295F-AD4B-76998FEED3A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F4E7D7E-4126-7228-6EF4-BBEB09F3C53A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8CAFA34-FD30-2E9A-3411-C989B0861435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CA4B1FB9-67D9-167F-198E-77324E11C6B8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C5FBB77-4DB1-3996-F6DE-27627299C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AB4220-49DB-245F-27D6-C2DC987E1177}"/>
              </a:ext>
            </a:extLst>
          </p:cNvPr>
          <p:cNvSpPr txBox="1"/>
          <p:nvPr/>
        </p:nvSpPr>
        <p:spPr>
          <a:xfrm>
            <a:off x="1101881" y="2132390"/>
            <a:ext cx="160430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/>
              <a:t>Artefatos típicos de requisitos em métodos ágeis</a:t>
            </a: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6F8B776-BA66-EE2C-AE8A-695C891B2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246936"/>
              </p:ext>
            </p:extLst>
          </p:nvPr>
        </p:nvGraphicFramePr>
        <p:xfrm>
          <a:off x="1101880" y="3238500"/>
          <a:ext cx="16576520" cy="5618760"/>
        </p:xfrm>
        <a:graphic>
          <a:graphicData uri="http://schemas.openxmlformats.org/drawingml/2006/table">
            <a:tbl>
              <a:tblPr/>
              <a:tblGrid>
                <a:gridCol w="4841720">
                  <a:extLst>
                    <a:ext uri="{9D8B030D-6E8A-4147-A177-3AD203B41FA5}">
                      <a16:colId xmlns:a16="http://schemas.microsoft.com/office/drawing/2014/main" val="611829837"/>
                    </a:ext>
                  </a:extLst>
                </a:gridCol>
                <a:gridCol w="11734800">
                  <a:extLst>
                    <a:ext uri="{9D8B030D-6E8A-4147-A177-3AD203B41FA5}">
                      <a16:colId xmlns:a16="http://schemas.microsoft.com/office/drawing/2014/main" val="3832107775"/>
                    </a:ext>
                  </a:extLst>
                </a:gridCol>
              </a:tblGrid>
              <a:tr h="318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>
                          <a:highlight>
                            <a:srgbClr val="00FF00"/>
                          </a:highlight>
                        </a:rPr>
                        <a:t>Artefato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>
                          <a:highlight>
                            <a:srgbClr val="00FF00"/>
                          </a:highlight>
                        </a:rPr>
                        <a:t>Descrição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44465"/>
                  </a:ext>
                </a:extLst>
              </a:tr>
              <a:tr h="318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 err="1"/>
                        <a:t>Product</a:t>
                      </a:r>
                      <a:r>
                        <a:rPr lang="pt-BR" sz="3200" b="1" dirty="0"/>
                        <a:t> Backlog</a:t>
                      </a:r>
                      <a:endParaRPr lang="pt-BR" sz="3200" dirty="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Lista priorizada de requisitos do produto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213499"/>
                  </a:ext>
                </a:extLst>
              </a:tr>
              <a:tr h="558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 err="1"/>
                        <a:t>Product</a:t>
                      </a:r>
                      <a:r>
                        <a:rPr lang="pt-BR" sz="3200" b="1" dirty="0"/>
                        <a:t> Vision</a:t>
                      </a:r>
                      <a:endParaRPr lang="pt-BR" sz="3200" dirty="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Declaração da visão e objetivos do produto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59256"/>
                  </a:ext>
                </a:extLst>
              </a:tr>
              <a:tr h="558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 err="1"/>
                        <a:t>User</a:t>
                      </a:r>
                      <a:r>
                        <a:rPr lang="pt-BR" sz="3200" b="1" dirty="0"/>
                        <a:t> Stories</a:t>
                      </a:r>
                      <a:endParaRPr lang="pt-BR" sz="3200" dirty="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Formato simples para descrever requisitos do usuário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502371"/>
                  </a:ext>
                </a:extLst>
              </a:tr>
              <a:tr h="558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/>
                        <a:t>Epic</a:t>
                      </a:r>
                      <a:endParaRPr lang="pt-BR" sz="3200" dirty="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User story grande que precisa ser decomposta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704299"/>
                  </a:ext>
                </a:extLst>
              </a:tr>
              <a:tr h="558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/>
                        <a:t>Sprint Backlog</a:t>
                      </a:r>
                      <a:endParaRPr lang="pt-BR" sz="3200" dirty="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Itens selecionados para desenvolvimento na sprint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401688"/>
                  </a:ext>
                </a:extLst>
              </a:tr>
              <a:tr h="558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 err="1"/>
                        <a:t>Definition</a:t>
                      </a:r>
                      <a:r>
                        <a:rPr lang="pt-BR" sz="3200" b="1" dirty="0"/>
                        <a:t> </a:t>
                      </a:r>
                      <a:r>
                        <a:rPr lang="pt-BR" sz="3200" b="1" dirty="0" err="1"/>
                        <a:t>of</a:t>
                      </a:r>
                      <a:r>
                        <a:rPr lang="pt-BR" sz="3200" b="1" dirty="0"/>
                        <a:t> </a:t>
                      </a:r>
                      <a:r>
                        <a:rPr lang="pt-BR" sz="3200" b="1" dirty="0" err="1"/>
                        <a:t>Ready</a:t>
                      </a:r>
                      <a:r>
                        <a:rPr lang="pt-BR" sz="3200" b="1" dirty="0"/>
                        <a:t> (</a:t>
                      </a:r>
                      <a:r>
                        <a:rPr lang="pt-BR" sz="3200" b="1" dirty="0" err="1"/>
                        <a:t>DoR</a:t>
                      </a:r>
                      <a:r>
                        <a:rPr lang="pt-BR" sz="3200" b="1" dirty="0"/>
                        <a:t>)</a:t>
                      </a:r>
                      <a:endParaRPr lang="pt-BR" sz="3200" dirty="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Critérios para considerar uma história pronta para desenvolvimento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17374"/>
                  </a:ext>
                </a:extLst>
              </a:tr>
              <a:tr h="558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 err="1"/>
                        <a:t>Definition</a:t>
                      </a:r>
                      <a:r>
                        <a:rPr lang="pt-BR" sz="3200" b="1" dirty="0"/>
                        <a:t> </a:t>
                      </a:r>
                      <a:r>
                        <a:rPr lang="pt-BR" sz="3200" b="1" dirty="0" err="1"/>
                        <a:t>of</a:t>
                      </a:r>
                      <a:r>
                        <a:rPr lang="pt-BR" sz="3200" b="1" dirty="0"/>
                        <a:t> </a:t>
                      </a:r>
                      <a:r>
                        <a:rPr lang="pt-BR" sz="3200" b="1" dirty="0" err="1"/>
                        <a:t>Done</a:t>
                      </a:r>
                      <a:r>
                        <a:rPr lang="pt-BR" sz="3200" b="1" dirty="0"/>
                        <a:t> (</a:t>
                      </a:r>
                      <a:r>
                        <a:rPr lang="pt-BR" sz="3200" b="1" dirty="0" err="1"/>
                        <a:t>DoD</a:t>
                      </a:r>
                      <a:r>
                        <a:rPr lang="pt-BR" sz="3200" b="1" dirty="0"/>
                        <a:t>)</a:t>
                      </a:r>
                      <a:endParaRPr lang="pt-BR" sz="3200" dirty="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Critérios para considerar uma história concluída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394376"/>
                  </a:ext>
                </a:extLst>
              </a:tr>
              <a:tr h="558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 err="1"/>
                        <a:t>Acceptance</a:t>
                      </a:r>
                      <a:r>
                        <a:rPr lang="pt-BR" sz="3200" b="1" dirty="0"/>
                        <a:t> </a:t>
                      </a:r>
                      <a:r>
                        <a:rPr lang="pt-BR" sz="3200" b="1" dirty="0" err="1"/>
                        <a:t>Criteria</a:t>
                      </a:r>
                      <a:endParaRPr lang="pt-BR" sz="3200" dirty="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Condições para validar a história do usuário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492740"/>
                  </a:ext>
                </a:extLst>
              </a:tr>
              <a:tr h="318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 err="1"/>
                        <a:t>Burndown</a:t>
                      </a:r>
                      <a:r>
                        <a:rPr lang="pt-BR" sz="3200" b="1" dirty="0"/>
                        <a:t> Chart</a:t>
                      </a:r>
                      <a:endParaRPr lang="pt-BR" sz="3200" dirty="0"/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Acompanha progresso da sprint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042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2776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C03F9-90E3-CA02-4596-6F4B7858D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6EB7CE-B685-81AA-D7C6-5C857F4BF5E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112A50E-35D5-0C88-C65A-76C0D3276C6F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AF146E6-77CE-8931-804D-39199BBA914F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6C45356-A6EC-1EDE-199F-F2E1310FF6AB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85D77E6-247E-EA82-7935-D4F3524F965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45AD256-4BB6-C348-5CAB-9E71F9A0801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4BB03B6E-B63E-6AC5-4875-7D7DED60FF3F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4ABA15F-F72E-11A6-D8F0-8B33125A9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10B5F61-3C28-3AD9-2E76-E9988F4171B9}"/>
              </a:ext>
            </a:extLst>
          </p:cNvPr>
          <p:cNvSpPr txBox="1"/>
          <p:nvPr/>
        </p:nvSpPr>
        <p:spPr>
          <a:xfrm>
            <a:off x="1101881" y="2132390"/>
            <a:ext cx="1604308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/>
              <a:t>Técnicas de levantamento de requisitos no projeto ágil</a:t>
            </a:r>
            <a:endParaRPr lang="pt-BR" sz="4400" b="1" dirty="0"/>
          </a:p>
          <a:p>
            <a:pPr algn="r"/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0E03C9E-5DBF-8BF3-7BE0-9555A5796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854970"/>
              </p:ext>
            </p:extLst>
          </p:nvPr>
        </p:nvGraphicFramePr>
        <p:xfrm>
          <a:off x="1143000" y="3284672"/>
          <a:ext cx="14478000" cy="4632960"/>
        </p:xfrm>
        <a:graphic>
          <a:graphicData uri="http://schemas.openxmlformats.org/drawingml/2006/table">
            <a:tbl>
              <a:tblPr/>
              <a:tblGrid>
                <a:gridCol w="7848600">
                  <a:extLst>
                    <a:ext uri="{9D8B030D-6E8A-4147-A177-3AD203B41FA5}">
                      <a16:colId xmlns:a16="http://schemas.microsoft.com/office/drawing/2014/main" val="882570192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823588498"/>
                    </a:ext>
                  </a:extLst>
                </a:gridCol>
              </a:tblGrid>
              <a:tr h="45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>
                          <a:highlight>
                            <a:srgbClr val="00FF00"/>
                          </a:highlight>
                        </a:rPr>
                        <a:t>Técnica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>
                          <a:highlight>
                            <a:srgbClr val="00FF00"/>
                          </a:highlight>
                        </a:rPr>
                        <a:t>Uso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38158"/>
                  </a:ext>
                </a:extLst>
              </a:tr>
              <a:tr h="45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/>
                        <a:t>Entrevistas rápidas com stakeholders</a:t>
                      </a:r>
                      <a:endParaRPr lang="pt-BR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Coleta inicial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927355"/>
                  </a:ext>
                </a:extLst>
              </a:tr>
              <a:tr h="45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/>
                        <a:t>Workshops / Dinâmicas colaborativas</a:t>
                      </a:r>
                      <a:endParaRPr lang="pt-BR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Refinamento e alinhamento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1339"/>
                  </a:ext>
                </a:extLst>
              </a:tr>
              <a:tr h="45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/>
                        <a:t>Brainstorming</a:t>
                      </a:r>
                      <a:endParaRPr lang="pt-BR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Identificação de funcionalidades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473895"/>
                  </a:ext>
                </a:extLst>
              </a:tr>
              <a:tr h="45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/>
                        <a:t>User Stories + Personas</a:t>
                      </a:r>
                      <a:endParaRPr lang="pt-BR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Foco no usuário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354847"/>
                  </a:ext>
                </a:extLst>
              </a:tr>
              <a:tr h="45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/>
                        <a:t>Prototipação</a:t>
                      </a:r>
                      <a:endParaRPr lang="pt-BR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Validação rápida de ideias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371800"/>
                  </a:ext>
                </a:extLst>
              </a:tr>
              <a:tr h="45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/>
                        <a:t>Mapa de histórias (User Story Mapping)</a:t>
                      </a:r>
                      <a:endParaRPr lang="pt-BR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Visão do produto + roadmap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69187"/>
                  </a:ext>
                </a:extLst>
              </a:tr>
              <a:tr h="459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/>
                        <a:t>Kanban</a:t>
                      </a:r>
                      <a:endParaRPr lang="pt-BR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Gestão visual das demandas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53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432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B416B-E35E-79CC-7DB1-0586EFFFF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56F711-7BD0-90BC-0C0E-B03C591D5B70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3BC5DE7F-8EBB-976A-2010-787B9A2610AA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D58D468-60D7-BEC1-096A-7FACD488FB5C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5BD0F82-8C09-5479-E0E6-8E5FC02EA6B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FAA1CF5-F9B9-3756-90AA-9609F641956B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90D2CED-7BF5-6838-1A3C-62C9B9983368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56CA51DF-F123-E9E3-C482-1B250764AC79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0D126D0-B7F9-FF40-6FC8-37022BBF9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2E1D84E-B7A9-EA7A-7195-2AE1E69064D2}"/>
              </a:ext>
            </a:extLst>
          </p:cNvPr>
          <p:cNvSpPr txBox="1"/>
          <p:nvPr/>
        </p:nvSpPr>
        <p:spPr>
          <a:xfrm>
            <a:off x="1101881" y="2132390"/>
            <a:ext cx="1604308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Formato de </a:t>
            </a:r>
            <a:r>
              <a:rPr lang="pt-BR" sz="4400" b="1" dirty="0" err="1"/>
              <a:t>User</a:t>
            </a:r>
            <a:r>
              <a:rPr lang="pt-BR" sz="4400" b="1" dirty="0"/>
              <a:t> Story</a:t>
            </a:r>
          </a:p>
          <a:p>
            <a:r>
              <a:rPr lang="pt-BR" sz="4400" i="1" dirty="0"/>
              <a:t>Como</a:t>
            </a:r>
            <a:r>
              <a:rPr lang="pt-BR" sz="4400" dirty="0"/>
              <a:t> [tipo de usuário],</a:t>
            </a:r>
            <a:br>
              <a:rPr lang="pt-BR" sz="4400" dirty="0"/>
            </a:br>
            <a:r>
              <a:rPr lang="pt-BR" sz="4400" i="1" dirty="0"/>
              <a:t>eu quero</a:t>
            </a:r>
            <a:r>
              <a:rPr lang="pt-BR" sz="4400" dirty="0"/>
              <a:t> [objetivo/funcionalidade],</a:t>
            </a:r>
            <a:br>
              <a:rPr lang="pt-BR" sz="4400" dirty="0"/>
            </a:br>
            <a:r>
              <a:rPr lang="pt-BR" sz="4400" i="1" dirty="0"/>
              <a:t>para</a:t>
            </a:r>
            <a:r>
              <a:rPr lang="pt-BR" sz="4400" dirty="0"/>
              <a:t> [benefício].</a:t>
            </a:r>
          </a:p>
          <a:p>
            <a:endParaRPr lang="pt-BR" sz="4400" dirty="0"/>
          </a:p>
          <a:p>
            <a:r>
              <a:rPr lang="pt-BR" sz="4400" b="1" dirty="0"/>
              <a:t>Exemplo:</a:t>
            </a:r>
            <a:endParaRPr lang="pt-BR" sz="4400" dirty="0"/>
          </a:p>
          <a:p>
            <a:r>
              <a:rPr lang="pt-BR" sz="4400" dirty="0"/>
              <a:t>Como </a:t>
            </a:r>
            <a:r>
              <a:rPr lang="pt-BR" sz="4400" u="sng" dirty="0"/>
              <a:t>comprador</a:t>
            </a:r>
            <a:r>
              <a:rPr lang="pt-BR" sz="4400" dirty="0"/>
              <a:t>, quero </a:t>
            </a:r>
            <a:r>
              <a:rPr lang="pt-BR" sz="4400" u="sng" dirty="0"/>
              <a:t>adicionar produtos ao carrinho</a:t>
            </a:r>
            <a:r>
              <a:rPr lang="pt-BR" sz="4400" dirty="0"/>
              <a:t> para </a:t>
            </a:r>
            <a:r>
              <a:rPr lang="pt-BR" sz="4400" u="sng" dirty="0"/>
              <a:t>finalizar minha compra online</a:t>
            </a:r>
            <a:r>
              <a:rPr lang="pt-BR" sz="4400" dirty="0"/>
              <a:t>.</a:t>
            </a:r>
          </a:p>
          <a:p>
            <a:pPr algn="r"/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0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8A781-DE6E-B3BB-37AB-8AF48E543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EBD7328-2858-AE8F-79A5-15740F982AB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7304F99E-4F07-EAD1-547D-7EA5FF2B04A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87BEEFB-DDE0-5D35-FF91-320E77F2071E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EBBDED7-C22C-83E4-49BC-352912917054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913AA99-1A54-106A-EA1F-639BE0C5CC5C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54B07D0-69C2-C6FD-87A9-CE545623AFA9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9A210648-D90A-AC7A-33A9-F65DDF74BB07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3D2FF0D-2F9C-3D52-0C0C-8BE1960F8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4550046-DBAA-7821-7278-5D497F15F99F}"/>
              </a:ext>
            </a:extLst>
          </p:cNvPr>
          <p:cNvSpPr txBox="1"/>
          <p:nvPr/>
        </p:nvSpPr>
        <p:spPr>
          <a:xfrm>
            <a:off x="1101881" y="2132390"/>
            <a:ext cx="1604308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Critérios de Aceitação (exemplo)</a:t>
            </a:r>
          </a:p>
          <a:p>
            <a:endParaRPr lang="pt-BR" sz="4400" b="1" dirty="0"/>
          </a:p>
          <a:p>
            <a:r>
              <a:rPr lang="pt-BR" sz="4400" dirty="0"/>
              <a:t>Deve permitir adicionar itens ao carrinho</a:t>
            </a:r>
          </a:p>
          <a:p>
            <a:r>
              <a:rPr lang="pt-BR" sz="4400" dirty="0"/>
              <a:t>Deve exibir quantidade e valor total</a:t>
            </a:r>
          </a:p>
          <a:p>
            <a:r>
              <a:rPr lang="pt-BR" sz="4400" dirty="0"/>
              <a:t>Deve possibilitar remover itens</a:t>
            </a:r>
          </a:p>
          <a:p>
            <a:pPr algn="r"/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215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FBCB7-F428-3E37-9B51-5301618F0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8664834-E1D1-50C0-8D4C-53A145823F7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B009389B-67A7-58BB-E973-97E21BE44A05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EDF423F-C742-FF9D-8E68-3D9650B6AD64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61235EE-E334-6B8E-B234-8CAE6290BF3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36C0D6C-D033-8003-E899-0D4D3001AF95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A583E84-18B6-DC62-F78D-3B60CB8D896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67471385-10F9-0A8E-D328-D65B27624283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706678B-86C3-D4C2-D6E7-7D0074ED9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46AE83D-667D-A320-082F-B93487B5A2B2}"/>
              </a:ext>
            </a:extLst>
          </p:cNvPr>
          <p:cNvSpPr txBox="1"/>
          <p:nvPr/>
        </p:nvSpPr>
        <p:spPr>
          <a:xfrm>
            <a:off x="1101881" y="2132390"/>
            <a:ext cx="1604308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Priorização de requisitos</a:t>
            </a:r>
          </a:p>
          <a:p>
            <a:endParaRPr lang="pt-BR" sz="4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D902A31-220F-9593-0184-DB29ED441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569909"/>
              </p:ext>
            </p:extLst>
          </p:nvPr>
        </p:nvGraphicFramePr>
        <p:xfrm>
          <a:off x="1195038" y="3536454"/>
          <a:ext cx="13359162" cy="2895600"/>
        </p:xfrm>
        <a:graphic>
          <a:graphicData uri="http://schemas.openxmlformats.org/drawingml/2006/table">
            <a:tbl>
              <a:tblPr/>
              <a:tblGrid>
                <a:gridCol w="2691162">
                  <a:extLst>
                    <a:ext uri="{9D8B030D-6E8A-4147-A177-3AD203B41FA5}">
                      <a16:colId xmlns:a16="http://schemas.microsoft.com/office/drawing/2014/main" val="1759917295"/>
                    </a:ext>
                  </a:extLst>
                </a:gridCol>
                <a:gridCol w="10668000">
                  <a:extLst>
                    <a:ext uri="{9D8B030D-6E8A-4147-A177-3AD203B41FA5}">
                      <a16:colId xmlns:a16="http://schemas.microsoft.com/office/drawing/2014/main" val="880264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>
                          <a:highlight>
                            <a:srgbClr val="00FF00"/>
                          </a:highlight>
                        </a:rPr>
                        <a:t>Técnica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>
                          <a:highlight>
                            <a:srgbClr val="00FF00"/>
                          </a:highlight>
                        </a:rPr>
                        <a:t>Propósito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147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 err="1"/>
                        <a:t>MoSCoW</a:t>
                      </a:r>
                      <a:endParaRPr lang="pt-BR" sz="3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b="1" dirty="0"/>
                        <a:t>Must, </a:t>
                      </a:r>
                      <a:r>
                        <a:rPr lang="pt-BR" sz="3200" b="1" dirty="0" err="1"/>
                        <a:t>Should</a:t>
                      </a:r>
                      <a:r>
                        <a:rPr lang="pt-BR" sz="3200" b="1" dirty="0"/>
                        <a:t>, </a:t>
                      </a:r>
                      <a:r>
                        <a:rPr lang="pt-BR" sz="3200" b="1" dirty="0" err="1"/>
                        <a:t>Could</a:t>
                      </a:r>
                      <a:r>
                        <a:rPr lang="pt-BR" sz="3200" b="1" dirty="0"/>
                        <a:t>, </a:t>
                      </a:r>
                      <a:r>
                        <a:rPr lang="pt-BR" sz="3200" b="1" dirty="0" err="1"/>
                        <a:t>Won't</a:t>
                      </a:r>
                      <a:endParaRPr lang="pt-BR" sz="3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674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Kano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Classifica satisfação do cliente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WSJF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Prioriza por valor econômico / custo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42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 err="1"/>
                        <a:t>Reach</a:t>
                      </a:r>
                      <a:r>
                        <a:rPr lang="pt-BR" sz="3200" dirty="0"/>
                        <a:t>, </a:t>
                      </a:r>
                      <a:r>
                        <a:rPr lang="pt-BR" sz="3200" dirty="0" err="1"/>
                        <a:t>Impact</a:t>
                      </a:r>
                      <a:r>
                        <a:rPr lang="pt-BR" sz="3200" dirty="0"/>
                        <a:t>, Confidence, </a:t>
                      </a:r>
                      <a:r>
                        <a:rPr lang="pt-BR" sz="3200" dirty="0" err="1"/>
                        <a:t>Effort</a:t>
                      </a:r>
                      <a:endParaRPr lang="pt-BR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848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62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D8DEF-38E8-F4DB-53EE-C01AA35A9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EF54AE-448D-D609-217B-5B1DBBDE93BD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278D7882-EB50-CA12-19B8-F67B5EFC86D5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3E637E8-ECB1-ED8E-D023-F8E7F124959D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476E1D8-DF96-0E33-DB88-20661F3912FC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20B468C-139E-0F85-C9E1-EC820CF27A83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CE7E466-D6E4-08BE-9312-21C354346C2D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4543F8AA-2BAE-3BBB-2F64-DB1B02DB505B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7EC13F8-F692-B15E-1B9C-69FF0EAFF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FEDF22C-9351-3A2E-52A7-A099D7EB839F}"/>
              </a:ext>
            </a:extLst>
          </p:cNvPr>
          <p:cNvSpPr txBox="1"/>
          <p:nvPr/>
        </p:nvSpPr>
        <p:spPr>
          <a:xfrm>
            <a:off x="1101881" y="2132390"/>
            <a:ext cx="1604308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Ciclo do gerenciamento de requisitos no ágil</a:t>
            </a:r>
          </a:p>
          <a:p>
            <a:endParaRPr lang="pt-BR" sz="4400" b="1" dirty="0"/>
          </a:p>
          <a:p>
            <a:pPr marL="742950" indent="-742950">
              <a:buFont typeface="+mj-lt"/>
              <a:buAutoNum type="arabicPeriod"/>
            </a:pPr>
            <a:r>
              <a:rPr lang="pt-BR" sz="4400" dirty="0"/>
              <a:t>Levantamento inicial da visão do produto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400" dirty="0"/>
              <a:t>Criação e priorização do backlog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400" dirty="0"/>
              <a:t>Refinamento contínuo com feedback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400" dirty="0"/>
              <a:t>Desenvolvimento incremental (sprints)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400" dirty="0"/>
              <a:t>Validação e revisão com o cliente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400" dirty="0"/>
              <a:t>Ajustes com base no aprendizado</a:t>
            </a:r>
          </a:p>
          <a:p>
            <a:pPr algn="r"/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677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CE067-37E1-2FCC-94A3-133446CF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875FEB-A012-3FA7-ADB9-397912E21F0F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92022704-EC7D-4488-A407-E8846C585A07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D39CAC6-0B50-4E76-4F70-32A5DEA94418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C39BF38-BC80-2055-6535-44B9DB2ACD6F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0712CA9-1B2D-EE48-7CA4-CFE57CFE28CA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FFBFBE5-296C-5274-B9C4-591453CF911C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CA004B99-9DC4-CB54-5D76-A74C741675B1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C38976C-263C-D299-3A7F-DBD71947E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10546A5-A921-B27B-C585-1517E7621114}"/>
              </a:ext>
            </a:extLst>
          </p:cNvPr>
          <p:cNvSpPr txBox="1"/>
          <p:nvPr/>
        </p:nvSpPr>
        <p:spPr>
          <a:xfrm>
            <a:off x="1101881" y="2132390"/>
            <a:ext cx="1604308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b="1" dirty="0"/>
              <a:t>Tradicional x Ágil </a:t>
            </a:r>
            <a:r>
              <a:rPr lang="pt-BR" sz="4400" dirty="0"/>
              <a:t>(comparação rápida)</a:t>
            </a:r>
          </a:p>
          <a:p>
            <a:pPr algn="r"/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5D17713F-30CE-2068-6A61-A5FBBBF52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519166"/>
              </p:ext>
            </p:extLst>
          </p:nvPr>
        </p:nvGraphicFramePr>
        <p:xfrm>
          <a:off x="1295400" y="3548752"/>
          <a:ext cx="10744200" cy="445008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101630184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836833689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328266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>
                          <a:highlight>
                            <a:srgbClr val="00FF00"/>
                          </a:highlight>
                        </a:rPr>
                        <a:t>Aspecto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>
                          <a:highlight>
                            <a:srgbClr val="00FF00"/>
                          </a:highlight>
                        </a:rPr>
                        <a:t>Tradicional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>
                          <a:highlight>
                            <a:srgbClr val="00FF00"/>
                          </a:highlight>
                        </a:rPr>
                        <a:t>Ágil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563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Momento do detalhamento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Início do projeto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Contínuo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278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Mudanças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Custosas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Esperadas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88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Documentação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Extensa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Enxuta e útil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106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Interface com cliente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Pontual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/>
                        <a:t>Constante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82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Entregas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Somente ao final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200" dirty="0"/>
                        <a:t>Frequentes e incrementais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07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811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A9828-8F39-4631-D94E-995B752F6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7C48B9A-79F2-873D-7B4D-CB8D4FA641D6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E0FD1CFB-7F8E-E3B5-2850-B3A1ED751144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EEF4CF8-2A4F-27F1-4622-14B504F760ED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501A3DA-E8AB-3C9D-0CD4-FFE4B3B2A16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D5B66E7-5604-1CAE-7974-0583A5A75A6C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1A51FAF-0A47-46BE-7839-FBF7F2066DA2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9FD5D1DF-0729-34AA-5A3E-76DAD57D0CFA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Gerenciamento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Requisitos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em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Projetos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Ágeis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0CE12E1-ED27-068C-EC44-14936C445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21B4C89-34DF-E931-2207-00FD085086A7}"/>
              </a:ext>
            </a:extLst>
          </p:cNvPr>
          <p:cNvSpPr txBox="1"/>
          <p:nvPr/>
        </p:nvSpPr>
        <p:spPr>
          <a:xfrm>
            <a:off x="1143000" y="3785302"/>
            <a:ext cx="1604308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/>
              <a:t>Gerenciar requisitos em projetos ágeis é um processo </a:t>
            </a:r>
            <a:r>
              <a:rPr lang="pt-BR" sz="4400" b="1" dirty="0"/>
              <a:t>adaptativo, colaborativo e centrado no valor</a:t>
            </a:r>
            <a:r>
              <a:rPr lang="pt-BR" sz="4400" dirty="0"/>
              <a:t>, focado em atender necessidades reais do usuário por meio de ciclos curtos, comunicação efetiva e melhoria contínua.</a:t>
            </a:r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373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2D653-11D1-9BBC-860F-8B26BB73B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807534-D7B5-12A0-548C-5C11B2420B33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6545074F-4DDE-2326-8B12-BE765A370844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C7C9559-BDB2-70D8-E58D-9D8B7DA195AC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A21147A-C2CE-C2D1-FE33-3FF9130354E8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432ACF1-3F83-6888-7351-D0EE56FCAFB1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ECBF2C6-A3D8-9C36-C072-BA40CBCC3AEB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819D1681-AF69-6762-399E-4452ADBD6141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C5B77A6-137D-BB38-0137-F44561FB1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8AE79E5-0434-637E-5C43-D0B36D8CD791}"/>
              </a:ext>
            </a:extLst>
          </p:cNvPr>
          <p:cNvSpPr txBox="1"/>
          <p:nvPr/>
        </p:nvSpPr>
        <p:spPr>
          <a:xfrm>
            <a:off x="961546" y="2342733"/>
            <a:ext cx="1604308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/>
              <a:t>Crie </a:t>
            </a:r>
            <a:r>
              <a:rPr lang="pt-BR" sz="4400" u="sng" dirty="0" err="1"/>
              <a:t>user</a:t>
            </a:r>
            <a:r>
              <a:rPr lang="pt-BR" sz="4400" u="sng" dirty="0"/>
              <a:t> stories</a:t>
            </a:r>
            <a:r>
              <a:rPr lang="pt-BR" sz="4400" dirty="0"/>
              <a:t> e </a:t>
            </a:r>
            <a:r>
              <a:rPr lang="pt-BR" sz="4400" u="sng" dirty="0"/>
              <a:t>critérios de aceitação</a:t>
            </a:r>
            <a:r>
              <a:rPr lang="pt-BR" sz="4400" dirty="0"/>
              <a:t> para um aplicativo de gestão de estudos para universitários.</a:t>
            </a:r>
            <a:br>
              <a:rPr lang="pt-BR" sz="4400" dirty="0"/>
            </a:br>
            <a:r>
              <a:rPr lang="pt-BR" sz="4400" dirty="0"/>
              <a:t>Em seguida, use </a:t>
            </a:r>
            <a:r>
              <a:rPr lang="pt-BR" sz="4400" dirty="0" err="1"/>
              <a:t>MoSCoW</a:t>
            </a:r>
            <a:r>
              <a:rPr lang="pt-BR" sz="4400" dirty="0"/>
              <a:t> para priorizar.</a:t>
            </a:r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812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A2D4-3DED-11FD-B178-E94DE4572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E772228-4DEA-C0EE-5C35-1996B196C13C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ADD5DBDD-4D09-DED2-BD40-C0493E317A64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B44CD42-1E6F-B886-2BF3-41BFAAEAA585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A4CDE6A-0642-5674-8142-89AA943EDA51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2AD3401-821E-8468-737C-65220E1F9B7F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B31D7A8-3067-12D9-6DA0-252BF69CAFB7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94C33FDF-B239-6EE9-16C7-9C85E080E87C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109E3A8-4CED-5CCB-66EE-97FC702150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90D512D-8C5C-180E-CDE4-6C3573B6BA7E}"/>
              </a:ext>
            </a:extLst>
          </p:cNvPr>
          <p:cNvSpPr txBox="1"/>
          <p:nvPr/>
        </p:nvSpPr>
        <p:spPr>
          <a:xfrm>
            <a:off x="961546" y="2342733"/>
            <a:ext cx="16043086" cy="8648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u="sng" dirty="0">
                <a:ea typeface="Cambria Math" panose="02040503050406030204" pitchFamily="18" charset="0"/>
                <a:cs typeface="Times New Roman" panose="02020603050405020304" pitchFamily="18" charset="0"/>
              </a:rPr>
              <a:t>Exemplo:</a:t>
            </a:r>
          </a:p>
          <a:p>
            <a:r>
              <a:rPr lang="pt-BR" sz="3600" b="1" dirty="0" err="1">
                <a:cs typeface="Times New Roman" panose="02020603050405020304" pitchFamily="18" charset="0"/>
              </a:rPr>
              <a:t>User</a:t>
            </a:r>
            <a:r>
              <a:rPr lang="pt-BR" sz="3600" b="1" dirty="0">
                <a:cs typeface="Times New Roman" panose="02020603050405020304" pitchFamily="18" charset="0"/>
              </a:rPr>
              <a:t> Stories</a:t>
            </a:r>
          </a:p>
          <a:p>
            <a:r>
              <a:rPr lang="pt-BR" sz="3600" b="1" dirty="0">
                <a:cs typeface="Times New Roman" panose="02020603050405020304" pitchFamily="18" charset="0"/>
              </a:rPr>
              <a:t>Story 1 — Cadastro de tarefas</a:t>
            </a:r>
          </a:p>
          <a:p>
            <a:r>
              <a:rPr lang="pt-BR" sz="3600" b="1" dirty="0">
                <a:cs typeface="Times New Roman" panose="02020603050405020304" pitchFamily="18" charset="0"/>
              </a:rPr>
              <a:t>Como</a:t>
            </a:r>
            <a:r>
              <a:rPr lang="pt-BR" sz="3600" dirty="0">
                <a:cs typeface="Times New Roman" panose="02020603050405020304" pitchFamily="18" charset="0"/>
              </a:rPr>
              <a:t> estudante universitário</a:t>
            </a:r>
            <a:br>
              <a:rPr lang="pt-BR" sz="3600" dirty="0">
                <a:cs typeface="Times New Roman" panose="02020603050405020304" pitchFamily="18" charset="0"/>
              </a:rPr>
            </a:br>
            <a:r>
              <a:rPr lang="pt-BR" sz="3600" b="1" dirty="0">
                <a:cs typeface="Times New Roman" panose="02020603050405020304" pitchFamily="18" charset="0"/>
              </a:rPr>
              <a:t>Eu quero</a:t>
            </a:r>
            <a:r>
              <a:rPr lang="pt-BR" sz="3600" dirty="0">
                <a:cs typeface="Times New Roman" panose="02020603050405020304" pitchFamily="18" charset="0"/>
              </a:rPr>
              <a:t> cadastrar minhas tarefas e prazos</a:t>
            </a:r>
            <a:br>
              <a:rPr lang="pt-BR" sz="3600" dirty="0">
                <a:cs typeface="Times New Roman" panose="02020603050405020304" pitchFamily="18" charset="0"/>
              </a:rPr>
            </a:br>
            <a:r>
              <a:rPr lang="pt-BR" sz="3600" b="1" dirty="0">
                <a:cs typeface="Times New Roman" panose="02020603050405020304" pitchFamily="18" charset="0"/>
              </a:rPr>
              <a:t>Para</a:t>
            </a:r>
            <a:r>
              <a:rPr lang="pt-BR" sz="3600" dirty="0">
                <a:cs typeface="Times New Roman" panose="02020603050405020304" pitchFamily="18" charset="0"/>
              </a:rPr>
              <a:t> organizar minhas atividades e não perder entregas</a:t>
            </a:r>
          </a:p>
          <a:p>
            <a:endParaRPr lang="pt-BR" sz="3600" dirty="0">
              <a:cs typeface="Times New Roman" panose="02020603050405020304" pitchFamily="18" charset="0"/>
            </a:endParaRPr>
          </a:p>
          <a:p>
            <a:r>
              <a:rPr lang="pt-BR" sz="3600" b="1" dirty="0">
                <a:cs typeface="Times New Roman" panose="02020603050405020304" pitchFamily="18" charset="0"/>
              </a:rPr>
              <a:t>Critérios de aceitação</a:t>
            </a:r>
            <a:endParaRPr lang="pt-BR" sz="3600" dirty="0">
              <a:cs typeface="Times New Roman" panose="02020603050405020304" pitchFamily="18" charset="0"/>
            </a:endParaRPr>
          </a:p>
          <a:p>
            <a:r>
              <a:rPr lang="pt-BR" sz="3600" dirty="0">
                <a:cs typeface="Times New Roman" panose="02020603050405020304" pitchFamily="18" charset="0"/>
              </a:rPr>
              <a:t>O usuário deve poder inserir título, disciplina e data de entrega</a:t>
            </a:r>
          </a:p>
          <a:p>
            <a:r>
              <a:rPr lang="pt-BR" sz="3600" dirty="0">
                <a:cs typeface="Times New Roman" panose="02020603050405020304" pitchFamily="18" charset="0"/>
              </a:rPr>
              <a:t>O sistema deve salvar e exibir a tarefa na lista</a:t>
            </a:r>
          </a:p>
          <a:p>
            <a:r>
              <a:rPr lang="pt-BR" sz="3600" dirty="0">
                <a:cs typeface="Times New Roman" panose="02020603050405020304" pitchFamily="18" charset="0"/>
              </a:rPr>
              <a:t>A tarefa deve ser editável e </a:t>
            </a:r>
            <a:r>
              <a:rPr lang="pt-BR" sz="3600" dirty="0" err="1">
                <a:cs typeface="Times New Roman" panose="02020603050405020304" pitchFamily="18" charset="0"/>
              </a:rPr>
              <a:t>excluível</a:t>
            </a:r>
            <a:endParaRPr lang="pt-BR" sz="3600" dirty="0">
              <a:cs typeface="Times New Roman" panose="02020603050405020304" pitchFamily="18" charset="0"/>
            </a:endParaRPr>
          </a:p>
          <a:p>
            <a:endParaRPr lang="pt-BR" sz="3600" dirty="0">
              <a:cs typeface="Times New Roman" panose="02020603050405020304" pitchFamily="18" charset="0"/>
            </a:endParaRPr>
          </a:p>
          <a:p>
            <a:r>
              <a:rPr lang="pt-BR" sz="3600" b="1" dirty="0" err="1">
                <a:cs typeface="Times New Roman" panose="02020603050405020304" pitchFamily="18" charset="0"/>
              </a:rPr>
              <a:t>MoSCoW</a:t>
            </a:r>
            <a:r>
              <a:rPr lang="pt-BR" sz="3600" b="1" dirty="0">
                <a:cs typeface="Times New Roman" panose="02020603050405020304" pitchFamily="18" charset="0"/>
              </a:rPr>
              <a:t>:</a:t>
            </a:r>
            <a:r>
              <a:rPr lang="pt-BR" sz="3600" dirty="0">
                <a:cs typeface="Times New Roman" panose="02020603050405020304" pitchFamily="18" charset="0"/>
              </a:rPr>
              <a:t> Must</a:t>
            </a:r>
          </a:p>
          <a:p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036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507D1-9F7D-3C96-8509-C6F2C8D1D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29EDDF8-30C8-BA0B-0BF3-51B884136E9A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4A7FCB19-3EEE-46AA-83CE-59CBB7745B0F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F261074-961A-D4B8-8861-64DE679329CE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C5FDEEC-7B68-EFFD-BB75-80CEE7FB24E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1F36B9A-D097-D8AF-8B9E-CCB3A7E9B798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1EF4923-5A82-61C4-8D93-BE101682BD2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0C1BE960-D444-44B5-056C-8DFD76981ED1}"/>
              </a:ext>
            </a:extLst>
          </p:cNvPr>
          <p:cNvSpPr txBox="1"/>
          <p:nvPr/>
        </p:nvSpPr>
        <p:spPr>
          <a:xfrm>
            <a:off x="2400588" y="1028700"/>
            <a:ext cx="14592012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Para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fixar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…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B50E363-1F54-E360-E83C-3F3CD5CF7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2420A73-E966-CF25-813B-EDB00DB0A178}"/>
              </a:ext>
            </a:extLst>
          </p:cNvPr>
          <p:cNvSpPr txBox="1"/>
          <p:nvPr/>
        </p:nvSpPr>
        <p:spPr>
          <a:xfrm>
            <a:off x="961546" y="2342733"/>
            <a:ext cx="1604308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/>
              <a:t>Story 2 — Agenda semanal/visualização de calendário</a:t>
            </a:r>
          </a:p>
          <a:p>
            <a:endParaRPr lang="pt-BR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pt-BR" sz="4400" dirty="0"/>
              <a:t>Story 3 — Lembrete/notificação</a:t>
            </a:r>
          </a:p>
          <a:p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pt-BR" sz="4400" dirty="0"/>
              <a:t>Story 4 — Cronômetro de estudo (Pomodoro)</a:t>
            </a:r>
          </a:p>
          <a:p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pt-BR" sz="4400" dirty="0"/>
              <a:t>Story 5 — Sincronização na nuvem</a:t>
            </a:r>
            <a:br>
              <a:rPr lang="pt-BR" sz="44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pt-BR" sz="4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018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" y="8510024"/>
            <a:ext cx="4191000" cy="1776976"/>
            <a:chOff x="0" y="0"/>
            <a:chExt cx="6937514" cy="2941492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6937502" cy="2941447"/>
            </a:xfrm>
            <a:custGeom>
              <a:avLst/>
              <a:gdLst/>
              <a:ahLst/>
              <a:cxnLst/>
              <a:rect l="l" t="t" r="r" b="b"/>
              <a:pathLst>
                <a:path w="6937502" h="2941447">
                  <a:moveTo>
                    <a:pt x="0" y="0"/>
                  </a:moveTo>
                  <a:lnTo>
                    <a:pt x="6937502" y="0"/>
                  </a:lnTo>
                  <a:lnTo>
                    <a:pt x="6937502" y="2941447"/>
                  </a:lnTo>
                  <a:lnTo>
                    <a:pt x="0" y="2941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2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1943583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370830" y="1115598"/>
            <a:ext cx="9553178" cy="77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Dúvidas ???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0C59DBF-ECB8-9BD0-434C-6F7C247A3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pic>
        <p:nvPicPr>
          <p:cNvPr id="6" name="Picture 4" descr="a cartoon pug dog with a question mark above its head">
            <a:extLst>
              <a:ext uri="{FF2B5EF4-FFF2-40B4-BE49-F238E27FC236}">
                <a16:creationId xmlns:a16="http://schemas.microsoft.com/office/drawing/2014/main" id="{1EDFB4EC-98B3-D00D-078D-C97EF8E0C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17746"/>
            <a:ext cx="5098294" cy="509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38638" y="1482042"/>
            <a:ext cx="9553178" cy="227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Profª Mª Chaiene M. da Silva Minella</a:t>
            </a:r>
          </a:p>
          <a:p>
            <a:pPr algn="l">
              <a:lnSpc>
                <a:spcPts val="4320"/>
              </a:lnSpc>
            </a:pP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Engetec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| Engenharia de Software</a:t>
            </a:r>
          </a:p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chaiene.minella@univille.br</a:t>
            </a:r>
          </a:p>
          <a:p>
            <a:pPr algn="l">
              <a:lnSpc>
                <a:spcPts val="4320"/>
              </a:lnSpc>
            </a:pPr>
            <a:endParaRPr lang="en-US" sz="3600" dirty="0">
              <a:solidFill>
                <a:srgbClr val="006232"/>
              </a:solidFill>
              <a:latin typeface=" Avenir Next Arabic"/>
              <a:ea typeface=" Avenir Next Arabic"/>
              <a:cs typeface=" Avenir Next Arabic"/>
              <a:sym typeface=" Avenir Next Arabic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96432" y="7171805"/>
            <a:ext cx="4362687" cy="1861867"/>
            <a:chOff x="0" y="0"/>
            <a:chExt cx="5816916" cy="24824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7fe0ac9-f7f7-4580-8b30-5aa7f0ac8e3b}" enabled="0" method="" siteId="{57fe0ac9-f7f7-4580-8b30-5aa7f0ac8e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729</Words>
  <Application>Microsoft Office PowerPoint</Application>
  <PresentationFormat>Personalizar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Courier New</vt:lpstr>
      <vt:lpstr> Avenir Next Arabic Bold</vt:lpstr>
      <vt:lpstr>Calibri</vt:lpstr>
      <vt:lpstr>Times New Roman</vt:lpstr>
      <vt:lpstr> Avenir Next Arabic</vt:lpstr>
      <vt:lpstr>Cambria Math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Template_Univille 60 anos.pptx</dc:title>
  <dc:creator>Chaiene</dc:creator>
  <cp:lastModifiedBy>CHAIENE MERCEDES DA SILVA MINELLA</cp:lastModifiedBy>
  <cp:revision>2</cp:revision>
  <dcterms:created xsi:type="dcterms:W3CDTF">2006-08-16T00:00:00Z</dcterms:created>
  <dcterms:modified xsi:type="dcterms:W3CDTF">2026-10-05T13:51:34Z</dcterms:modified>
  <dc:identifier>DAGtVIDxolU</dc:identifier>
</cp:coreProperties>
</file>