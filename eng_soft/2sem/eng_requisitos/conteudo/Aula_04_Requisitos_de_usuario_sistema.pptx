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309" r:id="rId4"/>
    <p:sldId id="310" r:id="rId5"/>
    <p:sldId id="311" r:id="rId6"/>
    <p:sldId id="301" r:id="rId7"/>
    <p:sldId id="302" r:id="rId8"/>
    <p:sldId id="312" r:id="rId9"/>
    <p:sldId id="303" r:id="rId10"/>
    <p:sldId id="313" r:id="rId11"/>
    <p:sldId id="304" r:id="rId12"/>
    <p:sldId id="314" r:id="rId13"/>
    <p:sldId id="305" r:id="rId14"/>
    <p:sldId id="315" r:id="rId15"/>
    <p:sldId id="258" r:id="rId16"/>
    <p:sldId id="306" r:id="rId17"/>
    <p:sldId id="297" r:id="rId18"/>
    <p:sldId id="307" r:id="rId19"/>
    <p:sldId id="308" r:id="rId20"/>
    <p:sldId id="259" r:id="rId21"/>
  </p:sldIdLst>
  <p:sldSz cx="18288000" cy="10287000"/>
  <p:notesSz cx="6858000" cy="9144000"/>
  <p:embeddedFontLst>
    <p:embeddedFont>
      <p:font typeface=" Avenir Next Arabic" panose="020B0604020202020204" charset="-78"/>
      <p:regular r:id="rId22"/>
    </p:embeddedFont>
    <p:embeddedFont>
      <p:font typeface=" Avenir Next Arabic Bold" panose="020B0604020202020204" charset="-78"/>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4BA3B5-CCEA-4213-BEC0-F9E63D1BE672}" v="17" dt="2026-08-17T13:58:25.8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IENE MERCEDES DA SILVA MINELLA" userId="03c40756-137a-4d89-92ad-627326a1a7b4" providerId="ADAL" clId="{B70A75BF-988A-4E24-A962-02E599989989}"/>
    <pc:docChg chg="custSel addSld delSld modSld">
      <pc:chgData name="CHAIENE MERCEDES DA SILVA MINELLA" userId="03c40756-137a-4d89-92ad-627326a1a7b4" providerId="ADAL" clId="{B70A75BF-988A-4E24-A962-02E599989989}" dt="2026-08-17T13:59:50.650" v="306" actId="1037"/>
      <pc:docMkLst>
        <pc:docMk/>
      </pc:docMkLst>
      <pc:sldChg chg="addSp modSp mod">
        <pc:chgData name="CHAIENE MERCEDES DA SILVA MINELLA" userId="03c40756-137a-4d89-92ad-627326a1a7b4" providerId="ADAL" clId="{B70A75BF-988A-4E24-A962-02E599989989}" dt="2026-08-17T13:21:45.612" v="10" actId="14100"/>
        <pc:sldMkLst>
          <pc:docMk/>
          <pc:sldMk cId="0" sldId="257"/>
        </pc:sldMkLst>
        <pc:spChg chg="mod">
          <ac:chgData name="CHAIENE MERCEDES DA SILVA MINELLA" userId="03c40756-137a-4d89-92ad-627326a1a7b4" providerId="ADAL" clId="{B70A75BF-988A-4E24-A962-02E599989989}" dt="2026-08-17T13:21:36.182" v="7" actId="6549"/>
          <ac:spMkLst>
            <pc:docMk/>
            <pc:sldMk cId="0" sldId="257"/>
            <ac:spMk id="13" creationId="{0A476BFE-8576-0B36-605C-3203647EE746}"/>
          </ac:spMkLst>
        </pc:spChg>
        <pc:picChg chg="add mod">
          <ac:chgData name="CHAIENE MERCEDES DA SILVA MINELLA" userId="03c40756-137a-4d89-92ad-627326a1a7b4" providerId="ADAL" clId="{B70A75BF-988A-4E24-A962-02E599989989}" dt="2026-08-17T13:21:45.612" v="10" actId="14100"/>
          <ac:picMkLst>
            <pc:docMk/>
            <pc:sldMk cId="0" sldId="257"/>
            <ac:picMk id="8" creationId="{16E4F1F2-EC5F-11D5-9567-E95454F75FE4}"/>
          </ac:picMkLst>
        </pc:picChg>
      </pc:sldChg>
      <pc:sldChg chg="modSp mod">
        <pc:chgData name="CHAIENE MERCEDES DA SILVA MINELLA" userId="03c40756-137a-4d89-92ad-627326a1a7b4" providerId="ADAL" clId="{B70A75BF-988A-4E24-A962-02E599989989}" dt="2026-08-17T13:35:25.539" v="141" actId="113"/>
        <pc:sldMkLst>
          <pc:docMk/>
          <pc:sldMk cId="778682691" sldId="301"/>
        </pc:sldMkLst>
        <pc:spChg chg="mod">
          <ac:chgData name="CHAIENE MERCEDES DA SILVA MINELLA" userId="03c40756-137a-4d89-92ad-627326a1a7b4" providerId="ADAL" clId="{B70A75BF-988A-4E24-A962-02E599989989}" dt="2026-08-17T13:35:25.539" v="141" actId="113"/>
          <ac:spMkLst>
            <pc:docMk/>
            <pc:sldMk cId="778682691" sldId="301"/>
            <ac:spMk id="13" creationId="{E2F8DDB7-6139-3A1D-F6D2-194FE8E9D4B6}"/>
          </ac:spMkLst>
        </pc:spChg>
      </pc:sldChg>
      <pc:sldChg chg="addSp modSp mod">
        <pc:chgData name="CHAIENE MERCEDES DA SILVA MINELLA" userId="03c40756-137a-4d89-92ad-627326a1a7b4" providerId="ADAL" clId="{B70A75BF-988A-4E24-A962-02E599989989}" dt="2026-08-17T13:34:43.857" v="137" actId="1035"/>
        <pc:sldMkLst>
          <pc:docMk/>
          <pc:sldMk cId="2436757958" sldId="302"/>
        </pc:sldMkLst>
        <pc:spChg chg="mod">
          <ac:chgData name="CHAIENE MERCEDES DA SILVA MINELLA" userId="03c40756-137a-4d89-92ad-627326a1a7b4" providerId="ADAL" clId="{B70A75BF-988A-4E24-A962-02E599989989}" dt="2026-08-17T13:34:43.857" v="137" actId="1035"/>
          <ac:spMkLst>
            <pc:docMk/>
            <pc:sldMk cId="2436757958" sldId="302"/>
            <ac:spMk id="13" creationId="{90E13B76-CFF7-5D55-8A8C-5EE387650334}"/>
          </ac:spMkLst>
        </pc:spChg>
        <pc:picChg chg="add mod">
          <ac:chgData name="CHAIENE MERCEDES DA SILVA MINELLA" userId="03c40756-137a-4d89-92ad-627326a1a7b4" providerId="ADAL" clId="{B70A75BF-988A-4E24-A962-02E599989989}" dt="2026-08-17T13:34:39.092" v="135" actId="1036"/>
          <ac:picMkLst>
            <pc:docMk/>
            <pc:sldMk cId="2436757958" sldId="302"/>
            <ac:picMk id="8" creationId="{99D6D912-A915-B769-3886-BF6D046A8D27}"/>
          </ac:picMkLst>
        </pc:picChg>
      </pc:sldChg>
      <pc:sldChg chg="modSp mod">
        <pc:chgData name="CHAIENE MERCEDES DA SILVA MINELLA" userId="03c40756-137a-4d89-92ad-627326a1a7b4" providerId="ADAL" clId="{B70A75BF-988A-4E24-A962-02E599989989}" dt="2026-08-17T13:35:37.027" v="143" actId="113"/>
        <pc:sldMkLst>
          <pc:docMk/>
          <pc:sldMk cId="2034232875" sldId="303"/>
        </pc:sldMkLst>
        <pc:spChg chg="mod">
          <ac:chgData name="CHAIENE MERCEDES DA SILVA MINELLA" userId="03c40756-137a-4d89-92ad-627326a1a7b4" providerId="ADAL" clId="{B70A75BF-988A-4E24-A962-02E599989989}" dt="2026-08-17T13:35:37.027" v="143" actId="113"/>
          <ac:spMkLst>
            <pc:docMk/>
            <pc:sldMk cId="2034232875" sldId="303"/>
            <ac:spMk id="13" creationId="{3245A20E-D3D6-CFB3-1A73-8852B2A16725}"/>
          </ac:spMkLst>
        </pc:spChg>
      </pc:sldChg>
      <pc:sldChg chg="modSp">
        <pc:chgData name="CHAIENE MERCEDES DA SILVA MINELLA" userId="03c40756-137a-4d89-92ad-627326a1a7b4" providerId="ADAL" clId="{B70A75BF-988A-4E24-A962-02E599989989}" dt="2026-08-17T13:29:04.917" v="121"/>
        <pc:sldMkLst>
          <pc:docMk/>
          <pc:sldMk cId="862058405" sldId="304"/>
        </pc:sldMkLst>
        <pc:spChg chg="mod">
          <ac:chgData name="CHAIENE MERCEDES DA SILVA MINELLA" userId="03c40756-137a-4d89-92ad-627326a1a7b4" providerId="ADAL" clId="{B70A75BF-988A-4E24-A962-02E599989989}" dt="2026-08-17T13:29:04.917" v="121"/>
          <ac:spMkLst>
            <pc:docMk/>
            <pc:sldMk cId="862058405" sldId="304"/>
            <ac:spMk id="13" creationId="{D8E2CB9A-311A-A83B-43D9-297FECE9300A}"/>
          </ac:spMkLst>
        </pc:spChg>
      </pc:sldChg>
      <pc:sldChg chg="modSp mod">
        <pc:chgData name="CHAIENE MERCEDES DA SILVA MINELLA" userId="03c40756-137a-4d89-92ad-627326a1a7b4" providerId="ADAL" clId="{B70A75BF-988A-4E24-A962-02E599989989}" dt="2026-08-17T13:32:04.274" v="129" actId="12"/>
        <pc:sldMkLst>
          <pc:docMk/>
          <pc:sldMk cId="2331474298" sldId="306"/>
        </pc:sldMkLst>
        <pc:spChg chg="mod">
          <ac:chgData name="CHAIENE MERCEDES DA SILVA MINELLA" userId="03c40756-137a-4d89-92ad-627326a1a7b4" providerId="ADAL" clId="{B70A75BF-988A-4E24-A962-02E599989989}" dt="2026-08-17T13:32:04.274" v="129" actId="12"/>
          <ac:spMkLst>
            <pc:docMk/>
            <pc:sldMk cId="2331474298" sldId="306"/>
            <ac:spMk id="13" creationId="{37FA165B-EC89-A64D-1628-169C2EE38D40}"/>
          </ac:spMkLst>
        </pc:spChg>
      </pc:sldChg>
      <pc:sldChg chg="modSp add mod">
        <pc:chgData name="CHAIENE MERCEDES DA SILVA MINELLA" userId="03c40756-137a-4d89-92ad-627326a1a7b4" providerId="ADAL" clId="{B70A75BF-988A-4E24-A962-02E599989989}" dt="2026-08-17T13:23:44.172" v="61" actId="20577"/>
        <pc:sldMkLst>
          <pc:docMk/>
          <pc:sldMk cId="1780980242" sldId="309"/>
        </pc:sldMkLst>
        <pc:spChg chg="mod">
          <ac:chgData name="CHAIENE MERCEDES DA SILVA MINELLA" userId="03c40756-137a-4d89-92ad-627326a1a7b4" providerId="ADAL" clId="{B70A75BF-988A-4E24-A962-02E599989989}" dt="2026-08-17T13:23:44.172" v="61" actId="20577"/>
          <ac:spMkLst>
            <pc:docMk/>
            <pc:sldMk cId="1780980242" sldId="309"/>
            <ac:spMk id="13" creationId="{E09E6902-F6DF-D166-55F3-27F1E54D360A}"/>
          </ac:spMkLst>
        </pc:spChg>
      </pc:sldChg>
      <pc:sldChg chg="addSp modSp add mod">
        <pc:chgData name="CHAIENE MERCEDES DA SILVA MINELLA" userId="03c40756-137a-4d89-92ad-627326a1a7b4" providerId="ADAL" clId="{B70A75BF-988A-4E24-A962-02E599989989}" dt="2026-08-17T13:25:02.801" v="67" actId="14100"/>
        <pc:sldMkLst>
          <pc:docMk/>
          <pc:sldMk cId="491575071" sldId="310"/>
        </pc:sldMkLst>
        <pc:spChg chg="mod">
          <ac:chgData name="CHAIENE MERCEDES DA SILVA MINELLA" userId="03c40756-137a-4d89-92ad-627326a1a7b4" providerId="ADAL" clId="{B70A75BF-988A-4E24-A962-02E599989989}" dt="2026-08-17T13:24:56.165" v="64" actId="6549"/>
          <ac:spMkLst>
            <pc:docMk/>
            <pc:sldMk cId="491575071" sldId="310"/>
            <ac:spMk id="13" creationId="{EC5C1209-90CF-442D-FEDC-B4A60C24B0A0}"/>
          </ac:spMkLst>
        </pc:spChg>
        <pc:picChg chg="add mod">
          <ac:chgData name="CHAIENE MERCEDES DA SILVA MINELLA" userId="03c40756-137a-4d89-92ad-627326a1a7b4" providerId="ADAL" clId="{B70A75BF-988A-4E24-A962-02E599989989}" dt="2026-08-17T13:25:02.801" v="67" actId="14100"/>
          <ac:picMkLst>
            <pc:docMk/>
            <pc:sldMk cId="491575071" sldId="310"/>
            <ac:picMk id="8" creationId="{7200BB10-8CAA-E94F-9861-A5717743FCC6}"/>
          </ac:picMkLst>
        </pc:picChg>
      </pc:sldChg>
      <pc:sldChg chg="add">
        <pc:chgData name="CHAIENE MERCEDES DA SILVA MINELLA" userId="03c40756-137a-4d89-92ad-627326a1a7b4" providerId="ADAL" clId="{B70A75BF-988A-4E24-A962-02E599989989}" dt="2026-08-17T13:24:42.757" v="62"/>
        <pc:sldMkLst>
          <pc:docMk/>
          <pc:sldMk cId="3417010916" sldId="311"/>
        </pc:sldMkLst>
      </pc:sldChg>
      <pc:sldChg chg="modSp add mod">
        <pc:chgData name="CHAIENE MERCEDES DA SILVA MINELLA" userId="03c40756-137a-4d89-92ad-627326a1a7b4" providerId="ADAL" clId="{B70A75BF-988A-4E24-A962-02E599989989}" dt="2026-08-17T13:35:30.721" v="142" actId="113"/>
        <pc:sldMkLst>
          <pc:docMk/>
          <pc:sldMk cId="1111044372" sldId="312"/>
        </pc:sldMkLst>
        <pc:spChg chg="mod">
          <ac:chgData name="CHAIENE MERCEDES DA SILVA MINELLA" userId="03c40756-137a-4d89-92ad-627326a1a7b4" providerId="ADAL" clId="{B70A75BF-988A-4E24-A962-02E599989989}" dt="2026-08-17T13:35:30.721" v="142" actId="113"/>
          <ac:spMkLst>
            <pc:docMk/>
            <pc:sldMk cId="1111044372" sldId="312"/>
            <ac:spMk id="13" creationId="{4F411D70-78F5-211A-CA9A-F34CDAE0C201}"/>
          </ac:spMkLst>
        </pc:spChg>
      </pc:sldChg>
      <pc:sldChg chg="add del">
        <pc:chgData name="CHAIENE MERCEDES DA SILVA MINELLA" userId="03c40756-137a-4d89-92ad-627326a1a7b4" providerId="ADAL" clId="{B70A75BF-988A-4E24-A962-02E599989989}" dt="2026-08-17T13:25:12.819" v="68" actId="47"/>
        <pc:sldMkLst>
          <pc:docMk/>
          <pc:sldMk cId="1494873842" sldId="312"/>
        </pc:sldMkLst>
      </pc:sldChg>
      <pc:sldChg chg="addSp delSp modSp add mod">
        <pc:chgData name="CHAIENE MERCEDES DA SILVA MINELLA" userId="03c40756-137a-4d89-92ad-627326a1a7b4" providerId="ADAL" clId="{B70A75BF-988A-4E24-A962-02E599989989}" dt="2026-08-17T13:32:17.983" v="130" actId="478"/>
        <pc:sldMkLst>
          <pc:docMk/>
          <pc:sldMk cId="3917711106" sldId="313"/>
        </pc:sldMkLst>
        <pc:spChg chg="mod">
          <ac:chgData name="CHAIENE MERCEDES DA SILVA MINELLA" userId="03c40756-137a-4d89-92ad-627326a1a7b4" providerId="ADAL" clId="{B70A75BF-988A-4E24-A962-02E599989989}" dt="2026-08-17T13:27:34.802" v="79" actId="6549"/>
          <ac:spMkLst>
            <pc:docMk/>
            <pc:sldMk cId="3917711106" sldId="313"/>
            <ac:spMk id="13" creationId="{D9741F8B-BC34-ACA3-A7E1-CA2F55FC2E71}"/>
          </ac:spMkLst>
        </pc:spChg>
        <pc:spChg chg="add del mod">
          <ac:chgData name="CHAIENE MERCEDES DA SILVA MINELLA" userId="03c40756-137a-4d89-92ad-627326a1a7b4" providerId="ADAL" clId="{B70A75BF-988A-4E24-A962-02E599989989}" dt="2026-08-17T13:32:17.983" v="130" actId="478"/>
          <ac:spMkLst>
            <pc:docMk/>
            <pc:sldMk cId="3917711106" sldId="313"/>
            <ac:spMk id="15" creationId="{7B76FCA2-2289-3B8E-3338-FE2E49C244E6}"/>
          </ac:spMkLst>
        </pc:spChg>
        <pc:picChg chg="add mod">
          <ac:chgData name="CHAIENE MERCEDES DA SILVA MINELLA" userId="03c40756-137a-4d89-92ad-627326a1a7b4" providerId="ADAL" clId="{B70A75BF-988A-4E24-A962-02E599989989}" dt="2026-08-17T13:27:41.589" v="83" actId="1076"/>
          <ac:picMkLst>
            <pc:docMk/>
            <pc:sldMk cId="3917711106" sldId="313"/>
            <ac:picMk id="8" creationId="{4EA4FE9A-EB1D-60D4-238B-182F2D30897A}"/>
          </ac:picMkLst>
        </pc:picChg>
      </pc:sldChg>
      <pc:sldChg chg="add">
        <pc:chgData name="CHAIENE MERCEDES DA SILVA MINELLA" userId="03c40756-137a-4d89-92ad-627326a1a7b4" providerId="ADAL" clId="{B70A75BF-988A-4E24-A962-02E599989989}" dt="2026-08-17T13:28:54.863" v="120"/>
        <pc:sldMkLst>
          <pc:docMk/>
          <pc:sldMk cId="3071489258" sldId="314"/>
        </pc:sldMkLst>
      </pc:sldChg>
      <pc:sldChg chg="addSp modSp add mod">
        <pc:chgData name="CHAIENE MERCEDES DA SILVA MINELLA" userId="03c40756-137a-4d89-92ad-627326a1a7b4" providerId="ADAL" clId="{B70A75BF-988A-4E24-A962-02E599989989}" dt="2026-08-17T13:59:50.650" v="306" actId="1037"/>
        <pc:sldMkLst>
          <pc:docMk/>
          <pc:sldMk cId="3564313588" sldId="315"/>
        </pc:sldMkLst>
        <pc:spChg chg="add mod">
          <ac:chgData name="CHAIENE MERCEDES DA SILVA MINELLA" userId="03c40756-137a-4d89-92ad-627326a1a7b4" providerId="ADAL" clId="{B70A75BF-988A-4E24-A962-02E599989989}" dt="2026-08-17T13:59:42.401" v="301" actId="14100"/>
          <ac:spMkLst>
            <pc:docMk/>
            <pc:sldMk cId="3564313588" sldId="315"/>
            <ac:spMk id="7" creationId="{124EDD24-4D4C-F336-BD9F-00FF6FECF5A9}"/>
          </ac:spMkLst>
        </pc:spChg>
        <pc:spChg chg="mod">
          <ac:chgData name="CHAIENE MERCEDES DA SILVA MINELLA" userId="03c40756-137a-4d89-92ad-627326a1a7b4" providerId="ADAL" clId="{B70A75BF-988A-4E24-A962-02E599989989}" dt="2026-08-17T13:59:29.197" v="293" actId="21"/>
          <ac:spMkLst>
            <pc:docMk/>
            <pc:sldMk cId="3564313588" sldId="315"/>
            <ac:spMk id="13" creationId="{8D1418A9-FAED-C852-6779-551AE06821DF}"/>
          </ac:spMkLst>
        </pc:spChg>
        <pc:picChg chg="add mod">
          <ac:chgData name="CHAIENE MERCEDES DA SILVA MINELLA" userId="03c40756-137a-4d89-92ad-627326a1a7b4" providerId="ADAL" clId="{B70A75BF-988A-4E24-A962-02E599989989}" dt="2026-08-17T13:59:50.650" v="306" actId="1037"/>
          <ac:picMkLst>
            <pc:docMk/>
            <pc:sldMk cId="3564313588" sldId="315"/>
            <ac:picMk id="2" creationId="{654D9C32-300F-44F2-279E-A166FA11484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hyperlink" Target="https://beyond.spalla.io/player/?video=0353e683117e53f3b6b2620790bb520e" TargetMode="External"/><Relationship Id="rId5" Type="http://schemas.openxmlformats.org/officeDocument/2006/relationships/image" Target="../media/image12.gif"/><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9723948" y="-89900"/>
            <a:ext cx="8567888" cy="10404268"/>
            <a:chOff x="0" y="0"/>
            <a:chExt cx="11423850" cy="13872358"/>
          </a:xfrm>
        </p:grpSpPr>
        <p:sp>
          <p:nvSpPr>
            <p:cNvPr id="3" name="Freeform 3" descr="Forma  Descrição gerada automaticamente"/>
            <p:cNvSpPr/>
            <p:nvPr/>
          </p:nvSpPr>
          <p:spPr>
            <a:xfrm>
              <a:off x="0" y="0"/>
              <a:ext cx="11423904" cy="13872338"/>
            </a:xfrm>
            <a:custGeom>
              <a:avLst/>
              <a:gdLst/>
              <a:ahLst/>
              <a:cxnLst/>
              <a:rect l="l" t="t" r="r" b="b"/>
              <a:pathLst>
                <a:path w="11423904" h="13872338">
                  <a:moveTo>
                    <a:pt x="0" y="0"/>
                  </a:moveTo>
                  <a:lnTo>
                    <a:pt x="11423904" y="0"/>
                  </a:lnTo>
                  <a:lnTo>
                    <a:pt x="11423904" y="13872338"/>
                  </a:lnTo>
                  <a:lnTo>
                    <a:pt x="0" y="13872338"/>
                  </a:lnTo>
                  <a:lnTo>
                    <a:pt x="0" y="0"/>
                  </a:lnTo>
                  <a:close/>
                </a:path>
              </a:pathLst>
            </a:custGeom>
            <a:blipFill>
              <a:blip r:embed="rId2"/>
              <a:stretch>
                <a:fillRect r="-3164" b="-4326"/>
              </a:stretch>
            </a:blipFill>
          </p:spPr>
          <p:txBody>
            <a:bodyPr/>
            <a:lstStyle/>
            <a:p>
              <a:endParaRPr lang="pt-BR" noProof="0" dirty="0"/>
            </a:p>
          </p:txBody>
        </p:sp>
      </p:grpSp>
      <p:grpSp>
        <p:nvGrpSpPr>
          <p:cNvPr id="4" name="Group 4"/>
          <p:cNvGrpSpPr>
            <a:grpSpLocks noChangeAspect="1"/>
          </p:cNvGrpSpPr>
          <p:nvPr/>
        </p:nvGrpSpPr>
        <p:grpSpPr>
          <a:xfrm>
            <a:off x="1496432" y="7171805"/>
            <a:ext cx="4362687" cy="1861867"/>
            <a:chOff x="0" y="0"/>
            <a:chExt cx="5816916" cy="2482490"/>
          </a:xfrm>
        </p:grpSpPr>
        <p:sp>
          <p:nvSpPr>
            <p:cNvPr id="5" name="Freeform 5"/>
            <p:cNvSpPr/>
            <p:nvPr/>
          </p:nvSpPr>
          <p:spPr>
            <a:xfrm>
              <a:off x="0" y="0"/>
              <a:ext cx="5816854" cy="2482469"/>
            </a:xfrm>
            <a:custGeom>
              <a:avLst/>
              <a:gdLst/>
              <a:ahLst/>
              <a:cxnLst/>
              <a:rect l="l" t="t" r="r" b="b"/>
              <a:pathLst>
                <a:path w="5816854" h="2482469">
                  <a:moveTo>
                    <a:pt x="0" y="0"/>
                  </a:moveTo>
                  <a:lnTo>
                    <a:pt x="5816854" y="0"/>
                  </a:lnTo>
                  <a:lnTo>
                    <a:pt x="5816854" y="2482469"/>
                  </a:lnTo>
                  <a:lnTo>
                    <a:pt x="0" y="2482469"/>
                  </a:lnTo>
                  <a:lnTo>
                    <a:pt x="0" y="0"/>
                  </a:lnTo>
                  <a:close/>
                </a:path>
              </a:pathLst>
            </a:custGeom>
            <a:blipFill>
              <a:blip r:embed="rId3"/>
              <a:stretch>
                <a:fillRect t="-88" r="-1" b="-88"/>
              </a:stretch>
            </a:blipFill>
          </p:spPr>
          <p:txBody>
            <a:bodyPr/>
            <a:lstStyle/>
            <a:p>
              <a:endParaRPr lang="pt-BR" noProof="0" dirty="0"/>
            </a:p>
          </p:txBody>
        </p:sp>
      </p:grpSp>
      <p:sp>
        <p:nvSpPr>
          <p:cNvPr id="6" name="Freeform 6"/>
          <p:cNvSpPr/>
          <p:nvPr/>
        </p:nvSpPr>
        <p:spPr>
          <a:xfrm>
            <a:off x="757985" y="3234269"/>
            <a:ext cx="1810499" cy="1705490"/>
          </a:xfrm>
          <a:custGeom>
            <a:avLst/>
            <a:gdLst/>
            <a:ahLst/>
            <a:cxnLst/>
            <a:rect l="l" t="t" r="r" b="b"/>
            <a:pathLst>
              <a:path w="1810499" h="1705490">
                <a:moveTo>
                  <a:pt x="0" y="0"/>
                </a:moveTo>
                <a:lnTo>
                  <a:pt x="1810500" y="0"/>
                </a:lnTo>
                <a:lnTo>
                  <a:pt x="1810500" y="1705491"/>
                </a:lnTo>
                <a:lnTo>
                  <a:pt x="0" y="17054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pt-BR" noProof="0" dirty="0"/>
          </a:p>
        </p:txBody>
      </p:sp>
      <p:sp>
        <p:nvSpPr>
          <p:cNvPr id="7" name="TextBox 7"/>
          <p:cNvSpPr txBox="1"/>
          <p:nvPr/>
        </p:nvSpPr>
        <p:spPr>
          <a:xfrm>
            <a:off x="1357784" y="1286719"/>
            <a:ext cx="9553178" cy="518250"/>
          </a:xfrm>
          <a:prstGeom prst="rect">
            <a:avLst/>
          </a:prstGeom>
        </p:spPr>
        <p:txBody>
          <a:bodyPr lIns="0" tIns="0" rIns="0" bIns="0" rtlCol="0" anchor="t">
            <a:spAutoFit/>
          </a:bodyPr>
          <a:lstStyle/>
          <a:p>
            <a:pPr algn="l">
              <a:lnSpc>
                <a:spcPts val="3600"/>
              </a:lnSpc>
            </a:pPr>
            <a:r>
              <a:rPr lang="pt-BR" sz="3000" noProof="0" dirty="0">
                <a:solidFill>
                  <a:srgbClr val="006232"/>
                </a:solidFill>
                <a:latin typeface=" Avenir Next Arabic"/>
                <a:ea typeface=" Avenir Next Arabic"/>
                <a:cs typeface=" Avenir Next Arabic"/>
                <a:sym typeface=" Avenir Next Arabic"/>
              </a:rPr>
              <a:t>Universidade da Região de Joinville – Univille</a:t>
            </a:r>
          </a:p>
        </p:txBody>
      </p:sp>
      <p:sp>
        <p:nvSpPr>
          <p:cNvPr id="8" name="TextBox 8"/>
          <p:cNvSpPr txBox="1"/>
          <p:nvPr/>
        </p:nvSpPr>
        <p:spPr>
          <a:xfrm>
            <a:off x="2568484" y="2906649"/>
            <a:ext cx="10614115" cy="898323"/>
          </a:xfrm>
          <a:prstGeom prst="rect">
            <a:avLst/>
          </a:prstGeom>
        </p:spPr>
        <p:txBody>
          <a:bodyPr wrap="square" lIns="0" tIns="0" rIns="0" bIns="0" rtlCol="0" anchor="t">
            <a:spAutoFit/>
          </a:bodyPr>
          <a:lstStyle/>
          <a:p>
            <a:pPr algn="l">
              <a:lnSpc>
                <a:spcPts val="7920"/>
              </a:lnSpc>
            </a:pPr>
            <a:r>
              <a:rPr lang="pt-BR" sz="36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sp>
        <p:nvSpPr>
          <p:cNvPr id="9" name="TextBox 9"/>
          <p:cNvSpPr txBox="1"/>
          <p:nvPr/>
        </p:nvSpPr>
        <p:spPr>
          <a:xfrm>
            <a:off x="2568485" y="3959845"/>
            <a:ext cx="9553178" cy="979914"/>
          </a:xfrm>
          <a:prstGeom prst="rect">
            <a:avLst/>
          </a:prstGeom>
        </p:spPr>
        <p:txBody>
          <a:bodyPr lIns="0" tIns="0" rIns="0" bIns="0" rtlCol="0" anchor="t">
            <a:spAutoFit/>
          </a:bodyPr>
          <a:lstStyle/>
          <a:p>
            <a:pPr algn="l">
              <a:lnSpc>
                <a:spcPts val="4320"/>
              </a:lnSpc>
            </a:pPr>
            <a:r>
              <a:rPr lang="pt-BR" sz="3600" noProof="0" dirty="0">
                <a:solidFill>
                  <a:srgbClr val="006232"/>
                </a:solidFill>
                <a:latin typeface=" Avenir Next Arabic"/>
                <a:ea typeface=" Avenir Next Arabic"/>
                <a:cs typeface=" Avenir Next Arabic"/>
                <a:sym typeface=" Avenir Next Arabic"/>
              </a:rPr>
              <a:t>Engenharia de Software</a:t>
            </a:r>
          </a:p>
          <a:p>
            <a:pPr algn="l">
              <a:lnSpc>
                <a:spcPts val="2879"/>
              </a:lnSpc>
            </a:pPr>
            <a:r>
              <a:rPr lang="pt-BR" sz="2400" noProof="0" dirty="0">
                <a:solidFill>
                  <a:srgbClr val="006232"/>
                </a:solidFill>
                <a:latin typeface=" Avenir Next Arabic"/>
                <a:ea typeface=" Avenir Next Arabic"/>
                <a:cs typeface=" Avenir Next Arabic"/>
                <a:sym typeface=" Avenir Next Arabic"/>
              </a:rPr>
              <a:t>Profª Mª Chaiene M. da Silva Minella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p:cNvGrpSpPr>
            <a:grpSpLocks noChangeAspect="1"/>
          </p:cNvGrpSpPr>
          <p:nvPr/>
        </p:nvGrpSpPr>
        <p:grpSpPr>
          <a:xfrm>
            <a:off x="1101885" y="1973404"/>
            <a:ext cx="16084230" cy="52450"/>
            <a:chOff x="0" y="0"/>
            <a:chExt cx="21445640" cy="69934"/>
          </a:xfrm>
        </p:grpSpPr>
        <p:sp>
          <p:nvSpPr>
            <p:cNvPr id="5" name="Freeform 5"/>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p:cNvGrpSpPr>
            <a:grpSpLocks noChangeAspect="1"/>
          </p:cNvGrpSpPr>
          <p:nvPr/>
        </p:nvGrpSpPr>
        <p:grpSpPr>
          <a:xfrm>
            <a:off x="14878878" y="9022594"/>
            <a:ext cx="2307237" cy="983879"/>
            <a:chOff x="0" y="0"/>
            <a:chExt cx="3076316" cy="1311838"/>
          </a:xfrm>
        </p:grpSpPr>
        <p:sp>
          <p:nvSpPr>
            <p:cNvPr id="10" name="Freeform 10"/>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7012EF5C-03B9-F676-B8BB-474C691D3306}"/>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DFB65B0C-B949-19F9-84BC-3F503A5EC51A}"/>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F87DB208-9DBF-5AE3-E392-1611196457B4}"/>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0A476BFE-8576-0B36-605C-3203647EE746}"/>
              </a:ext>
            </a:extLst>
          </p:cNvPr>
          <p:cNvSpPr txBox="1">
            <a:spLocks noChangeArrowheads="1"/>
          </p:cNvSpPr>
          <p:nvPr/>
        </p:nvSpPr>
        <p:spPr>
          <a:xfrm>
            <a:off x="1254285" y="27590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endParaRPr lang="pt-BR" altLang="pt-BR" dirty="0">
              <a:solidFill>
                <a:srgbClr val="404040"/>
              </a:solidFill>
              <a:sym typeface="Gill Sans" charset="0"/>
            </a:endParaRPr>
          </a:p>
        </p:txBody>
      </p:sp>
      <p:pic>
        <p:nvPicPr>
          <p:cNvPr id="8" name="Imagem 7">
            <a:extLst>
              <a:ext uri="{FF2B5EF4-FFF2-40B4-BE49-F238E27FC236}">
                <a16:creationId xmlns:a16="http://schemas.microsoft.com/office/drawing/2014/main" id="{16E4F1F2-EC5F-11D5-9567-E95454F75FE4}"/>
              </a:ext>
            </a:extLst>
          </p:cNvPr>
          <p:cNvPicPr>
            <a:picLocks noChangeAspect="1"/>
          </p:cNvPicPr>
          <p:nvPr/>
        </p:nvPicPr>
        <p:blipFill>
          <a:blip r:embed="rId6"/>
          <a:stretch>
            <a:fillRect/>
          </a:stretch>
        </p:blipFill>
        <p:spPr>
          <a:xfrm>
            <a:off x="1172591" y="3258022"/>
            <a:ext cx="15861124" cy="37904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43A56-7634-134A-9290-72B5265DBEA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9443E6D-8D8D-B70C-A4F3-06BE9FAEA43B}"/>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CA26CB3E-5F7E-0A6C-C107-29FC88693731}"/>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BA8CB69E-7B00-694A-4E60-6BED76B5455C}"/>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1C73AF19-5A2A-AC42-1D42-BDCA0B5AA705}"/>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088D4CCB-AA37-9EDA-8A68-55D0A3059171}"/>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781163F7-85FC-FC50-7E02-4B28DC2BC6C4}"/>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258D328B-0B53-0E62-B2BC-9414F02EB6A0}"/>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AEE9A3A7-C3DF-C6DC-0E3E-570C41BDF7A5}"/>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93E9DF22-F1FE-34B2-2BB9-F9B15E73A8F5}"/>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E09E6902-F6DF-D166-55F3-27F1E54D360A}"/>
              </a:ext>
            </a:extLst>
          </p:cNvPr>
          <p:cNvSpPr txBox="1">
            <a:spLocks noChangeArrowheads="1"/>
          </p:cNvSpPr>
          <p:nvPr/>
        </p:nvSpPr>
        <p:spPr>
          <a:xfrm>
            <a:off x="1254285" y="27590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pt-BR" dirty="0"/>
              <a:t>A frase clássica do slide anterior, amplamente conhecida na área de engenharia de software, foi publicada em uma edição da revista IEEE Computer de 1987 pelo vencedor do prêmio Turing (o prêmio considerado o Nobel da área de computação) Frederick P. Brooks Jr. (BROOKS, 1987). </a:t>
            </a:r>
          </a:p>
          <a:p>
            <a:pPr marL="0" indent="0" algn="just">
              <a:lnSpc>
                <a:spcPct val="150000"/>
              </a:lnSpc>
              <a:buNone/>
            </a:pPr>
            <a:endParaRPr lang="pt-BR" dirty="0"/>
          </a:p>
          <a:p>
            <a:pPr marL="0" indent="0" algn="just">
              <a:lnSpc>
                <a:spcPct val="150000"/>
              </a:lnSpc>
              <a:buNone/>
            </a:pPr>
            <a:r>
              <a:rPr lang="pt-BR" dirty="0"/>
              <a:t>Embora a frase seja de 1987, seu conteúdo é consenso até hoje e você vai compreender a dificuldade de especificar sistemas de software ao longo da disciplina. </a:t>
            </a:r>
            <a:endParaRPr lang="pt-BR" altLang="pt-BR" dirty="0">
              <a:solidFill>
                <a:srgbClr val="404040"/>
              </a:solidFill>
              <a:sym typeface="Gill Sans" charset="0"/>
            </a:endParaRPr>
          </a:p>
        </p:txBody>
      </p:sp>
    </p:spTree>
    <p:extLst>
      <p:ext uri="{BB962C8B-B14F-4D97-AF65-F5344CB8AC3E}">
        <p14:creationId xmlns:p14="http://schemas.microsoft.com/office/powerpoint/2010/main" val="1780980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2F8AE-57B2-C13C-6E9A-0245B1C0E40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72A29AA-436F-62F1-D5D4-57B39557BB0C}"/>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F302DB1A-D757-AC22-9B57-8F8E2ED3034F}"/>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88D7C30B-8F6D-8907-48F4-04BC056D2733}"/>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9F9FA1A6-0D0E-097F-34B9-20AB5EFB221A}"/>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6CFCDE50-B5F6-E70D-7F85-2C594ECEBC17}"/>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98E2A5BF-7D95-C318-BE5E-EC590A560EBF}"/>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13521E02-6708-C097-7F96-5DD30923DCF8}"/>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CAEA5413-FF1E-8E6C-EC7A-91B355D85054}"/>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5B7C9833-6E9B-4E8E-81C9-9E4EB15322C3}"/>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EC5C1209-90CF-442D-FEDC-B4A60C24B0A0}"/>
              </a:ext>
            </a:extLst>
          </p:cNvPr>
          <p:cNvSpPr txBox="1">
            <a:spLocks noChangeArrowheads="1"/>
          </p:cNvSpPr>
          <p:nvPr/>
        </p:nvSpPr>
        <p:spPr>
          <a:xfrm>
            <a:off x="1254285" y="27590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pt-BR" sz="3600" b="1" noProof="0" dirty="0"/>
              <a:t>Requisitos de usuário</a:t>
            </a:r>
          </a:p>
        </p:txBody>
      </p:sp>
      <p:pic>
        <p:nvPicPr>
          <p:cNvPr id="8" name="Imagem 7">
            <a:extLst>
              <a:ext uri="{FF2B5EF4-FFF2-40B4-BE49-F238E27FC236}">
                <a16:creationId xmlns:a16="http://schemas.microsoft.com/office/drawing/2014/main" id="{7200BB10-8CAA-E94F-9861-A5717743FCC6}"/>
              </a:ext>
            </a:extLst>
          </p:cNvPr>
          <p:cNvPicPr>
            <a:picLocks noChangeAspect="1"/>
          </p:cNvPicPr>
          <p:nvPr/>
        </p:nvPicPr>
        <p:blipFill>
          <a:blip r:embed="rId6"/>
          <a:stretch>
            <a:fillRect/>
          </a:stretch>
        </p:blipFill>
        <p:spPr>
          <a:xfrm>
            <a:off x="6212436" y="3009494"/>
            <a:ext cx="8113164" cy="5905905"/>
          </a:xfrm>
          <a:prstGeom prst="rect">
            <a:avLst/>
          </a:prstGeom>
        </p:spPr>
      </p:pic>
    </p:spTree>
    <p:extLst>
      <p:ext uri="{BB962C8B-B14F-4D97-AF65-F5344CB8AC3E}">
        <p14:creationId xmlns:p14="http://schemas.microsoft.com/office/powerpoint/2010/main" val="491575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5B943-7EF6-2F92-F67F-40E84A917DA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1A5C88B-8670-BF76-A00D-AF75CAD2D69B}"/>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6A1F0345-EF48-21DE-1548-AA89D259178D}"/>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D06F68EC-C235-E253-188C-6E057D5EDA29}"/>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9B922247-1EB3-7C5A-10DB-8D3D107734D5}"/>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34B8AF0A-0D43-BF02-2475-83E904CDEDEB}"/>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69D4385A-AFB6-258B-BBFC-1C17883F7CE6}"/>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BD456499-1941-1616-6704-EEBFA2380B18}"/>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19147780-DB4C-77FC-3A26-1250E3E20BA2}"/>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3A7D36FC-8BEA-4890-1F2C-F0F6A336EBE1}"/>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20E149C3-AE2F-1F7B-016A-50BAAE2F2C54}"/>
              </a:ext>
            </a:extLst>
          </p:cNvPr>
          <p:cNvSpPr txBox="1">
            <a:spLocks noChangeArrowheads="1"/>
          </p:cNvSpPr>
          <p:nvPr/>
        </p:nvSpPr>
        <p:spPr>
          <a:xfrm>
            <a:off x="1254285" y="27590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pt-BR" sz="3600" b="1" noProof="0" dirty="0"/>
              <a:t>Requisitos de usuário</a:t>
            </a:r>
          </a:p>
          <a:p>
            <a:pPr marL="0" indent="0" algn="just">
              <a:lnSpc>
                <a:spcPct val="150000"/>
              </a:lnSpc>
              <a:buNone/>
            </a:pPr>
            <a:endParaRPr lang="pt-BR" sz="3600" b="1" noProof="0" dirty="0"/>
          </a:p>
          <a:p>
            <a:pPr algn="just">
              <a:lnSpc>
                <a:spcPct val="150000"/>
              </a:lnSpc>
              <a:buFont typeface="Courier New" panose="02070309020205020404" pitchFamily="49" charset="0"/>
              <a:buChar char="o"/>
            </a:pPr>
            <a:r>
              <a:rPr lang="pt-BR" dirty="0"/>
              <a:t>Um requisito </a:t>
            </a:r>
            <a:r>
              <a:rPr lang="pt-BR" altLang="pt-BR" dirty="0">
                <a:sym typeface="Gill Sans" charset="0"/>
              </a:rPr>
              <a:t>de usuário representa uma </a:t>
            </a:r>
            <a:r>
              <a:rPr lang="pt-BR" altLang="pt-BR" b="1" dirty="0">
                <a:sym typeface="Gill Sans" charset="0"/>
              </a:rPr>
              <a:t>funcionalidade</a:t>
            </a:r>
            <a:r>
              <a:rPr lang="pt-BR" altLang="pt-BR" dirty="0">
                <a:sym typeface="Gill Sans" charset="0"/>
              </a:rPr>
              <a:t> que se espera que o sistema forneça aos usuários ou uma </a:t>
            </a:r>
            <a:r>
              <a:rPr lang="pt-BR" altLang="pt-BR" b="1" dirty="0">
                <a:sym typeface="Gill Sans" charset="0"/>
              </a:rPr>
              <a:t>restrição</a:t>
            </a:r>
            <a:r>
              <a:rPr lang="pt-BR" altLang="pt-BR" dirty="0">
                <a:sym typeface="Gill Sans" charset="0"/>
              </a:rPr>
              <a:t> que se aplica à operação desse sistema.</a:t>
            </a:r>
          </a:p>
          <a:p>
            <a:pPr algn="just">
              <a:lnSpc>
                <a:spcPct val="150000"/>
              </a:lnSpc>
              <a:buFont typeface="Courier New" panose="02070309020205020404" pitchFamily="49" charset="0"/>
              <a:buChar char="o"/>
            </a:pPr>
            <a:r>
              <a:rPr lang="pt-BR" altLang="pt-BR" dirty="0">
                <a:sym typeface="Gill Sans" charset="0"/>
              </a:rPr>
              <a:t>Estes requisitos estão fortemente </a:t>
            </a:r>
            <a:r>
              <a:rPr lang="pt-BR" altLang="pt-BR" dirty="0">
                <a:solidFill>
                  <a:srgbClr val="404040"/>
                </a:solidFill>
                <a:sym typeface="Gill Sans" charset="0"/>
              </a:rPr>
              <a:t>relacionados ao </a:t>
            </a:r>
            <a:r>
              <a:rPr lang="pt-BR" altLang="pt-BR" b="1" dirty="0">
                <a:solidFill>
                  <a:srgbClr val="404040"/>
                </a:solidFill>
                <a:sym typeface="Gill Sans" charset="0"/>
              </a:rPr>
              <a:t>domínio do problema</a:t>
            </a:r>
            <a:r>
              <a:rPr lang="pt-BR" altLang="pt-BR" dirty="0">
                <a:solidFill>
                  <a:srgbClr val="404040"/>
                </a:solidFill>
                <a:sym typeface="Gill Sans" charset="0"/>
              </a:rPr>
              <a:t>.</a:t>
            </a:r>
          </a:p>
        </p:txBody>
      </p:sp>
    </p:spTree>
    <p:extLst>
      <p:ext uri="{BB962C8B-B14F-4D97-AF65-F5344CB8AC3E}">
        <p14:creationId xmlns:p14="http://schemas.microsoft.com/office/powerpoint/2010/main" val="3417010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7C0E4-3D00-4FA4-BB00-03A81C3D6AA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38DF39-0B56-CF49-D39D-B1B5F7AE543C}"/>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068266E3-682C-E0D5-AB8A-1D8CCDADD3CD}"/>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A9F53A0F-7331-0538-0E33-2B3E5D77494C}"/>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74829986-DF98-1EA1-AB34-09E7C0E2B9A2}"/>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4A6CC460-F37F-D05C-48C0-449DD7D9BF1E}"/>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651C1F10-0A8B-BF08-F18B-31A8A4EB82F8}"/>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4A412D95-26C8-E1DE-86F3-755869336FCF}"/>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586E5271-CE64-C16C-CC69-0038A6AFD6E4}"/>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BAD931A4-D2E6-5A12-1BB1-FCA82536675F}"/>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E2F8DDB7-6139-3A1D-F6D2-194FE8E9D4B6}"/>
              </a:ext>
            </a:extLst>
          </p:cNvPr>
          <p:cNvSpPr txBox="1">
            <a:spLocks noChangeArrowheads="1"/>
          </p:cNvSpPr>
          <p:nvPr/>
        </p:nvSpPr>
        <p:spPr>
          <a:xfrm>
            <a:off x="1254285" y="27590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pt-BR" sz="3600" b="1" noProof="0" dirty="0"/>
              <a:t>Requisitos de usuário</a:t>
            </a:r>
          </a:p>
          <a:p>
            <a:pPr marL="0" indent="0" algn="just">
              <a:lnSpc>
                <a:spcPct val="150000"/>
              </a:lnSpc>
              <a:buNone/>
            </a:pPr>
            <a:endParaRPr lang="pt-BR" sz="3600" b="1" noProof="0" dirty="0"/>
          </a:p>
          <a:p>
            <a:pPr algn="just">
              <a:lnSpc>
                <a:spcPct val="150000"/>
              </a:lnSpc>
              <a:buFont typeface="Courier New" panose="02070309020205020404" pitchFamily="49" charset="0"/>
              <a:buChar char="o"/>
            </a:pPr>
            <a:r>
              <a:rPr lang="pt-BR" dirty="0"/>
              <a:t>Utiliza </a:t>
            </a:r>
            <a:r>
              <a:rPr lang="pt-BR" b="1" dirty="0"/>
              <a:t>linguagem natural </a:t>
            </a:r>
            <a:r>
              <a:rPr lang="pt-BR" dirty="0"/>
              <a:t>e diagramas informais.</a:t>
            </a:r>
          </a:p>
          <a:p>
            <a:pPr algn="just">
              <a:lnSpc>
                <a:spcPct val="150000"/>
              </a:lnSpc>
              <a:buFont typeface="Courier New" panose="02070309020205020404" pitchFamily="49" charset="0"/>
              <a:buChar char="o"/>
            </a:pPr>
            <a:r>
              <a:rPr lang="pt-BR" dirty="0"/>
              <a:t>Permite que as partes interessadas possam ler, analisar e discutir esses requisitos.</a:t>
            </a:r>
          </a:p>
        </p:txBody>
      </p:sp>
    </p:spTree>
    <p:extLst>
      <p:ext uri="{BB962C8B-B14F-4D97-AF65-F5344CB8AC3E}">
        <p14:creationId xmlns:p14="http://schemas.microsoft.com/office/powerpoint/2010/main" val="778682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7580B-CB31-11B2-475B-505B162B3CA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052B5DC-135D-83A8-4D7A-04B74D2A8FD0}"/>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9667C0DF-34BA-6C2E-5DA6-E46F053F0F8C}"/>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E4754C3B-0EC8-65EB-011F-0BEB5D823527}"/>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6526060C-0AAA-4C53-3707-F78B0E74DB53}"/>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84C5F113-C5AE-538B-C89E-843C1A577AAD}"/>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A0E80526-8B5D-1CAA-3D88-F40FC15F8B73}"/>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17E37C39-6339-3B50-E9A2-392E9224AA5F}"/>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E3C7A2B1-451B-096F-26CB-06DA4AF6ABD4}"/>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97B470D5-16AE-E2C5-4E2E-AA635C4D8ABE}"/>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90E13B76-CFF7-5D55-8A8C-5EE387650334}"/>
              </a:ext>
            </a:extLst>
          </p:cNvPr>
          <p:cNvSpPr txBox="1">
            <a:spLocks noChangeArrowheads="1"/>
          </p:cNvSpPr>
          <p:nvPr/>
        </p:nvSpPr>
        <p:spPr>
          <a:xfrm>
            <a:off x="1254285" y="2628900"/>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pt-BR" sz="3600" b="1" noProof="0" dirty="0"/>
              <a:t>Requisitos de sistema</a:t>
            </a:r>
          </a:p>
          <a:p>
            <a:pPr marL="0" indent="0" algn="just">
              <a:lnSpc>
                <a:spcPct val="150000"/>
              </a:lnSpc>
              <a:buNone/>
            </a:pPr>
            <a:endParaRPr lang="pt-BR" sz="3600" b="1" noProof="0" dirty="0"/>
          </a:p>
        </p:txBody>
      </p:sp>
      <p:pic>
        <p:nvPicPr>
          <p:cNvPr id="8" name="Imagem 7">
            <a:extLst>
              <a:ext uri="{FF2B5EF4-FFF2-40B4-BE49-F238E27FC236}">
                <a16:creationId xmlns:a16="http://schemas.microsoft.com/office/drawing/2014/main" id="{99D6D912-A915-B769-3886-BF6D046A8D27}"/>
              </a:ext>
            </a:extLst>
          </p:cNvPr>
          <p:cNvPicPr>
            <a:picLocks noChangeAspect="1"/>
          </p:cNvPicPr>
          <p:nvPr/>
        </p:nvPicPr>
        <p:blipFill>
          <a:blip r:embed="rId6"/>
          <a:stretch>
            <a:fillRect/>
          </a:stretch>
        </p:blipFill>
        <p:spPr>
          <a:xfrm>
            <a:off x="6324601" y="2996996"/>
            <a:ext cx="7467600" cy="6642304"/>
          </a:xfrm>
          <a:prstGeom prst="rect">
            <a:avLst/>
          </a:prstGeom>
        </p:spPr>
      </p:pic>
    </p:spTree>
    <p:extLst>
      <p:ext uri="{BB962C8B-B14F-4D97-AF65-F5344CB8AC3E}">
        <p14:creationId xmlns:p14="http://schemas.microsoft.com/office/powerpoint/2010/main" val="2436757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687E4-03CF-13E6-A5E3-A8B7441C65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C432FC8-5044-448A-D2D7-578FA8EBD635}"/>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101920B7-251B-6144-B52F-04ABC6E36338}"/>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61FC2A02-0E68-82E2-959A-2CB53E77AA05}"/>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E62564AE-DF26-DF45-0D36-A99466731D68}"/>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6C82725D-2707-EA94-848E-34C423852E25}"/>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D4B44C57-048A-AD2B-65A1-A1CCA291E60D}"/>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6C6FA6DB-68B8-37E6-D1E0-6BF0857BB08E}"/>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2E18BEDA-1B90-7EEB-6FFB-947436F0B3FC}"/>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6B863690-399E-7D31-E8DB-9BDEB6673E4D}"/>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4F411D70-78F5-211A-CA9A-F34CDAE0C201}"/>
              </a:ext>
            </a:extLst>
          </p:cNvPr>
          <p:cNvSpPr txBox="1">
            <a:spLocks noChangeArrowheads="1"/>
          </p:cNvSpPr>
          <p:nvPr/>
        </p:nvSpPr>
        <p:spPr>
          <a:xfrm>
            <a:off x="1254285" y="27590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pt-BR" sz="3600" b="1" noProof="0" dirty="0"/>
              <a:t>Requisitos de sistema</a:t>
            </a:r>
          </a:p>
          <a:p>
            <a:pPr marL="0" indent="0" algn="just">
              <a:lnSpc>
                <a:spcPct val="150000"/>
              </a:lnSpc>
              <a:buNone/>
            </a:pPr>
            <a:endParaRPr lang="pt-BR" sz="3600" b="1" noProof="0" dirty="0"/>
          </a:p>
          <a:p>
            <a:pPr algn="just">
              <a:lnSpc>
                <a:spcPct val="150000"/>
              </a:lnSpc>
              <a:buFont typeface="Courier New" panose="02070309020205020404" pitchFamily="49" charset="0"/>
              <a:buChar char="o"/>
            </a:pPr>
            <a:r>
              <a:rPr lang="pt-BR" dirty="0"/>
              <a:t>Possui uma </a:t>
            </a:r>
            <a:r>
              <a:rPr lang="pt-BR" b="1" dirty="0"/>
              <a:t>especificação mais detalhada de um requisito</a:t>
            </a:r>
            <a:r>
              <a:rPr lang="pt-BR" dirty="0"/>
              <a:t>, consistindo geralmente em um modelo, desejavelmente formal, do sistema.</a:t>
            </a:r>
          </a:p>
          <a:p>
            <a:pPr algn="just">
              <a:lnSpc>
                <a:spcPct val="150000"/>
              </a:lnSpc>
              <a:buFont typeface="Courier New" panose="02070309020205020404" pitchFamily="49" charset="0"/>
              <a:buChar char="o"/>
            </a:pPr>
            <a:r>
              <a:rPr lang="pt-BR" dirty="0"/>
              <a:t>Estes requisitos estão orientados ao </a:t>
            </a:r>
            <a:r>
              <a:rPr lang="pt-BR" b="1" dirty="0"/>
              <a:t>domínio da solução</a:t>
            </a:r>
            <a:r>
              <a:rPr lang="pt-BR" dirty="0"/>
              <a:t>, fornecendo informações aos engenheiros que os ajudam a conceber e implementar o sistema.</a:t>
            </a:r>
          </a:p>
          <a:p>
            <a:pPr algn="just">
              <a:lnSpc>
                <a:spcPct val="150000"/>
              </a:lnSpc>
              <a:buFont typeface="Courier New" panose="02070309020205020404" pitchFamily="49" charset="0"/>
              <a:buChar char="o"/>
            </a:pPr>
            <a:r>
              <a:rPr lang="pt-BR" dirty="0"/>
              <a:t>Possuem</a:t>
            </a:r>
            <a:r>
              <a:rPr lang="pt-BR" b="1" dirty="0"/>
              <a:t> linguagem mais técnica </a:t>
            </a:r>
            <a:r>
              <a:rPr lang="pt-BR" dirty="0"/>
              <a:t>do que a dos requisitos de usuário.</a:t>
            </a:r>
          </a:p>
        </p:txBody>
      </p:sp>
    </p:spTree>
    <p:extLst>
      <p:ext uri="{BB962C8B-B14F-4D97-AF65-F5344CB8AC3E}">
        <p14:creationId xmlns:p14="http://schemas.microsoft.com/office/powerpoint/2010/main" val="1111044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DB6B0-83F1-691E-65A1-3C47F7A3C1B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5C49475-6CBC-F8C5-126C-8BBED204A298}"/>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B01E91FC-8EBD-774C-4BF2-1C71825EECB4}"/>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053BBDE1-E0A2-AC6C-28BE-1925CFCC2471}"/>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55905ADA-0F13-A8DF-B8CE-907096B3A49A}"/>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0E2F737F-330F-9B5E-67F7-751B73B67526}"/>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869ACE58-BA29-3931-E2F5-7974F8F0D284}"/>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4372AB63-BFF8-3139-20CA-0FAD952DC592}"/>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D083A715-0319-E2D0-C77D-809F988085DF}"/>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ED7F0BD8-BEE8-82F1-638A-E84F6D8D3507}"/>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3245A20E-D3D6-CFB3-1A73-8852B2A16725}"/>
              </a:ext>
            </a:extLst>
          </p:cNvPr>
          <p:cNvSpPr txBox="1">
            <a:spLocks noChangeArrowheads="1"/>
          </p:cNvSpPr>
          <p:nvPr/>
        </p:nvSpPr>
        <p:spPr>
          <a:xfrm>
            <a:off x="1254285" y="27590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pt-BR" sz="3600" b="1" noProof="0" dirty="0"/>
              <a:t>Portanto... </a:t>
            </a:r>
          </a:p>
          <a:p>
            <a:pPr marL="0" indent="0" algn="just">
              <a:lnSpc>
                <a:spcPct val="150000"/>
              </a:lnSpc>
              <a:buNone/>
            </a:pPr>
            <a:endParaRPr lang="pt-BR" sz="3600" b="1" dirty="0"/>
          </a:p>
          <a:p>
            <a:pPr marL="0" indent="0" algn="just">
              <a:lnSpc>
                <a:spcPct val="150000"/>
              </a:lnSpc>
              <a:buNone/>
            </a:pPr>
            <a:r>
              <a:rPr lang="pt-BR" sz="3600" noProof="0" dirty="0"/>
              <a:t>Para que um projeto seja considerado bem-sucedido, os requisitos do sistema devem satisfazer os requisitos do usuário, resolvendo o problema que ele enfrenta. Essa relação está representada na figura a seguir.</a:t>
            </a:r>
          </a:p>
        </p:txBody>
      </p:sp>
    </p:spTree>
    <p:extLst>
      <p:ext uri="{BB962C8B-B14F-4D97-AF65-F5344CB8AC3E}">
        <p14:creationId xmlns:p14="http://schemas.microsoft.com/office/powerpoint/2010/main" val="2034232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4A7C9-A21E-1F5F-7E83-61C6B8D0D9C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01222BA-028B-1868-E05D-1189800D15A4}"/>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9339D4A4-7F41-0440-99DE-D1220DF74CD7}"/>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4A4A2625-3FAB-192F-21A6-39F8FD4E48BB}"/>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4EF0851D-1036-DE1D-8E8E-788EAAF6F7BE}"/>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39CA421C-4776-33C6-6EEE-27C681F466DC}"/>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ED245304-29E3-9E3B-262C-842BE8D766C4}"/>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B32A407A-9080-0FC7-1B07-C31438E51CA7}"/>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741583D8-907D-8B1B-4A31-D778A6713423}"/>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B7549535-912F-47A9-4AB4-5BFDDF8BA7EC}"/>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D9741F8B-BC34-ACA3-A7E1-CA2F55FC2E71}"/>
              </a:ext>
            </a:extLst>
          </p:cNvPr>
          <p:cNvSpPr txBox="1">
            <a:spLocks noChangeArrowheads="1"/>
          </p:cNvSpPr>
          <p:nvPr/>
        </p:nvSpPr>
        <p:spPr>
          <a:xfrm>
            <a:off x="1254285" y="27590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endParaRPr lang="pt-BR" sz="3600" b="1" noProof="0" dirty="0"/>
          </a:p>
        </p:txBody>
      </p:sp>
      <p:pic>
        <p:nvPicPr>
          <p:cNvPr id="8" name="Imagem 7">
            <a:extLst>
              <a:ext uri="{FF2B5EF4-FFF2-40B4-BE49-F238E27FC236}">
                <a16:creationId xmlns:a16="http://schemas.microsoft.com/office/drawing/2014/main" id="{4EA4FE9A-EB1D-60D4-238B-182F2D30897A}"/>
              </a:ext>
            </a:extLst>
          </p:cNvPr>
          <p:cNvPicPr>
            <a:picLocks noChangeAspect="1"/>
          </p:cNvPicPr>
          <p:nvPr/>
        </p:nvPicPr>
        <p:blipFill>
          <a:blip r:embed="rId6"/>
          <a:stretch>
            <a:fillRect/>
          </a:stretch>
        </p:blipFill>
        <p:spPr>
          <a:xfrm>
            <a:off x="3047985" y="2501310"/>
            <a:ext cx="12496800" cy="6011269"/>
          </a:xfrm>
          <a:prstGeom prst="rect">
            <a:avLst/>
          </a:prstGeom>
        </p:spPr>
      </p:pic>
    </p:spTree>
    <p:extLst>
      <p:ext uri="{BB962C8B-B14F-4D97-AF65-F5344CB8AC3E}">
        <p14:creationId xmlns:p14="http://schemas.microsoft.com/office/powerpoint/2010/main" val="3917711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7A1E6-82D5-9D9B-1CC8-1D4A901845DF}"/>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57684D96-154E-D092-75F1-9AF10DC315BB}"/>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8F7090D5-75E2-04C2-C0B4-3FCFD871B2B0}"/>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2"/>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803572AF-7A6C-FB41-6102-298C8DE5857C}"/>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5FE33100-A877-9F40-D8B8-FD61571E61C5}"/>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3"/>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14B2D4C3-A38A-3F6A-DD3D-9073672C30EE}"/>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58C84EEC-0BE1-39DD-6101-5F595CB6C991}"/>
              </a:ext>
            </a:extLst>
          </p:cNvPr>
          <p:cNvPicPr>
            <a:picLocks noChangeAspect="1"/>
          </p:cNvPicPr>
          <p:nvPr/>
        </p:nvPicPr>
        <p:blipFill>
          <a:blip r:embed="rId4"/>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3A350AD1-DE5A-F8AF-E8C6-2A5D00ED0DEF}"/>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D8E2CB9A-311A-A83B-43D9-297FECE9300A}"/>
              </a:ext>
            </a:extLst>
          </p:cNvPr>
          <p:cNvSpPr txBox="1">
            <a:spLocks noChangeArrowheads="1"/>
          </p:cNvSpPr>
          <p:nvPr/>
        </p:nvSpPr>
        <p:spPr>
          <a:xfrm>
            <a:off x="1254285" y="27590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Font typeface="Courier New" panose="02070309020205020404" pitchFamily="49" charset="0"/>
              <a:buChar char="o"/>
            </a:pPr>
            <a:r>
              <a:rPr lang="pt-BR" dirty="0"/>
              <a:t>Em abordagens mais tradicionais, os requisitos do usuário são comumente especificados em documentos conhecidos como </a:t>
            </a:r>
            <a:r>
              <a:rPr lang="pt-BR" b="1" dirty="0"/>
              <a:t>documento de visão</a:t>
            </a:r>
            <a:r>
              <a:rPr lang="pt-BR" dirty="0"/>
              <a:t> ou </a:t>
            </a:r>
            <a:r>
              <a:rPr lang="pt-BR" b="1" dirty="0"/>
              <a:t>documento de requisitos do usuário</a:t>
            </a:r>
            <a:r>
              <a:rPr lang="pt-BR" dirty="0"/>
              <a:t>. Já os requisitos do sistema são comumente especificados em documentos conhecidos como </a:t>
            </a:r>
            <a:r>
              <a:rPr lang="pt-BR" b="1" dirty="0"/>
              <a:t>documento de requisitos do sistema, ou do</a:t>
            </a:r>
            <a:r>
              <a:rPr lang="pt-BR" dirty="0"/>
              <a:t> </a:t>
            </a:r>
            <a:r>
              <a:rPr lang="pt-BR" b="1" i="1" dirty="0"/>
              <a:t>software</a:t>
            </a:r>
            <a:r>
              <a:rPr lang="pt-BR" dirty="0"/>
              <a:t>. </a:t>
            </a:r>
          </a:p>
        </p:txBody>
      </p:sp>
    </p:spTree>
    <p:extLst>
      <p:ext uri="{BB962C8B-B14F-4D97-AF65-F5344CB8AC3E}">
        <p14:creationId xmlns:p14="http://schemas.microsoft.com/office/powerpoint/2010/main" val="862058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2875F-79DC-6D30-FFE0-616CA815417F}"/>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E9C6C6B1-E6C5-B325-F017-E77E19F09092}"/>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1C258415-6038-C79C-4A69-E3DDC36C7036}"/>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2"/>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7D1C80CA-D398-5BFE-1304-C07AE0811365}"/>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DAAC18AA-4E96-4254-CBFD-A1A4BEBFBF11}"/>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3"/>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5C823FBE-7656-F9D9-57F6-D0C59EEE8919}"/>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54FCAC8A-264A-75D9-CD8E-1DAA127279A4}"/>
              </a:ext>
            </a:extLst>
          </p:cNvPr>
          <p:cNvPicPr>
            <a:picLocks noChangeAspect="1"/>
          </p:cNvPicPr>
          <p:nvPr/>
        </p:nvPicPr>
        <p:blipFill>
          <a:blip r:embed="rId4"/>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AE7D8231-E4E0-2605-EAB8-00DB0A8122C3}"/>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427033C0-A6C7-7679-9B51-DD6C89593FC9}"/>
              </a:ext>
            </a:extLst>
          </p:cNvPr>
          <p:cNvSpPr txBox="1">
            <a:spLocks noChangeArrowheads="1"/>
          </p:cNvSpPr>
          <p:nvPr/>
        </p:nvSpPr>
        <p:spPr>
          <a:xfrm>
            <a:off x="1254285" y="27590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Font typeface="Courier New" panose="02070309020205020404" pitchFamily="49" charset="0"/>
              <a:buChar char="o"/>
            </a:pPr>
            <a:r>
              <a:rPr lang="pt-BR" dirty="0"/>
              <a:t>É comum olhar para os desafios de um projeto em uma </a:t>
            </a:r>
            <a:r>
              <a:rPr lang="pt-BR" b="1" dirty="0"/>
              <a:t>perspectiva tecnológica</a:t>
            </a:r>
            <a:r>
              <a:rPr lang="pt-BR" dirty="0"/>
              <a:t>. Nestes casos, a tendência é tirar o foco do verdadeiro </a:t>
            </a:r>
            <a:r>
              <a:rPr lang="pt-BR" u="sng" dirty="0"/>
              <a:t>problema</a:t>
            </a:r>
            <a:r>
              <a:rPr lang="pt-BR" dirty="0"/>
              <a:t> e concentrar-se na atenção em uma </a:t>
            </a:r>
            <a:r>
              <a:rPr lang="pt-BR" u="sng" dirty="0"/>
              <a:t>solução</a:t>
            </a:r>
            <a:r>
              <a:rPr lang="pt-BR" dirty="0"/>
              <a:t> adequada.</a:t>
            </a:r>
          </a:p>
          <a:p>
            <a:pPr algn="just">
              <a:lnSpc>
                <a:spcPct val="150000"/>
              </a:lnSpc>
              <a:buFont typeface="Courier New" panose="02070309020205020404" pitchFamily="49" charset="0"/>
              <a:buChar char="o"/>
            </a:pPr>
            <a:endParaRPr lang="pt-BR" dirty="0"/>
          </a:p>
          <a:p>
            <a:pPr algn="just">
              <a:lnSpc>
                <a:spcPct val="150000"/>
              </a:lnSpc>
              <a:buFont typeface="Courier New" panose="02070309020205020404" pitchFamily="49" charset="0"/>
              <a:buChar char="o"/>
            </a:pPr>
            <a:r>
              <a:rPr lang="pt-BR" b="1" dirty="0"/>
              <a:t>Só se pode desenvolver uma solução adequada se o problema a resolver estiver bem caracterizado</a:t>
            </a:r>
            <a:r>
              <a:rPr lang="pt-BR" dirty="0"/>
              <a:t>.</a:t>
            </a:r>
          </a:p>
          <a:p>
            <a:pPr algn="just">
              <a:lnSpc>
                <a:spcPct val="150000"/>
              </a:lnSpc>
              <a:buFont typeface="Courier New" panose="02070309020205020404" pitchFamily="49" charset="0"/>
              <a:buChar char="o"/>
            </a:pPr>
            <a:endParaRPr lang="pt-BR" dirty="0"/>
          </a:p>
          <a:p>
            <a:pPr algn="just">
              <a:lnSpc>
                <a:spcPct val="150000"/>
              </a:lnSpc>
              <a:buFont typeface="Courier New" panose="02070309020205020404" pitchFamily="49" charset="0"/>
              <a:buChar char="o"/>
            </a:pPr>
            <a:r>
              <a:rPr lang="pt-BR" dirty="0"/>
              <a:t>Não é raro que as equipes tendam a desenvolver soluções para problemas que estejam insuficientemente formulados.</a:t>
            </a:r>
          </a:p>
        </p:txBody>
      </p:sp>
    </p:spTree>
    <p:extLst>
      <p:ext uri="{BB962C8B-B14F-4D97-AF65-F5344CB8AC3E}">
        <p14:creationId xmlns:p14="http://schemas.microsoft.com/office/powerpoint/2010/main" val="3071489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A788D-D020-640A-29FF-D01E946E9ACA}"/>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3ADC3E1C-C0B4-2B97-B536-3EF0F48C98EA}"/>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6DB46A8D-3944-0BA1-92FF-407AD1B7A259}"/>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2"/>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4D5CF426-18FE-B2CF-9203-E67917E8825D}"/>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F8D2FF94-B5CA-B1DE-3267-4FD3A5A9CBB0}"/>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3"/>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62863C0E-020E-CBE6-61F1-E0F021228696}"/>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Exemplo</a:t>
            </a:r>
          </a:p>
        </p:txBody>
      </p:sp>
      <p:pic>
        <p:nvPicPr>
          <p:cNvPr id="12" name="Imagem 11">
            <a:extLst>
              <a:ext uri="{FF2B5EF4-FFF2-40B4-BE49-F238E27FC236}">
                <a16:creationId xmlns:a16="http://schemas.microsoft.com/office/drawing/2014/main" id="{148AA4A5-2546-C858-4ECF-511A8466C8C7}"/>
              </a:ext>
            </a:extLst>
          </p:cNvPr>
          <p:cNvPicPr>
            <a:picLocks noChangeAspect="1"/>
          </p:cNvPicPr>
          <p:nvPr/>
        </p:nvPicPr>
        <p:blipFill>
          <a:blip r:embed="rId4"/>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94CAF22A-C23D-37C7-B5D3-9FDA764E0ED3}"/>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E52A8D41-1207-AC1B-83FA-83D04E49C1CA}"/>
              </a:ext>
            </a:extLst>
          </p:cNvPr>
          <p:cNvSpPr txBox="1">
            <a:spLocks noChangeArrowheads="1"/>
          </p:cNvSpPr>
          <p:nvPr/>
        </p:nvSpPr>
        <p:spPr>
          <a:xfrm>
            <a:off x="1254285" y="2095500"/>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pt-BR" sz="2800" noProof="0" dirty="0"/>
              <a:t>Numa determinada empresa, pretendia-se garantir que o número de refeições que a empresa deveria pagar ao fornecedor do serviço era aquele que representasse o que efetivamente havia sido servido. </a:t>
            </a:r>
            <a:r>
              <a:rPr lang="pt-BR" sz="2800" b="1" noProof="0" dirty="0"/>
              <a:t>Assim, o cliente solicitou uma solução que implicava a colocação de transponders nos cartões de identificação dos colaboradores para que se pudessem contabilizar todos aqueles que diariamente almoçavam no refeitório</a:t>
            </a:r>
            <a:r>
              <a:rPr lang="pt-BR" sz="2800" noProof="0" dirty="0"/>
              <a:t>. Assim, sempre que um colaborador passasse pela porta, onde seria instalado um detector de transponders, esse registro seria feito. O cliente descreveu claramente aquilo que ele achava ser “a” solução, mas não se concentrou no problema que verdadeiramente tinha de ser resolvido. Posteriormente, foi possível, com uma focalização no problema, perceber que essa solução era bem mais cara do que a que foi efetivamente adotada. </a:t>
            </a:r>
            <a:r>
              <a:rPr lang="pt-BR" sz="2800" b="1" noProof="0" dirty="0"/>
              <a:t>A solução escolhida consistia em aproveitar diretamente o sistema de registro de assiduidade já existente na empresa e em solicitar aos colaboradores que indicassem, diariamente, se almoçavam (ou não) no refeitório da empresa</a:t>
            </a:r>
            <a:r>
              <a:rPr lang="pt-BR" sz="2800" noProof="0" dirty="0"/>
              <a:t>. Desta forma, a solução consistia simplesmente em disponibilizar um arquivo com a listagem dos funcionários que registraram o pedido de refeição.</a:t>
            </a:r>
          </a:p>
        </p:txBody>
      </p:sp>
    </p:spTree>
    <p:extLst>
      <p:ext uri="{BB962C8B-B14F-4D97-AF65-F5344CB8AC3E}">
        <p14:creationId xmlns:p14="http://schemas.microsoft.com/office/powerpoint/2010/main" val="442353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3468F-E131-A7DA-27DF-95535E79713E}"/>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EF31AF44-B4FA-B5C5-AA0B-6E7B23FBC04D}"/>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550045A8-FF46-65E2-C9B0-AC072B06C2C5}"/>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2"/>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F08DF875-F786-5050-F17D-0F8E67418AA2}"/>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4A230FB7-CF8A-B63A-4F29-EB81F5686303}"/>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3"/>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72D02E0F-A232-EDE9-1108-A6B98DB4DD3A}"/>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Requisitos de usuário x requisitos de sistema</a:t>
            </a:r>
          </a:p>
        </p:txBody>
      </p:sp>
      <p:pic>
        <p:nvPicPr>
          <p:cNvPr id="12" name="Imagem 11">
            <a:extLst>
              <a:ext uri="{FF2B5EF4-FFF2-40B4-BE49-F238E27FC236}">
                <a16:creationId xmlns:a16="http://schemas.microsoft.com/office/drawing/2014/main" id="{8723AF83-8388-17E9-9D6E-FAA6F00BAB47}"/>
              </a:ext>
            </a:extLst>
          </p:cNvPr>
          <p:cNvPicPr>
            <a:picLocks noChangeAspect="1"/>
          </p:cNvPicPr>
          <p:nvPr/>
        </p:nvPicPr>
        <p:blipFill>
          <a:blip r:embed="rId4"/>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9B2C5573-936F-3500-21E7-5468DD8057D5}"/>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8D1418A9-FAED-C852-6779-551AE06821DF}"/>
              </a:ext>
            </a:extLst>
          </p:cNvPr>
          <p:cNvSpPr txBox="1">
            <a:spLocks noChangeArrowheads="1"/>
          </p:cNvSpPr>
          <p:nvPr/>
        </p:nvSpPr>
        <p:spPr>
          <a:xfrm>
            <a:off x="3733801" y="2207098"/>
            <a:ext cx="13452286" cy="394486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pt-BR" dirty="0"/>
              <a:t>Professor Marcos </a:t>
            </a:r>
            <a:r>
              <a:rPr lang="pt-BR" dirty="0" err="1"/>
              <a:t>Kalinowski</a:t>
            </a:r>
            <a:r>
              <a:rPr lang="pt-BR" dirty="0"/>
              <a:t> </a:t>
            </a:r>
            <a:r>
              <a:rPr lang="pt-BR" sz="2400" dirty="0"/>
              <a:t>(Referência em Engenharia de Software no Brasil)</a:t>
            </a:r>
          </a:p>
          <a:p>
            <a:pPr marL="0" indent="0" algn="just">
              <a:lnSpc>
                <a:spcPct val="150000"/>
              </a:lnSpc>
              <a:buNone/>
            </a:pPr>
            <a:r>
              <a:rPr lang="pt-BR" sz="1600" dirty="0"/>
              <a:t>Professor do Quadro Principal do Departamento de Informática da PUC-Rio, onde orienta pesquisas de mestrado, doutorado e </a:t>
            </a:r>
            <a:r>
              <a:rPr lang="pt-BR" sz="1600" dirty="0" err="1"/>
              <a:t>pósdoutorado</a:t>
            </a:r>
            <a:r>
              <a:rPr lang="pt-BR" sz="1600" dirty="0"/>
              <a:t>, além de coordenar projetos de pesquisa e desenvolvimento junto a empresas como Americanas S.A. e Petrobras nas áreas de Engenharia de Software e Ciência de Dados. Doutor em Engenharia de Sistemas e Computação pela COPPE/UFRJ. Atuou por mais de 10 anos na indústria de software antes de se tornar professor (como desenvolvedor, consultor e diretor). Forneceu treinamentos </a:t>
            </a:r>
            <a:r>
              <a:rPr lang="pt-BR" sz="1600" dirty="0" err="1"/>
              <a:t>in-company</a:t>
            </a:r>
            <a:r>
              <a:rPr lang="pt-BR" sz="1600" dirty="0"/>
              <a:t> para empresas como </a:t>
            </a:r>
            <a:r>
              <a:rPr lang="pt-BR" sz="1600" dirty="0" err="1"/>
              <a:t>Chemtech</a:t>
            </a:r>
            <a:r>
              <a:rPr lang="pt-BR" sz="1600" dirty="0"/>
              <a:t>, CNEN, </a:t>
            </a:r>
            <a:r>
              <a:rPr lang="pt-BR" sz="1600" dirty="0" err="1"/>
              <a:t>DataPrev</a:t>
            </a:r>
            <a:r>
              <a:rPr lang="pt-BR" sz="1600" dirty="0"/>
              <a:t>, Loggi, </a:t>
            </a:r>
            <a:r>
              <a:rPr lang="pt-BR" sz="1600" dirty="0" err="1"/>
              <a:t>Oceaneering</a:t>
            </a:r>
            <a:r>
              <a:rPr lang="pt-BR" sz="1600" dirty="0"/>
              <a:t>, ONS, Petrobras, </a:t>
            </a:r>
            <a:r>
              <a:rPr lang="pt-BR" sz="1600" dirty="0" err="1"/>
              <a:t>Sakonnet</a:t>
            </a:r>
            <a:r>
              <a:rPr lang="pt-BR" sz="1600" dirty="0"/>
              <a:t> Technology, entre outras. É </a:t>
            </a:r>
            <a:r>
              <a:rPr lang="pt-BR" sz="1600" dirty="0" err="1"/>
              <a:t>Senior</a:t>
            </a:r>
            <a:r>
              <a:rPr lang="pt-BR" sz="1600" dirty="0"/>
              <a:t> </a:t>
            </a:r>
            <a:r>
              <a:rPr lang="pt-BR" sz="1600" dirty="0" err="1"/>
              <a:t>Advisor</a:t>
            </a:r>
            <a:r>
              <a:rPr lang="pt-BR" sz="1600" dirty="0"/>
              <a:t> da equipe técnica responsável pelo programa nacional MPS.BR. Avaliador líder do modelo MPS-SW. </a:t>
            </a:r>
          </a:p>
        </p:txBody>
      </p:sp>
      <p:pic>
        <p:nvPicPr>
          <p:cNvPr id="2" name="Imagem 1" descr="se liga">
            <a:extLst>
              <a:ext uri="{FF2B5EF4-FFF2-40B4-BE49-F238E27FC236}">
                <a16:creationId xmlns:a16="http://schemas.microsoft.com/office/drawing/2014/main" id="{654D9C32-300F-44F2-279E-A166FA11484A}"/>
              </a:ext>
            </a:extLst>
          </p:cNvPr>
          <p:cNvPicPr>
            <a:picLocks noChangeAspect="1"/>
          </p:cNvPicPr>
          <p:nvPr/>
        </p:nvPicPr>
        <p:blipFill>
          <a:blip r:embed="rId5"/>
          <a:stretch>
            <a:fillRect/>
          </a:stretch>
        </p:blipFill>
        <p:spPr>
          <a:xfrm>
            <a:off x="990600" y="2425462"/>
            <a:ext cx="2489438" cy="2489438"/>
          </a:xfrm>
          <a:prstGeom prst="rect">
            <a:avLst/>
          </a:prstGeom>
        </p:spPr>
      </p:pic>
      <p:sp>
        <p:nvSpPr>
          <p:cNvPr id="7" name="CaixaDeTexto 6">
            <a:extLst>
              <a:ext uri="{FF2B5EF4-FFF2-40B4-BE49-F238E27FC236}">
                <a16:creationId xmlns:a16="http://schemas.microsoft.com/office/drawing/2014/main" id="{124EDD24-4D4C-F336-BD9F-00FF6FECF5A9}"/>
              </a:ext>
            </a:extLst>
          </p:cNvPr>
          <p:cNvSpPr txBox="1"/>
          <p:nvPr/>
        </p:nvSpPr>
        <p:spPr>
          <a:xfrm>
            <a:off x="4724400" y="6500319"/>
            <a:ext cx="11346198" cy="837473"/>
          </a:xfrm>
          <a:prstGeom prst="rect">
            <a:avLst/>
          </a:prstGeom>
          <a:noFill/>
        </p:spPr>
        <p:txBody>
          <a:bodyPr wrap="square">
            <a:spAutoFit/>
          </a:bodyPr>
          <a:lstStyle/>
          <a:p>
            <a:pPr marL="0" indent="0" algn="just">
              <a:lnSpc>
                <a:spcPct val="150000"/>
              </a:lnSpc>
              <a:buNone/>
            </a:pPr>
            <a:r>
              <a:rPr lang="pt-BR" sz="3600" dirty="0">
                <a:hlinkClick r:id="rId6"/>
              </a:rPr>
              <a:t>Problemas contemporâneos da engenharia de requisitos</a:t>
            </a:r>
            <a:endParaRPr lang="pt-BR" sz="3600" dirty="0"/>
          </a:p>
        </p:txBody>
      </p:sp>
    </p:spTree>
    <p:extLst>
      <p:ext uri="{BB962C8B-B14F-4D97-AF65-F5344CB8AC3E}">
        <p14:creationId xmlns:p14="http://schemas.microsoft.com/office/powerpoint/2010/main" val="3564313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1" y="8510024"/>
            <a:ext cx="4191000" cy="1776976"/>
            <a:chOff x="0" y="0"/>
            <a:chExt cx="6937514" cy="2941492"/>
          </a:xfrm>
        </p:grpSpPr>
        <p:sp>
          <p:nvSpPr>
            <p:cNvPr id="3" name="Freeform 3" descr="Padrão do plano de fundo  Descrição gerada automaticamente"/>
            <p:cNvSpPr/>
            <p:nvPr/>
          </p:nvSpPr>
          <p:spPr>
            <a:xfrm>
              <a:off x="0" y="0"/>
              <a:ext cx="6937502" cy="2941447"/>
            </a:xfrm>
            <a:custGeom>
              <a:avLst/>
              <a:gdLst/>
              <a:ahLst/>
              <a:cxnLst/>
              <a:rect l="l" t="t" r="r" b="b"/>
              <a:pathLst>
                <a:path w="6937502" h="2941447">
                  <a:moveTo>
                    <a:pt x="0" y="0"/>
                  </a:moveTo>
                  <a:lnTo>
                    <a:pt x="6937502" y="0"/>
                  </a:lnTo>
                  <a:lnTo>
                    <a:pt x="6937502" y="2941447"/>
                  </a:lnTo>
                  <a:lnTo>
                    <a:pt x="0" y="2941447"/>
                  </a:lnTo>
                  <a:lnTo>
                    <a:pt x="0" y="0"/>
                  </a:lnTo>
                  <a:close/>
                </a:path>
              </a:pathLst>
            </a:custGeom>
            <a:blipFill>
              <a:blip r:embed="rId2"/>
              <a:stretch>
                <a:fillRect l="-2" r="-2" b="-1"/>
              </a:stretch>
            </a:blipFill>
          </p:spPr>
          <p:txBody>
            <a:bodyPr/>
            <a:lstStyle/>
            <a:p>
              <a:endParaRPr lang="pt-BR" noProof="0" dirty="0"/>
            </a:p>
          </p:txBody>
        </p:sp>
      </p:grpSp>
      <p:grpSp>
        <p:nvGrpSpPr>
          <p:cNvPr id="4" name="Group 4"/>
          <p:cNvGrpSpPr>
            <a:grpSpLocks noChangeAspect="1"/>
          </p:cNvGrpSpPr>
          <p:nvPr/>
        </p:nvGrpSpPr>
        <p:grpSpPr>
          <a:xfrm>
            <a:off x="1101885" y="2424050"/>
            <a:ext cx="16084230" cy="52450"/>
            <a:chOff x="0" y="0"/>
            <a:chExt cx="21445640" cy="69934"/>
          </a:xfrm>
        </p:grpSpPr>
        <p:sp>
          <p:nvSpPr>
            <p:cNvPr id="5" name="Freeform 5"/>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8" name="Group 8"/>
          <p:cNvGrpSpPr>
            <a:grpSpLocks noChangeAspect="1"/>
          </p:cNvGrpSpPr>
          <p:nvPr/>
        </p:nvGrpSpPr>
        <p:grpSpPr>
          <a:xfrm>
            <a:off x="14878878" y="9022594"/>
            <a:ext cx="2307237" cy="983879"/>
            <a:chOff x="0" y="0"/>
            <a:chExt cx="3076316" cy="1311838"/>
          </a:xfrm>
        </p:grpSpPr>
        <p:sp>
          <p:nvSpPr>
            <p:cNvPr id="9" name="Freeform 9"/>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grpSp>
        <p:nvGrpSpPr>
          <p:cNvPr id="12" name="Group 12"/>
          <p:cNvGrpSpPr>
            <a:grpSpLocks noChangeAspect="1"/>
          </p:cNvGrpSpPr>
          <p:nvPr/>
        </p:nvGrpSpPr>
        <p:grpSpPr>
          <a:xfrm>
            <a:off x="5257800" y="3502463"/>
            <a:ext cx="8304441" cy="5040829"/>
            <a:chOff x="0" y="0"/>
            <a:chExt cx="7343774" cy="4457700"/>
          </a:xfrm>
        </p:grpSpPr>
        <p:sp>
          <p:nvSpPr>
            <p:cNvPr id="13" name="Freeform 13" descr="Resultado de imagem para DÃVIDAS"/>
            <p:cNvSpPr/>
            <p:nvPr/>
          </p:nvSpPr>
          <p:spPr>
            <a:xfrm>
              <a:off x="0" y="0"/>
              <a:ext cx="7343775" cy="4457700"/>
            </a:xfrm>
            <a:custGeom>
              <a:avLst/>
              <a:gdLst/>
              <a:ahLst/>
              <a:cxnLst/>
              <a:rect l="l" t="t" r="r" b="b"/>
              <a:pathLst>
                <a:path w="7343775" h="4457700">
                  <a:moveTo>
                    <a:pt x="0" y="0"/>
                  </a:moveTo>
                  <a:lnTo>
                    <a:pt x="7343775" y="0"/>
                  </a:lnTo>
                  <a:lnTo>
                    <a:pt x="7343775" y="4457700"/>
                  </a:lnTo>
                  <a:lnTo>
                    <a:pt x="0" y="4457700"/>
                  </a:lnTo>
                  <a:lnTo>
                    <a:pt x="0" y="0"/>
                  </a:lnTo>
                  <a:close/>
                </a:path>
              </a:pathLst>
            </a:custGeom>
            <a:blipFill>
              <a:blip r:embed="rId5"/>
              <a:stretch>
                <a:fillRect b="-56"/>
              </a:stretch>
            </a:blipFill>
          </p:spPr>
          <p:txBody>
            <a:bodyPr/>
            <a:lstStyle/>
            <a:p>
              <a:endParaRPr lang="pt-BR" noProof="0" dirty="0"/>
            </a:p>
          </p:txBody>
        </p:sp>
      </p:grpSp>
      <p:sp>
        <p:nvSpPr>
          <p:cNvPr id="18" name="Freeform 18"/>
          <p:cNvSpPr/>
          <p:nvPr/>
        </p:nvSpPr>
        <p:spPr>
          <a:xfrm>
            <a:off x="838200" y="342900"/>
            <a:ext cx="1325617" cy="3067967"/>
          </a:xfrm>
          <a:custGeom>
            <a:avLst/>
            <a:gdLst/>
            <a:ahLst/>
            <a:cxnLst/>
            <a:rect l="l" t="t" r="r" b="b"/>
            <a:pathLst>
              <a:path w="1325617" h="3067967">
                <a:moveTo>
                  <a:pt x="0" y="0"/>
                </a:moveTo>
                <a:lnTo>
                  <a:pt x="1325617" y="0"/>
                </a:lnTo>
                <a:lnTo>
                  <a:pt x="1325617" y="3067966"/>
                </a:lnTo>
                <a:lnTo>
                  <a:pt x="0" y="3067966"/>
                </a:lnTo>
                <a:lnTo>
                  <a:pt x="0" y="0"/>
                </a:lnTo>
                <a:close/>
              </a:path>
            </a:pathLst>
          </a:custGeom>
          <a:blipFill>
            <a:blip r:embed="rId6"/>
            <a:stretch>
              <a:fillRect/>
            </a:stretch>
          </a:blipFill>
        </p:spPr>
        <p:txBody>
          <a:bodyPr/>
          <a:lstStyle/>
          <a:p>
            <a:endParaRPr lang="pt-BR" noProof="0" dirty="0"/>
          </a:p>
        </p:txBody>
      </p:sp>
      <p:sp>
        <p:nvSpPr>
          <p:cNvPr id="20" name="TextBox 20"/>
          <p:cNvSpPr txBox="1"/>
          <p:nvPr/>
        </p:nvSpPr>
        <p:spPr>
          <a:xfrm>
            <a:off x="2370830" y="1596065"/>
            <a:ext cx="9553178" cy="776198"/>
          </a:xfrm>
          <a:prstGeom prst="rect">
            <a:avLst/>
          </a:prstGeom>
        </p:spPr>
        <p:txBody>
          <a:bodyPr lIns="0" tIns="0" rIns="0" bIns="0" rtlCol="0" anchor="t">
            <a:spAutoFit/>
          </a:bodyPr>
          <a:lstStyle/>
          <a:p>
            <a:pPr algn="l">
              <a:lnSpc>
                <a:spcPts val="5759"/>
              </a:lnSpc>
            </a:pPr>
            <a:r>
              <a:rPr lang="pt-BR" sz="4800" b="1" noProof="0" dirty="0">
                <a:solidFill>
                  <a:srgbClr val="006232"/>
                </a:solidFill>
                <a:latin typeface=" Avenir Next Arabic Bold"/>
                <a:ea typeface=" Avenir Next Arabic Bold"/>
                <a:cs typeface=" Avenir Next Arabic Bold"/>
                <a:sym typeface=" Avenir Next Arabic Bold"/>
              </a:rPr>
              <a:t>Dúvidas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D31C6-A84A-6593-5698-A1787329B73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3274CB7-A707-27AC-B99B-1469A7CFFD9B}"/>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3FDA2A4F-9410-E79C-F1BF-ADF07559B76B}"/>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DA31E8CA-18F7-8C5A-1E70-A3D35770BDD4}"/>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2C5DC5B1-822A-858D-6660-1132C771C418}"/>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6ACA3C44-5E76-4D60-49AB-B76EA53621EA}"/>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E1DBDF39-9458-0FD6-6B8D-FA094A5C61B5}"/>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BBBF854A-9D06-97B6-DAFB-FBC1CF4183CB}"/>
              </a:ext>
            </a:extLst>
          </p:cNvPr>
          <p:cNvSpPr txBox="1"/>
          <p:nvPr/>
        </p:nvSpPr>
        <p:spPr>
          <a:xfrm>
            <a:off x="2400588" y="1028700"/>
            <a:ext cx="14785498" cy="925253"/>
          </a:xfrm>
          <a:prstGeom prst="rect">
            <a:avLst/>
          </a:prstGeom>
        </p:spPr>
        <p:txBody>
          <a:bodyPr wrap="square" lIns="0" tIns="0" rIns="0" bIns="0" rtlCol="0" anchor="t">
            <a:spAutoFit/>
          </a:bodyPr>
          <a:lstStyle/>
          <a:p>
            <a:pPr>
              <a:lnSpc>
                <a:spcPts val="7677"/>
              </a:lnSpc>
            </a:pPr>
            <a:r>
              <a:rPr lang="pt-BR" sz="4800" b="1" noProof="0" dirty="0">
                <a:solidFill>
                  <a:srgbClr val="006232"/>
                </a:solidFill>
                <a:latin typeface=" Avenir Next Arabic Bold"/>
                <a:ea typeface=" Avenir Next Arabic Bold"/>
                <a:cs typeface=" Avenir Next Arabic Bold"/>
                <a:sym typeface=" Avenir Next Arabic Bold"/>
              </a:rPr>
              <a:t>Referência</a:t>
            </a:r>
          </a:p>
        </p:txBody>
      </p:sp>
      <p:pic>
        <p:nvPicPr>
          <p:cNvPr id="12" name="Imagem 11">
            <a:extLst>
              <a:ext uri="{FF2B5EF4-FFF2-40B4-BE49-F238E27FC236}">
                <a16:creationId xmlns:a16="http://schemas.microsoft.com/office/drawing/2014/main" id="{397CC8B5-5158-B611-E1F3-70D76D4D6B13}"/>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636812C0-5520-CD31-56A2-B8639F200025}"/>
              </a:ext>
            </a:extLst>
          </p:cNvPr>
          <p:cNvSpPr txBox="1">
            <a:spLocks noChangeArrowheads="1"/>
          </p:cNvSpPr>
          <p:nvPr/>
        </p:nvSpPr>
        <p:spPr>
          <a:xfrm>
            <a:off x="1101885" y="2606674"/>
            <a:ext cx="16084201" cy="59059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Font typeface="Arial" pitchFamily="34" charset="0"/>
              <a:buNone/>
            </a:pPr>
            <a:endParaRPr lang="pt-BR" sz="3600" noProof="0" dirty="0"/>
          </a:p>
        </p:txBody>
      </p:sp>
      <p:sp>
        <p:nvSpPr>
          <p:cNvPr id="13" name="Rectangle 3">
            <a:extLst>
              <a:ext uri="{FF2B5EF4-FFF2-40B4-BE49-F238E27FC236}">
                <a16:creationId xmlns:a16="http://schemas.microsoft.com/office/drawing/2014/main" id="{37FA165B-EC89-A64D-1628-169C2EE38D40}"/>
              </a:ext>
            </a:extLst>
          </p:cNvPr>
          <p:cNvSpPr txBox="1">
            <a:spLocks noChangeArrowheads="1"/>
          </p:cNvSpPr>
          <p:nvPr/>
        </p:nvSpPr>
        <p:spPr>
          <a:xfrm>
            <a:off x="1254285" y="2095500"/>
            <a:ext cx="16084201" cy="71628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spcBef>
                <a:spcPts val="1000"/>
              </a:spcBef>
              <a:buClr>
                <a:schemeClr val="accent1"/>
              </a:buClr>
              <a:buSzPct val="80000"/>
              <a:buNone/>
            </a:pPr>
            <a:endParaRPr lang="pt-BR" altLang="pt-BR" sz="2800" dirty="0">
              <a:solidFill>
                <a:srgbClr val="404040"/>
              </a:solidFill>
              <a:sym typeface="Gill Sans" charset="0"/>
            </a:endParaRPr>
          </a:p>
          <a:p>
            <a:pPr marL="0" indent="0" algn="just">
              <a:lnSpc>
                <a:spcPct val="150000"/>
              </a:lnSpc>
              <a:spcBef>
                <a:spcPts val="1000"/>
              </a:spcBef>
              <a:buClr>
                <a:schemeClr val="accent1"/>
              </a:buClr>
              <a:buSzPct val="80000"/>
              <a:buNone/>
            </a:pPr>
            <a:r>
              <a:rPr lang="pt-BR" altLang="pt-BR" dirty="0">
                <a:solidFill>
                  <a:srgbClr val="404040"/>
                </a:solidFill>
                <a:sym typeface="Gill Sans" charset="0"/>
              </a:rPr>
              <a:t>Fernandes, João M.; Machado, Ricardo J.. Requisitos em projetos de software e de sistemas de informação (p. 84). </a:t>
            </a:r>
            <a:r>
              <a:rPr lang="pt-BR" altLang="pt-BR" dirty="0" err="1">
                <a:solidFill>
                  <a:srgbClr val="404040"/>
                </a:solidFill>
                <a:sym typeface="Gill Sans" charset="0"/>
              </a:rPr>
              <a:t>Novatec</a:t>
            </a:r>
            <a:r>
              <a:rPr lang="pt-BR" altLang="pt-BR" dirty="0">
                <a:solidFill>
                  <a:srgbClr val="404040"/>
                </a:solidFill>
                <a:sym typeface="Gill Sans" charset="0"/>
              </a:rPr>
              <a:t> Editora. Edição do Kindle. </a:t>
            </a:r>
          </a:p>
          <a:p>
            <a:pPr marL="0" indent="0" algn="just">
              <a:lnSpc>
                <a:spcPct val="150000"/>
              </a:lnSpc>
              <a:spcBef>
                <a:spcPts val="1000"/>
              </a:spcBef>
              <a:buClr>
                <a:schemeClr val="accent1"/>
              </a:buClr>
              <a:buSzPct val="80000"/>
              <a:buNone/>
            </a:pPr>
            <a:r>
              <a:rPr lang="pt-BR" dirty="0"/>
              <a:t>BROOKS, F. P. No </a:t>
            </a:r>
            <a:r>
              <a:rPr lang="pt-BR" dirty="0" err="1"/>
              <a:t>silver</a:t>
            </a:r>
            <a:r>
              <a:rPr lang="pt-BR" dirty="0"/>
              <a:t> </a:t>
            </a:r>
            <a:r>
              <a:rPr lang="pt-BR" dirty="0" err="1"/>
              <a:t>bullet</a:t>
            </a:r>
            <a:r>
              <a:rPr lang="pt-BR" dirty="0"/>
              <a:t> </a:t>
            </a:r>
            <a:r>
              <a:rPr lang="pt-BR" dirty="0" err="1"/>
              <a:t>essence</a:t>
            </a:r>
            <a:r>
              <a:rPr lang="pt-BR" dirty="0"/>
              <a:t> </a:t>
            </a:r>
            <a:r>
              <a:rPr lang="pt-BR" dirty="0" err="1"/>
              <a:t>and</a:t>
            </a:r>
            <a:r>
              <a:rPr lang="pt-BR" dirty="0"/>
              <a:t> </a:t>
            </a:r>
            <a:r>
              <a:rPr lang="pt-BR" dirty="0" err="1"/>
              <a:t>accidents</a:t>
            </a:r>
            <a:r>
              <a:rPr lang="pt-BR" dirty="0"/>
              <a:t> </a:t>
            </a:r>
            <a:r>
              <a:rPr lang="pt-BR" dirty="0" err="1"/>
              <a:t>of</a:t>
            </a:r>
            <a:r>
              <a:rPr lang="pt-BR" dirty="0"/>
              <a:t> software </a:t>
            </a:r>
            <a:r>
              <a:rPr lang="pt-BR" dirty="0" err="1"/>
              <a:t>engineering</a:t>
            </a:r>
            <a:r>
              <a:rPr lang="pt-BR" dirty="0"/>
              <a:t>. </a:t>
            </a:r>
            <a:r>
              <a:rPr lang="pt-BR" b="1" dirty="0"/>
              <a:t>IEEE Computer</a:t>
            </a:r>
            <a:r>
              <a:rPr lang="pt-BR" dirty="0"/>
              <a:t>, v. 20, n. 4, p. 10-19, 1987.</a:t>
            </a:r>
          </a:p>
          <a:p>
            <a:pPr marL="0" indent="0">
              <a:buNone/>
            </a:pPr>
            <a:r>
              <a:rPr lang="pt-BR" dirty="0"/>
              <a:t>SOMMERVILLE, I. </a:t>
            </a:r>
            <a:r>
              <a:rPr lang="pt-BR" b="1" dirty="0"/>
              <a:t>Engenharia de software</a:t>
            </a:r>
            <a:r>
              <a:rPr lang="pt-BR" dirty="0"/>
              <a:t>. 10. ed. [</a:t>
            </a:r>
            <a:r>
              <a:rPr lang="pt-BR" dirty="0" err="1"/>
              <a:t>S.l</a:t>
            </a:r>
            <a:r>
              <a:rPr lang="pt-BR" dirty="0"/>
              <a:t>.]: Pearson, 2019.</a:t>
            </a:r>
          </a:p>
          <a:p>
            <a:pPr marL="0" indent="0">
              <a:buNone/>
            </a:pPr>
            <a:r>
              <a:rPr lang="pt-BR" dirty="0"/>
              <a:t>SOMMERVILLE, I. </a:t>
            </a:r>
            <a:r>
              <a:rPr lang="pt-BR" b="1" dirty="0" err="1"/>
              <a:t>Engineering</a:t>
            </a:r>
            <a:r>
              <a:rPr lang="pt-BR" b="1" dirty="0"/>
              <a:t> software </a:t>
            </a:r>
            <a:r>
              <a:rPr lang="pt-BR" b="1" dirty="0" err="1"/>
              <a:t>products</a:t>
            </a:r>
            <a:r>
              <a:rPr lang="pt-BR" dirty="0"/>
              <a:t>: </a:t>
            </a:r>
            <a:r>
              <a:rPr lang="pt-BR" dirty="0" err="1"/>
              <a:t>an</a:t>
            </a:r>
            <a:r>
              <a:rPr lang="pt-BR" dirty="0"/>
              <a:t> </a:t>
            </a:r>
            <a:r>
              <a:rPr lang="pt-BR" dirty="0" err="1"/>
              <a:t>introduction</a:t>
            </a:r>
            <a:r>
              <a:rPr lang="pt-BR" dirty="0"/>
              <a:t> </a:t>
            </a:r>
            <a:r>
              <a:rPr lang="pt-BR" dirty="0" err="1"/>
              <a:t>to</a:t>
            </a:r>
            <a:r>
              <a:rPr lang="pt-BR" dirty="0"/>
              <a:t> </a:t>
            </a:r>
            <a:r>
              <a:rPr lang="pt-BR" dirty="0" err="1"/>
              <a:t>modern</a:t>
            </a:r>
            <a:r>
              <a:rPr lang="pt-BR" dirty="0"/>
              <a:t> software </a:t>
            </a:r>
            <a:r>
              <a:rPr lang="pt-BR" dirty="0" err="1"/>
              <a:t>engineering</a:t>
            </a:r>
            <a:r>
              <a:rPr lang="pt-BR" dirty="0"/>
              <a:t>. [</a:t>
            </a:r>
            <a:r>
              <a:rPr lang="pt-BR" dirty="0" err="1"/>
              <a:t>S.l</a:t>
            </a:r>
            <a:r>
              <a:rPr lang="pt-BR" dirty="0"/>
              <a:t>.]: Pearson, 2019.</a:t>
            </a:r>
          </a:p>
          <a:p>
            <a:pPr marL="0" indent="0">
              <a:buNone/>
            </a:pPr>
            <a:r>
              <a:rPr lang="pt-BR" dirty="0"/>
              <a:t>Bancos de imagens </a:t>
            </a:r>
            <a:r>
              <a:rPr lang="pt-BR" dirty="0" err="1"/>
              <a:t>Pexels</a:t>
            </a:r>
            <a:r>
              <a:rPr lang="pt-BR" dirty="0"/>
              <a:t>, </a:t>
            </a:r>
            <a:r>
              <a:rPr lang="pt-BR" dirty="0" err="1"/>
              <a:t>Pixabay</a:t>
            </a:r>
            <a:r>
              <a:rPr lang="pt-BR" dirty="0"/>
              <a:t>, </a:t>
            </a:r>
            <a:r>
              <a:rPr lang="pt-BR" dirty="0" err="1"/>
              <a:t>Envato</a:t>
            </a:r>
            <a:r>
              <a:rPr lang="pt-BR" dirty="0"/>
              <a:t>, </a:t>
            </a:r>
            <a:r>
              <a:rPr lang="pt-BR" dirty="0" err="1"/>
              <a:t>Freepik</a:t>
            </a:r>
            <a:r>
              <a:rPr lang="pt-BR" dirty="0"/>
              <a:t> e </a:t>
            </a:r>
            <a:r>
              <a:rPr lang="pt-BR" dirty="0" err="1"/>
              <a:t>Shutterstock</a:t>
            </a:r>
            <a:r>
              <a:rPr lang="pt-BR" dirty="0"/>
              <a:t>.</a:t>
            </a:r>
          </a:p>
          <a:p>
            <a:pPr marL="0" indent="0" algn="just">
              <a:lnSpc>
                <a:spcPct val="150000"/>
              </a:lnSpc>
              <a:spcBef>
                <a:spcPts val="1000"/>
              </a:spcBef>
              <a:buClr>
                <a:schemeClr val="accent1"/>
              </a:buClr>
              <a:buSzPct val="80000"/>
              <a:buNone/>
            </a:pPr>
            <a:endParaRPr lang="pt-BR" altLang="pt-BR" dirty="0">
              <a:solidFill>
                <a:srgbClr val="404040"/>
              </a:solidFill>
              <a:sym typeface="Gill Sans" charset="0"/>
            </a:endParaRPr>
          </a:p>
        </p:txBody>
      </p:sp>
    </p:spTree>
    <p:extLst>
      <p:ext uri="{BB962C8B-B14F-4D97-AF65-F5344CB8AC3E}">
        <p14:creationId xmlns:p14="http://schemas.microsoft.com/office/powerpoint/2010/main" val="2331474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0CABF-583F-37B9-5428-0F4ABA2ECD2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B7F877B-8359-C588-13A9-FB2C26B9A611}"/>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33766A49-F81F-01D9-B6BB-BFFA869FDCF6}"/>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5E92230E-1D6F-19BB-D919-2B0994B23873}"/>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44F6578D-7A05-2D51-5ECE-BDF3267A58D6}"/>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D5A46FD7-724C-F72C-F615-1CF5A78A6090}"/>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EF0B2926-2DFD-9FB8-180E-609DAC05DFF9}"/>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E94D3859-E96B-0365-7EDD-A8A6B9A35544}"/>
              </a:ext>
            </a:extLst>
          </p:cNvPr>
          <p:cNvSpPr txBox="1"/>
          <p:nvPr/>
        </p:nvSpPr>
        <p:spPr>
          <a:xfrm>
            <a:off x="2400588" y="1028700"/>
            <a:ext cx="12734254" cy="987450"/>
          </a:xfrm>
          <a:prstGeom prst="rect">
            <a:avLst/>
          </a:prstGeom>
        </p:spPr>
        <p:txBody>
          <a:bodyPr lIns="0" tIns="0" rIns="0" bIns="0" rtlCol="0" anchor="t">
            <a:spAutoFit/>
          </a:bodyPr>
          <a:lstStyle/>
          <a:p>
            <a:pPr>
              <a:lnSpc>
                <a:spcPts val="7677"/>
              </a:lnSpc>
            </a:pPr>
            <a:r>
              <a:rPr lang="pt-BR" sz="6398" b="1" noProof="0" dirty="0">
                <a:solidFill>
                  <a:srgbClr val="006232"/>
                </a:solidFill>
                <a:latin typeface=" Avenir Next Arabic Bold"/>
                <a:ea typeface=" Avenir Next Arabic Bold"/>
                <a:cs typeface=" Avenir Next Arabic Bold"/>
                <a:sym typeface=" Avenir Next Arabic Bold"/>
              </a:rPr>
              <a:t>Vamos praticar...</a:t>
            </a:r>
          </a:p>
        </p:txBody>
      </p:sp>
      <p:pic>
        <p:nvPicPr>
          <p:cNvPr id="12" name="Imagem 11">
            <a:extLst>
              <a:ext uri="{FF2B5EF4-FFF2-40B4-BE49-F238E27FC236}">
                <a16:creationId xmlns:a16="http://schemas.microsoft.com/office/drawing/2014/main" id="{285E117E-781A-D200-6037-0C4BF87112A1}"/>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D5E22D1A-9110-7447-0580-005558C90B4E}"/>
              </a:ext>
            </a:extLst>
          </p:cNvPr>
          <p:cNvSpPr txBox="1">
            <a:spLocks noChangeArrowheads="1"/>
          </p:cNvSpPr>
          <p:nvPr/>
        </p:nvSpPr>
        <p:spPr>
          <a:xfrm>
            <a:off x="1101885" y="2247900"/>
            <a:ext cx="16084201" cy="626467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pt-BR" noProof="0" dirty="0"/>
              <a:t>Com base num </a:t>
            </a:r>
            <a:r>
              <a:rPr lang="pt-BR" b="1" noProof="0" dirty="0"/>
              <a:t>problema real</a:t>
            </a:r>
            <a:r>
              <a:rPr lang="pt-BR" noProof="0" dirty="0"/>
              <a:t>, vocês deverão, </a:t>
            </a:r>
            <a:r>
              <a:rPr lang="pt-BR" u="sng" noProof="0" dirty="0"/>
              <a:t>descrever o problema</a:t>
            </a:r>
            <a:r>
              <a:rPr lang="pt-BR" noProof="0" dirty="0"/>
              <a:t>, como se fosse o cliente/usuário relatando a problemática e instituindo à vocês o desenvolvimento de uma solução.</a:t>
            </a:r>
          </a:p>
          <a:p>
            <a:pPr marL="0" indent="0" algn="just">
              <a:buNone/>
            </a:pPr>
            <a:endParaRPr lang="pt-BR" noProof="0" dirty="0"/>
          </a:p>
          <a:p>
            <a:pPr marL="0" indent="0" algn="just">
              <a:buNone/>
            </a:pPr>
            <a:r>
              <a:rPr lang="pt-BR" noProof="0" dirty="0">
                <a:highlight>
                  <a:srgbClr val="FFFF00"/>
                </a:highlight>
              </a:rPr>
              <a:t>Não esqueçam:</a:t>
            </a:r>
          </a:p>
          <a:p>
            <a:pPr marL="0" indent="0" algn="just">
              <a:buNone/>
            </a:pPr>
            <a:r>
              <a:rPr lang="pt-BR" noProof="0" dirty="0"/>
              <a:t>Agora, </a:t>
            </a:r>
            <a:r>
              <a:rPr lang="pt-BR" b="1" noProof="0" dirty="0"/>
              <a:t>vocês serão os clientes/usuários</a:t>
            </a:r>
            <a:r>
              <a:rPr lang="pt-BR" noProof="0" dirty="0"/>
              <a:t>.</a:t>
            </a:r>
          </a:p>
          <a:p>
            <a:pPr marL="0" indent="0" algn="just">
              <a:buNone/>
            </a:pPr>
            <a:endParaRPr lang="pt-BR" noProof="0" dirty="0"/>
          </a:p>
          <a:p>
            <a:pPr marL="0" indent="0" algn="just">
              <a:buNone/>
            </a:pPr>
            <a:r>
              <a:rPr lang="pt-BR" noProof="0" dirty="0"/>
              <a:t>Sejam criativos e traga um PROBLEMA REAL, seja da área financeira, gestão, hospitalar, educação, agronegócio, etc.</a:t>
            </a:r>
          </a:p>
          <a:p>
            <a:pPr algn="just">
              <a:lnSpc>
                <a:spcPct val="150000"/>
              </a:lnSpc>
              <a:buFont typeface="Courier New" panose="02070309020205020404" pitchFamily="49" charset="0"/>
              <a:buChar char="o"/>
            </a:pPr>
            <a:endParaRPr lang="pt-BR" dirty="0"/>
          </a:p>
          <a:p>
            <a:pPr marL="0" indent="0" algn="just">
              <a:lnSpc>
                <a:spcPct val="150000"/>
              </a:lnSpc>
              <a:buNone/>
            </a:pPr>
            <a:endParaRPr lang="pt-BR" noProof="0" dirty="0"/>
          </a:p>
          <a:p>
            <a:pPr marL="0" indent="0" algn="just">
              <a:lnSpc>
                <a:spcPct val="150000"/>
              </a:lnSpc>
              <a:buNone/>
            </a:pPr>
            <a:endParaRPr lang="pt-BR" noProof="0" dirty="0"/>
          </a:p>
          <a:p>
            <a:pPr marL="0" indent="0" algn="just">
              <a:lnSpc>
                <a:spcPct val="150000"/>
              </a:lnSpc>
              <a:buNone/>
            </a:pPr>
            <a:endParaRPr lang="pt-BR" noProof="0" dirty="0"/>
          </a:p>
        </p:txBody>
      </p:sp>
    </p:spTree>
    <p:extLst>
      <p:ext uri="{BB962C8B-B14F-4D97-AF65-F5344CB8AC3E}">
        <p14:creationId xmlns:p14="http://schemas.microsoft.com/office/powerpoint/2010/main" val="380714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082BC-78F8-CE3A-6741-64906047C55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76A32F-A19C-CE64-B27A-18D71DD30D18}"/>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30DE8A84-3BED-D132-7201-0BA800C77E5E}"/>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8AEB2324-4892-9A08-18E6-F2FAB6DF1963}"/>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EA8E8E9F-168C-D1A4-04D1-88CB42D61361}"/>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75ACE1A5-7926-B4E1-EAC4-8944FAF6CC66}"/>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8272FC0F-486D-9D27-BA4A-2F6E784A21D7}"/>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AD6AF5F5-352C-7581-0622-B54BFD24D352}"/>
              </a:ext>
            </a:extLst>
          </p:cNvPr>
          <p:cNvSpPr txBox="1"/>
          <p:nvPr/>
        </p:nvSpPr>
        <p:spPr>
          <a:xfrm>
            <a:off x="2400588" y="1028700"/>
            <a:ext cx="12734254" cy="987450"/>
          </a:xfrm>
          <a:prstGeom prst="rect">
            <a:avLst/>
          </a:prstGeom>
        </p:spPr>
        <p:txBody>
          <a:bodyPr lIns="0" tIns="0" rIns="0" bIns="0" rtlCol="0" anchor="t">
            <a:spAutoFit/>
          </a:bodyPr>
          <a:lstStyle/>
          <a:p>
            <a:pPr>
              <a:lnSpc>
                <a:spcPts val="7677"/>
              </a:lnSpc>
            </a:pPr>
            <a:r>
              <a:rPr lang="pt-BR" sz="6398" b="1" noProof="0" dirty="0">
                <a:solidFill>
                  <a:srgbClr val="006232"/>
                </a:solidFill>
                <a:latin typeface=" Avenir Next Arabic Bold"/>
                <a:ea typeface=" Avenir Next Arabic Bold"/>
                <a:cs typeface=" Avenir Next Arabic Bold"/>
                <a:sym typeface=" Avenir Next Arabic Bold"/>
              </a:rPr>
              <a:t>Vamos praticar...</a:t>
            </a:r>
          </a:p>
        </p:txBody>
      </p:sp>
      <p:pic>
        <p:nvPicPr>
          <p:cNvPr id="12" name="Imagem 11">
            <a:extLst>
              <a:ext uri="{FF2B5EF4-FFF2-40B4-BE49-F238E27FC236}">
                <a16:creationId xmlns:a16="http://schemas.microsoft.com/office/drawing/2014/main" id="{B61DA4DB-68C8-4578-1465-0D6D9A5B73F4}"/>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CB82C161-645C-D903-B044-DC7F7CE6D710}"/>
              </a:ext>
            </a:extLst>
          </p:cNvPr>
          <p:cNvSpPr txBox="1">
            <a:spLocks noChangeArrowheads="1"/>
          </p:cNvSpPr>
          <p:nvPr/>
        </p:nvSpPr>
        <p:spPr>
          <a:xfrm>
            <a:off x="1101885" y="2247900"/>
            <a:ext cx="16084201" cy="626467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None/>
              <a:defRPr/>
            </a:pPr>
            <a:r>
              <a:rPr lang="pt-BR" dirty="0">
                <a:effectLst>
                  <a:outerShdw blurRad="38100" dist="38100" dir="2700000" algn="tl">
                    <a:srgbClr val="000000">
                      <a:alpha val="43137"/>
                    </a:srgbClr>
                  </a:outerShdw>
                </a:effectLst>
              </a:rPr>
              <a:t>Etapa 1 (Brainstorming) – Requisitos de usuário</a:t>
            </a:r>
          </a:p>
          <a:p>
            <a:pPr marL="0" indent="0" algn="just">
              <a:lnSpc>
                <a:spcPct val="150000"/>
              </a:lnSpc>
              <a:buNone/>
              <a:defRPr/>
            </a:pPr>
            <a:r>
              <a:rPr lang="pt-BR" dirty="0"/>
              <a:t>Brainstorming é uma técnica que, por meio do </a:t>
            </a:r>
            <a:r>
              <a:rPr lang="pt-BR" b="1" dirty="0"/>
              <a:t>compartilhamento espontâneo de ideias</a:t>
            </a:r>
            <a:r>
              <a:rPr lang="pt-BR" dirty="0"/>
              <a:t>, </a:t>
            </a:r>
            <a:r>
              <a:rPr lang="pt-BR" u="sng" dirty="0"/>
              <a:t>busca encontrar a solução para um problema ou gerar insights de criatividade</a:t>
            </a:r>
            <a:r>
              <a:rPr lang="pt-BR" dirty="0"/>
              <a:t>. A ideia desse processo é dar vida à máxima “duas cabeças pensam melhor do que uma”.</a:t>
            </a:r>
          </a:p>
          <a:p>
            <a:pPr marL="0" indent="0" algn="just">
              <a:lnSpc>
                <a:spcPct val="150000"/>
              </a:lnSpc>
              <a:buNone/>
              <a:defRPr/>
            </a:pPr>
            <a:r>
              <a:rPr lang="pt-BR" dirty="0"/>
              <a:t>Sendo assim, é fundamental que o brainstorming envolva um número mais elevado de participantes, de preferência reunindo pessoas ativas que tragam perspectivas diferentes. Essa pluralidade de ideias é o pilar da técnica. </a:t>
            </a:r>
          </a:p>
          <a:p>
            <a:pPr marL="0" indent="0" algn="just">
              <a:lnSpc>
                <a:spcPct val="150000"/>
              </a:lnSpc>
              <a:buNone/>
              <a:defRPr/>
            </a:pPr>
            <a:r>
              <a:rPr lang="pt-BR" b="1" dirty="0"/>
              <a:t>* Escrever um cenário do tema definido pela equipe no brainstorming.</a:t>
            </a:r>
            <a:endParaRPr lang="pt-BR" sz="4800" b="1" dirty="0"/>
          </a:p>
          <a:p>
            <a:pPr algn="just">
              <a:lnSpc>
                <a:spcPct val="150000"/>
              </a:lnSpc>
              <a:buFont typeface="Courier New" panose="02070309020205020404" pitchFamily="49" charset="0"/>
              <a:buChar char="o"/>
            </a:pPr>
            <a:endParaRPr lang="pt-BR" dirty="0"/>
          </a:p>
          <a:p>
            <a:pPr marL="0" indent="0" algn="just">
              <a:lnSpc>
                <a:spcPct val="150000"/>
              </a:lnSpc>
              <a:buNone/>
            </a:pPr>
            <a:endParaRPr lang="pt-BR" noProof="0" dirty="0"/>
          </a:p>
          <a:p>
            <a:pPr marL="0" indent="0" algn="just">
              <a:lnSpc>
                <a:spcPct val="150000"/>
              </a:lnSpc>
              <a:buNone/>
            </a:pPr>
            <a:endParaRPr lang="pt-BR" noProof="0" dirty="0"/>
          </a:p>
          <a:p>
            <a:pPr marL="0" indent="0" algn="just">
              <a:lnSpc>
                <a:spcPct val="150000"/>
              </a:lnSpc>
              <a:buNone/>
            </a:pPr>
            <a:endParaRPr lang="pt-BR" noProof="0" dirty="0"/>
          </a:p>
        </p:txBody>
      </p:sp>
    </p:spTree>
    <p:extLst>
      <p:ext uri="{BB962C8B-B14F-4D97-AF65-F5344CB8AC3E}">
        <p14:creationId xmlns:p14="http://schemas.microsoft.com/office/powerpoint/2010/main" val="942287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70065-BBAB-5ED0-59E5-5229541BB4E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DC40794-B8A8-064B-AAB0-2B9F9E92C5D9}"/>
              </a:ext>
            </a:extLst>
          </p:cNvPr>
          <p:cNvGrpSpPr>
            <a:grpSpLocks noChangeAspect="1"/>
          </p:cNvGrpSpPr>
          <p:nvPr/>
        </p:nvGrpSpPr>
        <p:grpSpPr>
          <a:xfrm>
            <a:off x="0" y="8671566"/>
            <a:ext cx="3810000" cy="1615432"/>
            <a:chOff x="0" y="0"/>
            <a:chExt cx="5504522" cy="2333906"/>
          </a:xfrm>
        </p:grpSpPr>
        <p:sp>
          <p:nvSpPr>
            <p:cNvPr id="3" name="Freeform 3" descr="Padrão do plano de fundo  Descrição gerada automaticamente">
              <a:extLst>
                <a:ext uri="{FF2B5EF4-FFF2-40B4-BE49-F238E27FC236}">
                  <a16:creationId xmlns:a16="http://schemas.microsoft.com/office/drawing/2014/main" id="{65017327-7D56-6287-D6AB-2DE5CE0D123A}"/>
                </a:ext>
              </a:extLst>
            </p:cNvPr>
            <p:cNvSpPr/>
            <p:nvPr/>
          </p:nvSpPr>
          <p:spPr>
            <a:xfrm>
              <a:off x="0" y="0"/>
              <a:ext cx="5504561" cy="2333879"/>
            </a:xfrm>
            <a:custGeom>
              <a:avLst/>
              <a:gdLst/>
              <a:ahLst/>
              <a:cxnLst/>
              <a:rect l="l" t="t" r="r" b="b"/>
              <a:pathLst>
                <a:path w="5504561" h="2333879">
                  <a:moveTo>
                    <a:pt x="0" y="0"/>
                  </a:moveTo>
                  <a:lnTo>
                    <a:pt x="5504561" y="0"/>
                  </a:lnTo>
                  <a:lnTo>
                    <a:pt x="5504561" y="2333879"/>
                  </a:lnTo>
                  <a:lnTo>
                    <a:pt x="0" y="2333879"/>
                  </a:lnTo>
                  <a:lnTo>
                    <a:pt x="0" y="0"/>
                  </a:lnTo>
                  <a:close/>
                </a:path>
              </a:pathLst>
            </a:custGeom>
            <a:blipFill>
              <a:blip r:embed="rId2"/>
              <a:stretch>
                <a:fillRect l="-2" r="-1" b="-1"/>
              </a:stretch>
            </a:blipFill>
          </p:spPr>
          <p:txBody>
            <a:bodyPr/>
            <a:lstStyle/>
            <a:p>
              <a:endParaRPr lang="pt-BR" noProof="0" dirty="0"/>
            </a:p>
          </p:txBody>
        </p:sp>
      </p:grpSp>
      <p:grpSp>
        <p:nvGrpSpPr>
          <p:cNvPr id="4" name="Group 4">
            <a:extLst>
              <a:ext uri="{FF2B5EF4-FFF2-40B4-BE49-F238E27FC236}">
                <a16:creationId xmlns:a16="http://schemas.microsoft.com/office/drawing/2014/main" id="{2286A392-86E3-D3B9-AD1E-D5750CDAA94C}"/>
              </a:ext>
            </a:extLst>
          </p:cNvPr>
          <p:cNvGrpSpPr>
            <a:grpSpLocks noChangeAspect="1"/>
          </p:cNvGrpSpPr>
          <p:nvPr/>
        </p:nvGrpSpPr>
        <p:grpSpPr>
          <a:xfrm>
            <a:off x="1101885" y="1973404"/>
            <a:ext cx="16084230" cy="52450"/>
            <a:chOff x="0" y="0"/>
            <a:chExt cx="21445640" cy="69934"/>
          </a:xfrm>
        </p:grpSpPr>
        <p:sp>
          <p:nvSpPr>
            <p:cNvPr id="5" name="Freeform 5">
              <a:extLst>
                <a:ext uri="{FF2B5EF4-FFF2-40B4-BE49-F238E27FC236}">
                  <a16:creationId xmlns:a16="http://schemas.microsoft.com/office/drawing/2014/main" id="{60C340B7-F880-EF28-FB69-3F72A46C84CC}"/>
                </a:ext>
              </a:extLst>
            </p:cNvPr>
            <p:cNvSpPr/>
            <p:nvPr/>
          </p:nvSpPr>
          <p:spPr>
            <a:xfrm>
              <a:off x="0" y="0"/>
              <a:ext cx="21445601" cy="69977"/>
            </a:xfrm>
            <a:custGeom>
              <a:avLst/>
              <a:gdLst/>
              <a:ahLst/>
              <a:cxnLst/>
              <a:rect l="l" t="t" r="r" b="b"/>
              <a:pathLst>
                <a:path w="21445601" h="69977">
                  <a:moveTo>
                    <a:pt x="0" y="0"/>
                  </a:moveTo>
                  <a:lnTo>
                    <a:pt x="21445601" y="0"/>
                  </a:lnTo>
                  <a:lnTo>
                    <a:pt x="21445601" y="69977"/>
                  </a:lnTo>
                  <a:lnTo>
                    <a:pt x="0" y="69977"/>
                  </a:lnTo>
                  <a:lnTo>
                    <a:pt x="0" y="0"/>
                  </a:lnTo>
                  <a:close/>
                </a:path>
              </a:pathLst>
            </a:custGeom>
            <a:blipFill>
              <a:blip r:embed="rId3"/>
              <a:stretch>
                <a:fillRect l="-3666" r="-3666" b="61"/>
              </a:stretch>
            </a:blipFill>
          </p:spPr>
          <p:txBody>
            <a:bodyPr/>
            <a:lstStyle/>
            <a:p>
              <a:endParaRPr lang="pt-BR" noProof="0" dirty="0"/>
            </a:p>
          </p:txBody>
        </p:sp>
      </p:grpSp>
      <p:grpSp>
        <p:nvGrpSpPr>
          <p:cNvPr id="9" name="Group 9">
            <a:extLst>
              <a:ext uri="{FF2B5EF4-FFF2-40B4-BE49-F238E27FC236}">
                <a16:creationId xmlns:a16="http://schemas.microsoft.com/office/drawing/2014/main" id="{332BEDB5-5768-52D5-3D41-C494FEB06514}"/>
              </a:ext>
            </a:extLst>
          </p:cNvPr>
          <p:cNvGrpSpPr>
            <a:grpSpLocks noChangeAspect="1"/>
          </p:cNvGrpSpPr>
          <p:nvPr/>
        </p:nvGrpSpPr>
        <p:grpSpPr>
          <a:xfrm>
            <a:off x="14878878" y="9022594"/>
            <a:ext cx="2307237" cy="983879"/>
            <a:chOff x="0" y="0"/>
            <a:chExt cx="3076316" cy="1311838"/>
          </a:xfrm>
        </p:grpSpPr>
        <p:sp>
          <p:nvSpPr>
            <p:cNvPr id="10" name="Freeform 10">
              <a:extLst>
                <a:ext uri="{FF2B5EF4-FFF2-40B4-BE49-F238E27FC236}">
                  <a16:creationId xmlns:a16="http://schemas.microsoft.com/office/drawing/2014/main" id="{5B1A194A-53CF-F2B3-A069-D3631D45AE93}"/>
                </a:ext>
              </a:extLst>
            </p:cNvPr>
            <p:cNvSpPr/>
            <p:nvPr/>
          </p:nvSpPr>
          <p:spPr>
            <a:xfrm>
              <a:off x="0" y="0"/>
              <a:ext cx="3076321" cy="1311783"/>
            </a:xfrm>
            <a:custGeom>
              <a:avLst/>
              <a:gdLst/>
              <a:ahLst/>
              <a:cxnLst/>
              <a:rect l="l" t="t" r="r" b="b"/>
              <a:pathLst>
                <a:path w="3076321" h="1311783">
                  <a:moveTo>
                    <a:pt x="0" y="0"/>
                  </a:moveTo>
                  <a:lnTo>
                    <a:pt x="3076321" y="0"/>
                  </a:lnTo>
                  <a:lnTo>
                    <a:pt x="3076321" y="1311783"/>
                  </a:lnTo>
                  <a:lnTo>
                    <a:pt x="0" y="1311783"/>
                  </a:lnTo>
                  <a:lnTo>
                    <a:pt x="0" y="0"/>
                  </a:lnTo>
                  <a:close/>
                </a:path>
              </a:pathLst>
            </a:custGeom>
            <a:blipFill>
              <a:blip r:embed="rId4"/>
              <a:stretch>
                <a:fillRect t="-127" b="-132"/>
              </a:stretch>
            </a:blipFill>
          </p:spPr>
          <p:txBody>
            <a:bodyPr/>
            <a:lstStyle/>
            <a:p>
              <a:endParaRPr lang="pt-BR" noProof="0" dirty="0"/>
            </a:p>
          </p:txBody>
        </p:sp>
      </p:grpSp>
      <p:sp>
        <p:nvSpPr>
          <p:cNvPr id="11" name="TextBox 8">
            <a:extLst>
              <a:ext uri="{FF2B5EF4-FFF2-40B4-BE49-F238E27FC236}">
                <a16:creationId xmlns:a16="http://schemas.microsoft.com/office/drawing/2014/main" id="{EC75D9E9-87CC-BF19-4B4F-11034A4B1101}"/>
              </a:ext>
            </a:extLst>
          </p:cNvPr>
          <p:cNvSpPr txBox="1"/>
          <p:nvPr/>
        </p:nvSpPr>
        <p:spPr>
          <a:xfrm>
            <a:off x="2400588" y="1028700"/>
            <a:ext cx="12734254" cy="987450"/>
          </a:xfrm>
          <a:prstGeom prst="rect">
            <a:avLst/>
          </a:prstGeom>
        </p:spPr>
        <p:txBody>
          <a:bodyPr lIns="0" tIns="0" rIns="0" bIns="0" rtlCol="0" anchor="t">
            <a:spAutoFit/>
          </a:bodyPr>
          <a:lstStyle/>
          <a:p>
            <a:pPr>
              <a:lnSpc>
                <a:spcPts val="7677"/>
              </a:lnSpc>
            </a:pPr>
            <a:r>
              <a:rPr lang="pt-BR" sz="6398" b="1" noProof="0" dirty="0">
                <a:solidFill>
                  <a:srgbClr val="006232"/>
                </a:solidFill>
                <a:latin typeface=" Avenir Next Arabic Bold"/>
                <a:ea typeface=" Avenir Next Arabic Bold"/>
                <a:cs typeface=" Avenir Next Arabic Bold"/>
                <a:sym typeface=" Avenir Next Arabic Bold"/>
              </a:rPr>
              <a:t>Vamos praticar...</a:t>
            </a:r>
          </a:p>
        </p:txBody>
      </p:sp>
      <p:pic>
        <p:nvPicPr>
          <p:cNvPr id="12" name="Imagem 11">
            <a:extLst>
              <a:ext uri="{FF2B5EF4-FFF2-40B4-BE49-F238E27FC236}">
                <a16:creationId xmlns:a16="http://schemas.microsoft.com/office/drawing/2014/main" id="{21D21E06-3144-8C6A-3BB5-90DE663205F1}"/>
              </a:ext>
            </a:extLst>
          </p:cNvPr>
          <p:cNvPicPr>
            <a:picLocks noChangeAspect="1"/>
          </p:cNvPicPr>
          <p:nvPr/>
        </p:nvPicPr>
        <p:blipFill>
          <a:blip r:embed="rId5"/>
          <a:stretch>
            <a:fillRect/>
          </a:stretch>
        </p:blipFill>
        <p:spPr>
          <a:xfrm>
            <a:off x="1143000" y="1024968"/>
            <a:ext cx="930247" cy="841932"/>
          </a:xfrm>
          <a:prstGeom prst="rect">
            <a:avLst/>
          </a:prstGeom>
        </p:spPr>
      </p:pic>
      <p:sp>
        <p:nvSpPr>
          <p:cNvPr id="6" name="Rectangle 3">
            <a:extLst>
              <a:ext uri="{FF2B5EF4-FFF2-40B4-BE49-F238E27FC236}">
                <a16:creationId xmlns:a16="http://schemas.microsoft.com/office/drawing/2014/main" id="{782E66D8-5ED1-C91C-A79A-3FB0BF360840}"/>
              </a:ext>
            </a:extLst>
          </p:cNvPr>
          <p:cNvSpPr txBox="1">
            <a:spLocks noChangeArrowheads="1"/>
          </p:cNvSpPr>
          <p:nvPr/>
        </p:nvSpPr>
        <p:spPr>
          <a:xfrm>
            <a:off x="1101885" y="2247900"/>
            <a:ext cx="16084201" cy="626467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None/>
              <a:defRPr/>
            </a:pPr>
            <a:r>
              <a:rPr lang="pt-BR" dirty="0">
                <a:effectLst>
                  <a:outerShdw blurRad="38100" dist="38100" dir="2700000" algn="tl">
                    <a:srgbClr val="000000">
                      <a:alpha val="43137"/>
                    </a:srgbClr>
                  </a:outerShdw>
                </a:effectLst>
              </a:rPr>
              <a:t>Etapa 2 (Identificar requisitos) – Requisitos de sistema</a:t>
            </a:r>
          </a:p>
          <a:p>
            <a:pPr marL="0" indent="0">
              <a:lnSpc>
                <a:spcPct val="150000"/>
              </a:lnSpc>
              <a:buNone/>
              <a:defRPr/>
            </a:pPr>
            <a:r>
              <a:rPr lang="pt-BR" dirty="0"/>
              <a:t>A partir do brainstorming elaborado anteriormente, as equipes deverão se concentrar em criar soluções, desenvolver requisitos para atender ao problema levantado no brainstorming.</a:t>
            </a:r>
          </a:p>
          <a:p>
            <a:pPr marL="0" indent="0">
              <a:lnSpc>
                <a:spcPct val="150000"/>
              </a:lnSpc>
              <a:buNone/>
              <a:defRPr/>
            </a:pPr>
            <a:r>
              <a:rPr lang="pt-BR" dirty="0">
                <a:effectLst>
                  <a:outerShdw blurRad="38100" dist="38100" dir="2700000" algn="tl">
                    <a:srgbClr val="000000">
                      <a:alpha val="43137"/>
                    </a:srgbClr>
                  </a:outerShdw>
                </a:effectLst>
              </a:rPr>
              <a:t>*Escrever 5 requisitos, relacionados ao cenário definido pela equipe.</a:t>
            </a:r>
          </a:p>
          <a:p>
            <a:pPr marL="0" indent="0">
              <a:lnSpc>
                <a:spcPct val="150000"/>
              </a:lnSpc>
              <a:buNone/>
              <a:defRPr/>
            </a:pPr>
            <a:endParaRPr lang="pt-BR" dirty="0">
              <a:effectLst>
                <a:outerShdw blurRad="38100" dist="38100" dir="2700000" algn="tl">
                  <a:srgbClr val="000000">
                    <a:alpha val="43137"/>
                  </a:srgbClr>
                </a:outerShdw>
              </a:effectLst>
            </a:endParaRPr>
          </a:p>
          <a:p>
            <a:pPr marL="2951163" indent="0">
              <a:lnSpc>
                <a:spcPct val="150000"/>
              </a:lnSpc>
              <a:buNone/>
              <a:defRPr/>
            </a:pPr>
            <a:r>
              <a:rPr lang="pt-BR" dirty="0">
                <a:effectLst>
                  <a:outerShdw blurRad="38100" dist="38100" dir="2700000" algn="tl">
                    <a:srgbClr val="000000">
                      <a:alpha val="43137"/>
                    </a:srgbClr>
                  </a:outerShdw>
                </a:effectLst>
              </a:rPr>
              <a:t>Exemplos:</a:t>
            </a:r>
          </a:p>
          <a:p>
            <a:pPr marL="2951163" indent="0">
              <a:lnSpc>
                <a:spcPct val="150000"/>
              </a:lnSpc>
              <a:buFontTx/>
              <a:buChar char="-"/>
              <a:defRPr/>
            </a:pPr>
            <a:r>
              <a:rPr lang="pt-BR" sz="2400" dirty="0">
                <a:effectLst>
                  <a:outerShdw blurRad="38100" dist="38100" dir="2700000" algn="tl">
                    <a:srgbClr val="000000">
                      <a:alpha val="43137"/>
                    </a:srgbClr>
                  </a:outerShdw>
                </a:effectLst>
              </a:rPr>
              <a:t>O sistema deverá ter um cadastro de clientes.</a:t>
            </a:r>
          </a:p>
          <a:p>
            <a:pPr marL="2951163" indent="0">
              <a:lnSpc>
                <a:spcPct val="150000"/>
              </a:lnSpc>
              <a:buFontTx/>
              <a:buChar char="-"/>
              <a:defRPr/>
            </a:pPr>
            <a:r>
              <a:rPr lang="pt-BR" sz="2400" dirty="0">
                <a:effectLst>
                  <a:outerShdw blurRad="38100" dist="38100" dir="2700000" algn="tl">
                    <a:srgbClr val="000000">
                      <a:alpha val="43137"/>
                    </a:srgbClr>
                  </a:outerShdw>
                </a:effectLst>
              </a:rPr>
              <a:t>O sistema deverá ter autenticação com usuário e senha.</a:t>
            </a:r>
          </a:p>
          <a:p>
            <a:pPr marL="2951163" indent="0">
              <a:lnSpc>
                <a:spcPct val="150000"/>
              </a:lnSpc>
              <a:buFontTx/>
              <a:buChar char="-"/>
              <a:defRPr/>
            </a:pPr>
            <a:r>
              <a:rPr lang="pt-BR" sz="2400" dirty="0">
                <a:effectLst>
                  <a:outerShdw blurRad="38100" dist="38100" dir="2700000" algn="tl">
                    <a:srgbClr val="000000">
                      <a:alpha val="43137"/>
                    </a:srgbClr>
                  </a:outerShdw>
                </a:effectLst>
              </a:rPr>
              <a:t>O sistema deverá ter telas intuitivas e de fácil aprendizagem.</a:t>
            </a:r>
          </a:p>
          <a:p>
            <a:pPr marL="2951163" indent="0">
              <a:lnSpc>
                <a:spcPct val="150000"/>
              </a:lnSpc>
              <a:buFontTx/>
              <a:buChar char="-"/>
              <a:defRPr/>
            </a:pPr>
            <a:r>
              <a:rPr lang="pt-BR" sz="2400" dirty="0">
                <a:effectLst>
                  <a:outerShdw blurRad="38100" dist="38100" dir="2700000" algn="tl">
                    <a:srgbClr val="000000">
                      <a:alpha val="43137"/>
                    </a:srgbClr>
                  </a:outerShdw>
                </a:effectLst>
              </a:rPr>
              <a:t>O sistema deverá ter um controle de estoque.</a:t>
            </a:r>
          </a:p>
          <a:p>
            <a:pPr algn="just">
              <a:lnSpc>
                <a:spcPct val="150000"/>
              </a:lnSpc>
              <a:buFont typeface="Courier New" panose="02070309020205020404" pitchFamily="49" charset="0"/>
              <a:buChar char="o"/>
            </a:pPr>
            <a:endParaRPr lang="pt-BR" dirty="0"/>
          </a:p>
          <a:p>
            <a:pPr marL="0" indent="0" algn="just">
              <a:lnSpc>
                <a:spcPct val="150000"/>
              </a:lnSpc>
              <a:buNone/>
            </a:pPr>
            <a:endParaRPr lang="pt-BR" noProof="0" dirty="0"/>
          </a:p>
          <a:p>
            <a:pPr marL="0" indent="0" algn="just">
              <a:lnSpc>
                <a:spcPct val="150000"/>
              </a:lnSpc>
              <a:buNone/>
            </a:pPr>
            <a:endParaRPr lang="pt-BR" noProof="0" dirty="0"/>
          </a:p>
          <a:p>
            <a:pPr marL="0" indent="0" algn="just">
              <a:lnSpc>
                <a:spcPct val="150000"/>
              </a:lnSpc>
              <a:buNone/>
            </a:pPr>
            <a:endParaRPr lang="pt-BR" noProof="0" dirty="0"/>
          </a:p>
        </p:txBody>
      </p:sp>
    </p:spTree>
    <p:extLst>
      <p:ext uri="{BB962C8B-B14F-4D97-AF65-F5344CB8AC3E}">
        <p14:creationId xmlns:p14="http://schemas.microsoft.com/office/powerpoint/2010/main" val="711022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9723948" y="-89900"/>
            <a:ext cx="8567888" cy="10404268"/>
            <a:chOff x="0" y="0"/>
            <a:chExt cx="11423850" cy="13872358"/>
          </a:xfrm>
        </p:grpSpPr>
        <p:sp>
          <p:nvSpPr>
            <p:cNvPr id="3" name="Freeform 3" descr="Forma  Descrição gerada automaticamente"/>
            <p:cNvSpPr/>
            <p:nvPr/>
          </p:nvSpPr>
          <p:spPr>
            <a:xfrm>
              <a:off x="0" y="0"/>
              <a:ext cx="11423904" cy="13872338"/>
            </a:xfrm>
            <a:custGeom>
              <a:avLst/>
              <a:gdLst/>
              <a:ahLst/>
              <a:cxnLst/>
              <a:rect l="l" t="t" r="r" b="b"/>
              <a:pathLst>
                <a:path w="11423904" h="13872338">
                  <a:moveTo>
                    <a:pt x="0" y="0"/>
                  </a:moveTo>
                  <a:lnTo>
                    <a:pt x="11423904" y="0"/>
                  </a:lnTo>
                  <a:lnTo>
                    <a:pt x="11423904" y="13872338"/>
                  </a:lnTo>
                  <a:lnTo>
                    <a:pt x="0" y="13872338"/>
                  </a:lnTo>
                  <a:lnTo>
                    <a:pt x="0" y="0"/>
                  </a:lnTo>
                  <a:close/>
                </a:path>
              </a:pathLst>
            </a:custGeom>
            <a:blipFill>
              <a:blip r:embed="rId2"/>
              <a:stretch>
                <a:fillRect r="-3164" b="-4326"/>
              </a:stretch>
            </a:blipFill>
          </p:spPr>
          <p:txBody>
            <a:bodyPr/>
            <a:lstStyle/>
            <a:p>
              <a:endParaRPr lang="pt-BR" noProof="0" dirty="0"/>
            </a:p>
          </p:txBody>
        </p:sp>
      </p:grpSp>
      <p:sp>
        <p:nvSpPr>
          <p:cNvPr id="4" name="TextBox 4"/>
          <p:cNvSpPr txBox="1"/>
          <p:nvPr/>
        </p:nvSpPr>
        <p:spPr>
          <a:xfrm>
            <a:off x="1538638" y="1482042"/>
            <a:ext cx="9553178" cy="2272575"/>
          </a:xfrm>
          <a:prstGeom prst="rect">
            <a:avLst/>
          </a:prstGeom>
        </p:spPr>
        <p:txBody>
          <a:bodyPr lIns="0" tIns="0" rIns="0" bIns="0" rtlCol="0" anchor="t">
            <a:spAutoFit/>
          </a:bodyPr>
          <a:lstStyle/>
          <a:p>
            <a:pPr algn="l">
              <a:lnSpc>
                <a:spcPts val="4320"/>
              </a:lnSpc>
            </a:pPr>
            <a:r>
              <a:rPr lang="pt-BR" sz="3600" b="1" noProof="0" dirty="0">
                <a:solidFill>
                  <a:srgbClr val="006232"/>
                </a:solidFill>
                <a:latin typeface=" Avenir Next Arabic Bold"/>
                <a:ea typeface=" Avenir Next Arabic Bold"/>
                <a:cs typeface=" Avenir Next Arabic Bold"/>
                <a:sym typeface=" Avenir Next Arabic Bold"/>
              </a:rPr>
              <a:t>Profª Mª Chaiene M. da Silva Minella</a:t>
            </a:r>
          </a:p>
          <a:p>
            <a:pPr algn="l">
              <a:lnSpc>
                <a:spcPts val="4320"/>
              </a:lnSpc>
            </a:pPr>
            <a:r>
              <a:rPr lang="pt-BR" sz="3600" noProof="0" dirty="0">
                <a:solidFill>
                  <a:srgbClr val="006232"/>
                </a:solidFill>
                <a:latin typeface=" Avenir Next Arabic"/>
                <a:ea typeface=" Avenir Next Arabic"/>
                <a:cs typeface=" Avenir Next Arabic"/>
                <a:sym typeface=" Avenir Next Arabic"/>
              </a:rPr>
              <a:t>Engetec | Engenharia de Software</a:t>
            </a:r>
          </a:p>
          <a:p>
            <a:pPr algn="l">
              <a:lnSpc>
                <a:spcPts val="4320"/>
              </a:lnSpc>
            </a:pPr>
            <a:r>
              <a:rPr lang="pt-BR" sz="3600" noProof="0" dirty="0">
                <a:solidFill>
                  <a:srgbClr val="006232"/>
                </a:solidFill>
                <a:latin typeface=" Avenir Next Arabic"/>
                <a:ea typeface=" Avenir Next Arabic"/>
                <a:cs typeface=" Avenir Next Arabic"/>
                <a:sym typeface=" Avenir Next Arabic"/>
              </a:rPr>
              <a:t>chaiene.minella@univille.br</a:t>
            </a:r>
          </a:p>
          <a:p>
            <a:pPr algn="l">
              <a:lnSpc>
                <a:spcPts val="4320"/>
              </a:lnSpc>
            </a:pPr>
            <a:endParaRPr lang="pt-BR" sz="3600" noProof="0" dirty="0">
              <a:solidFill>
                <a:srgbClr val="006232"/>
              </a:solidFill>
              <a:latin typeface=" Avenir Next Arabic"/>
              <a:ea typeface=" Avenir Next Arabic"/>
              <a:cs typeface=" Avenir Next Arabic"/>
              <a:sym typeface=" Avenir Next Arabic"/>
            </a:endParaRPr>
          </a:p>
        </p:txBody>
      </p:sp>
      <p:grpSp>
        <p:nvGrpSpPr>
          <p:cNvPr id="5" name="Group 5"/>
          <p:cNvGrpSpPr>
            <a:grpSpLocks noChangeAspect="1"/>
          </p:cNvGrpSpPr>
          <p:nvPr/>
        </p:nvGrpSpPr>
        <p:grpSpPr>
          <a:xfrm>
            <a:off x="1496432" y="7171805"/>
            <a:ext cx="4362687" cy="1861867"/>
            <a:chOff x="0" y="0"/>
            <a:chExt cx="5816916" cy="2482490"/>
          </a:xfrm>
        </p:grpSpPr>
        <p:sp>
          <p:nvSpPr>
            <p:cNvPr id="6" name="Freeform 6"/>
            <p:cNvSpPr/>
            <p:nvPr/>
          </p:nvSpPr>
          <p:spPr>
            <a:xfrm>
              <a:off x="0" y="0"/>
              <a:ext cx="5816854" cy="2482469"/>
            </a:xfrm>
            <a:custGeom>
              <a:avLst/>
              <a:gdLst/>
              <a:ahLst/>
              <a:cxnLst/>
              <a:rect l="l" t="t" r="r" b="b"/>
              <a:pathLst>
                <a:path w="5816854" h="2482469">
                  <a:moveTo>
                    <a:pt x="0" y="0"/>
                  </a:moveTo>
                  <a:lnTo>
                    <a:pt x="5816854" y="0"/>
                  </a:lnTo>
                  <a:lnTo>
                    <a:pt x="5816854" y="2482469"/>
                  </a:lnTo>
                  <a:lnTo>
                    <a:pt x="0" y="2482469"/>
                  </a:lnTo>
                  <a:lnTo>
                    <a:pt x="0" y="0"/>
                  </a:lnTo>
                  <a:close/>
                </a:path>
              </a:pathLst>
            </a:custGeom>
            <a:blipFill>
              <a:blip r:embed="rId3"/>
              <a:stretch>
                <a:fillRect t="-88" r="-1" b="-88"/>
              </a:stretch>
            </a:blipFill>
          </p:spPr>
          <p:txBody>
            <a:bodyPr/>
            <a:lstStyle/>
            <a:p>
              <a:endParaRPr lang="pt-BR" noProof="0"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57fe0ac9-f7f7-4580-8b30-5aa7f0ac8e3b}" enabled="0" method="" siteId="{57fe0ac9-f7f7-4580-8b30-5aa7f0ac8e3b}" removed="1"/>
</clbl:labelList>
</file>

<file path=docProps/app.xml><?xml version="1.0" encoding="utf-8"?>
<Properties xmlns="http://schemas.openxmlformats.org/officeDocument/2006/extended-properties" xmlns:vt="http://schemas.openxmlformats.org/officeDocument/2006/docPropsVTypes">
  <TotalTime>167</TotalTime>
  <Words>1240</Words>
  <Application>Microsoft Office PowerPoint</Application>
  <PresentationFormat>Personalizar</PresentationFormat>
  <Paragraphs>87</Paragraphs>
  <Slides>20</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20</vt:i4>
      </vt:variant>
    </vt:vector>
  </HeadingPairs>
  <TitlesOfParts>
    <vt:vector size="27" baseType="lpstr">
      <vt:lpstr> Avenir Next Arabic Bold</vt:lpstr>
      <vt:lpstr>Arial</vt:lpstr>
      <vt:lpstr>Gill Sans</vt:lpstr>
      <vt:lpstr> Avenir Next Arabic</vt:lpstr>
      <vt:lpstr>Courier New</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Template_Univille 60 anos.pptx</dc:title>
  <dc:creator>Chaiene</dc:creator>
  <cp:lastModifiedBy>Sala de Aula</cp:lastModifiedBy>
  <cp:revision>4</cp:revision>
  <dcterms:created xsi:type="dcterms:W3CDTF">2006-08-16T00:00:00Z</dcterms:created>
  <dcterms:modified xsi:type="dcterms:W3CDTF">2026-08-19T11:35:12Z</dcterms:modified>
  <dc:identifier>DAGtVIDxolU</dc:identifier>
</cp:coreProperties>
</file>