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notesMasterIdLst>
    <p:notesMasterId r:id="rId26"/>
  </p:notesMasterIdLst>
  <p:sldIdLst>
    <p:sldId id="256" r:id="rId2"/>
    <p:sldId id="257" r:id="rId3"/>
    <p:sldId id="655" r:id="rId4"/>
    <p:sldId id="656" r:id="rId5"/>
    <p:sldId id="657" r:id="rId6"/>
    <p:sldId id="636" r:id="rId7"/>
    <p:sldId id="659" r:id="rId8"/>
    <p:sldId id="660" r:id="rId9"/>
    <p:sldId id="661" r:id="rId10"/>
    <p:sldId id="662" r:id="rId11"/>
    <p:sldId id="663" r:id="rId12"/>
    <p:sldId id="664" r:id="rId13"/>
    <p:sldId id="665" r:id="rId14"/>
    <p:sldId id="666" r:id="rId15"/>
    <p:sldId id="667" r:id="rId16"/>
    <p:sldId id="668" r:id="rId17"/>
    <p:sldId id="669" r:id="rId18"/>
    <p:sldId id="670" r:id="rId19"/>
    <p:sldId id="671" r:id="rId20"/>
    <p:sldId id="672" r:id="rId21"/>
    <p:sldId id="673" r:id="rId22"/>
    <p:sldId id="674" r:id="rId23"/>
    <p:sldId id="675" r:id="rId24"/>
    <p:sldId id="25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F978A-234F-4F99-B9BC-FAED144A7F23}" v="1" dt="2026-07-27T15:04:59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custSel delSld modSld">
      <pc:chgData name="CHAIENE MERCEDES DA SILVA MINELLA" userId="03c40756-137a-4d89-92ad-627326a1a7b4" providerId="ADAL" clId="{B70A75BF-988A-4E24-A962-02E599989989}" dt="2026-07-27T15:04:59.512" v="25" actId="1076"/>
      <pc:docMkLst>
        <pc:docMk/>
      </pc:docMkLst>
      <pc:sldChg chg="addSp delSp modSp mod">
        <pc:chgData name="CHAIENE MERCEDES DA SILVA MINELLA" userId="03c40756-137a-4d89-92ad-627326a1a7b4" providerId="ADAL" clId="{B70A75BF-988A-4E24-A962-02E599989989}" dt="2026-07-27T15:04:59.512" v="25" actId="1076"/>
        <pc:sldMkLst>
          <pc:docMk/>
          <pc:sldMk cId="2304298072" sldId="675"/>
        </pc:sldMkLst>
        <pc:grpChg chg="del">
          <ac:chgData name="CHAIENE MERCEDES DA SILVA MINELLA" userId="03c40756-137a-4d89-92ad-627326a1a7b4" providerId="ADAL" clId="{B70A75BF-988A-4E24-A962-02E599989989}" dt="2026-07-27T15:04:56.402" v="23" actId="478"/>
          <ac:grpSpMkLst>
            <pc:docMk/>
            <pc:sldMk cId="2304298072" sldId="675"/>
            <ac:grpSpMk id="11" creationId="{3875DE93-7725-B8EB-4D87-D0E5462176FA}"/>
          </ac:grpSpMkLst>
        </pc:grpChg>
        <pc:picChg chg="add mod">
          <ac:chgData name="CHAIENE MERCEDES DA SILVA MINELLA" userId="03c40756-137a-4d89-92ad-627326a1a7b4" providerId="ADAL" clId="{B70A75BF-988A-4E24-A962-02E599989989}" dt="2026-07-27T15:04:59.512" v="25" actId="1076"/>
          <ac:picMkLst>
            <pc:docMk/>
            <pc:sldMk cId="2304298072" sldId="675"/>
            <ac:picMk id="14" creationId="{FAB10607-9583-38F0-A3A2-D358F4CABC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157F-4682-4E79-80A7-D8AD50F19BF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83F76-A353-4563-881E-792575E1E4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05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91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874A2-EFF7-21D8-5583-F6BE13C32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9C7725-0E4B-4399-1A08-D57921BC8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7DAF5F-F78F-188A-C3EC-3D097C26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446549-FE94-419D-E0B2-7B0284A5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207DC4-FF7A-7D58-712C-AAA2B584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2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95AEF-5DE2-FC67-9F2D-CF775277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E78A7C-EC28-3589-D920-1DC6CD6B0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1367D8-28A9-A8F9-0E7E-A4A86C2E0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43B931-C709-1276-DE2A-31242AD9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B1A447-0BB9-2B33-ACDD-F6CEBCA8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0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D72AC-0861-3A3B-363C-32790F96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8C8F07-B302-58A2-AA31-E6DCF4E3C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F15946-02CB-1D0D-472F-6BD09A93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57D74B-81FD-43C6-4F71-BD192C39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912B58-B98F-54B5-E3A9-6C82A7BF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5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7C1DE-BFC9-AE0F-9A51-F6AC5DBE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075DA5-3292-F695-8D79-3D9C238AE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A9417-3F80-C062-18CD-F221ECBB3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EF58DD-6C9A-5341-6157-64A12AAC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603AE2-C165-9A49-3952-ABC8C82E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4C0974-7B7A-0E00-DE4D-40637850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66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27B72-1542-20CD-A701-827CBBE2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FF7D91-7B4B-FA1F-24E2-EF4F7CF2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CE2844-E369-9F9A-8CE4-0DD88B762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ADE44A-0495-013A-87B6-D03E0ED53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2B9765E-EFD6-9726-4457-318AAFCF0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A5AA99-6928-65C9-F80B-D9369622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56955E3-2B38-8ACA-F24C-2CB1F181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AF52DF-A9D4-94A7-4E4F-B3C267C9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41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7E658-17E9-B720-B47D-94BABC6F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837C2C-F0E2-5D40-B67D-6807557A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7B006C-D519-94DB-E983-3988FB06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6FC51A-1876-EC9D-5346-050C9479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29A666-98B5-5ECD-1388-58CE3BF4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897F91-1456-8E90-510C-5A3C00B9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6B21D7-B43B-F4A3-74D2-D66364E2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5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84261-DB48-19BC-FF72-C3E84FFC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87EAA5-AA21-C638-8292-6D709E282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939B1D-EBA2-9422-8D7E-CD0C9ED15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C1D749-CB5B-E3AE-DAF7-EC654F37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711504-291D-5B47-5D7F-BFF774E3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AB8F98-3752-EB3E-EC91-4EA934FB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5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0B095-1917-D065-AFA3-74FF320B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9DA566-0C4B-1CF3-594F-5FC1DEE82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248349-425D-3398-FD24-583A05542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D88826-BF28-1315-8856-013F3EBE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06DB21-B6C9-B832-1B95-27986974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855044-3CA7-D81A-AAA6-8754AFC9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7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F6686-AF61-670A-878B-741867B4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A96A5A-2109-4BCE-531D-7CEB98833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13448E-3CB8-DD85-2E74-86E20237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666B7-A77A-611D-DAFF-34603828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775EC5-D470-480D-7F3B-6FAB3575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9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DEEB02-43AC-5D6A-CC03-F5018729A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3593C1-4DDD-C6D4-676D-5A4546EC8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BDA3C9-0E30-BF51-0EB0-2BD133C5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AB932-FC7B-6A62-32B6-FCDB0E28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B9D7BF-6CD1-E936-ADED-2ACF2392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7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02524D-655E-A2B5-A045-FC0CD0CC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F140C3-9617-167E-6BB8-CEF3988DE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0BBC8E-6339-6362-3E12-322FDD11A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BC48E0-6C75-54BA-A6E4-81E6AEEAB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26D6EB-7B39-35A4-206A-2CC50A479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7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75PCw2kJsq8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gif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82632" y="-59934"/>
            <a:ext cx="5711925" cy="6936179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97622" y="4781204"/>
            <a:ext cx="2908458" cy="1241245"/>
            <a:chOff x="0" y="0"/>
            <a:chExt cx="5816916" cy="2482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505324" y="2156180"/>
            <a:ext cx="1206999" cy="1136993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905190" y="857813"/>
            <a:ext cx="636878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pt-BR" sz="20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 da Região de Joinville – Univille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2324" y="1937766"/>
            <a:ext cx="6368785" cy="63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pt-BR" sz="44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Conceitos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2324" y="2639897"/>
            <a:ext cx="636878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pt-BR" sz="24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Requisitos de Software</a:t>
            </a:r>
          </a:p>
          <a:p>
            <a:pPr>
              <a:lnSpc>
                <a:spcPts val="1919"/>
              </a:lnSpc>
            </a:pPr>
            <a:r>
              <a:rPr lang="pt-BR" sz="1600" noProof="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Profª Mª Chaiene M. da Silva Minella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CaixaDeTexto 10"/>
          <p:cNvSpPr txBox="1"/>
          <p:nvPr/>
        </p:nvSpPr>
        <p:spPr>
          <a:xfrm>
            <a:off x="893693" y="3330934"/>
            <a:ext cx="66790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600" noProof="0" dirty="0"/>
              <a:t>Requisitos, o que são?</a:t>
            </a:r>
          </a:p>
          <a:p>
            <a:pPr algn="just">
              <a:lnSpc>
                <a:spcPct val="150000"/>
              </a:lnSpc>
            </a:pPr>
            <a:endParaRPr lang="pt-BR" sz="3600" noProof="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sz="2200" noProof="0" dirty="0"/>
          </a:p>
        </p:txBody>
      </p:sp>
      <p:pic>
        <p:nvPicPr>
          <p:cNvPr id="12" name="Picture 7" descr="Imagem relacionada">
            <a:extLst>
              <a:ext uri="{FF2B5EF4-FFF2-40B4-BE49-F238E27FC236}">
                <a16:creationId xmlns:a16="http://schemas.microsoft.com/office/drawing/2014/main" id="{F1B660AC-FE25-9A22-068E-4FFDD77A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104" y="2537740"/>
            <a:ext cx="384810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8AC6-06F6-C837-1623-A7C35924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B71485D-3457-89B0-85F6-712F13583F7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28E3F83-DEC5-DC44-B504-E29D8CB5A2D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09BDD2D-C370-B9A4-F163-00BAA7A422FC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7ED539D-F063-E4D7-BCC4-413F96A894E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F1B901A-0BC1-745E-37E1-85E5CA00C85D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0D84FA8-6AEA-FF5E-9FE8-4C697BF319F2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7363CD8-A2A5-3335-5215-D359DB734EC2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7E1B0D1-3B4B-9EB1-F0C5-733B5EE27CA5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6DE109-D236-42D8-8E2A-68EEB8EC630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D1B00E34-EBC7-1AE4-1D3D-5CBC10370194}"/>
              </a:ext>
            </a:extLst>
          </p:cNvPr>
          <p:cNvSpPr txBox="1">
            <a:spLocks/>
          </p:cNvSpPr>
          <p:nvPr/>
        </p:nvSpPr>
        <p:spPr>
          <a:xfrm>
            <a:off x="838200" y="2932043"/>
            <a:ext cx="10515600" cy="3244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400" noProof="0" dirty="0"/>
              <a:t>Requisitos de um sistema são as </a:t>
            </a:r>
            <a:r>
              <a:rPr lang="pt-BR" sz="2400" u="sng" noProof="0" dirty="0"/>
              <a:t>descrições</a:t>
            </a:r>
            <a:r>
              <a:rPr lang="pt-BR" sz="2400" noProof="0" dirty="0"/>
              <a:t> do que o sistema deve fazer, os </a:t>
            </a:r>
            <a:r>
              <a:rPr lang="pt-BR" sz="2400" u="sng" noProof="0" dirty="0"/>
              <a:t>serviços</a:t>
            </a:r>
            <a:r>
              <a:rPr lang="pt-BR" sz="2400" noProof="0" dirty="0"/>
              <a:t> que oferece e as </a:t>
            </a:r>
            <a:r>
              <a:rPr lang="pt-BR" sz="2400" u="sng" noProof="0" dirty="0"/>
              <a:t>restrições</a:t>
            </a:r>
            <a:r>
              <a:rPr lang="pt-BR" sz="2400" noProof="0" dirty="0"/>
              <a:t> a seu funcionamento.</a:t>
            </a:r>
            <a:endParaRPr lang="pt-BR" sz="1600" noProof="0" dirty="0"/>
          </a:p>
        </p:txBody>
      </p:sp>
    </p:spTree>
    <p:extLst>
      <p:ext uri="{BB962C8B-B14F-4D97-AF65-F5344CB8AC3E}">
        <p14:creationId xmlns:p14="http://schemas.microsoft.com/office/powerpoint/2010/main" val="118552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F7CA-AC44-40C4-ACA9-931939E67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4CB294-CC42-0399-A09B-816CC626EDA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4FA4F39-DB54-3996-241B-C4F1DFBD406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9C41C0F-7175-719A-DDDC-C12C01AFD290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5341C4-81DE-CB03-F9D6-C3AB31D4A37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144E104-8A3E-4806-6084-821C21BC55D6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56CF335-9CB6-270B-7C24-E0DB3C99BECE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6609489-CF31-37F0-1F24-953FC23510B2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39FD2BF-5CCD-3F69-2782-8773E1868073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7056377-3AFC-C25E-EEEC-4C9FF8E1F22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838200" y="2932043"/>
            <a:ext cx="10515600" cy="3244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400" noProof="0" dirty="0"/>
              <a:t>Os requisitos refletem as </a:t>
            </a:r>
            <a:r>
              <a:rPr lang="pt-BR" sz="2400" u="sng" noProof="0" dirty="0"/>
              <a:t>necessidades</a:t>
            </a:r>
            <a:r>
              <a:rPr lang="pt-BR" sz="2400" noProof="0" dirty="0"/>
              <a:t> dos clientes para um sistema que serve a uma finalidade determinada, como controlar um dispositivo, emitir um pedido, encontrar informações.</a:t>
            </a:r>
            <a:endParaRPr lang="pt-BR" sz="1600" noProof="0" dirty="0"/>
          </a:p>
        </p:txBody>
      </p:sp>
    </p:spTree>
    <p:extLst>
      <p:ext uri="{BB962C8B-B14F-4D97-AF65-F5344CB8AC3E}">
        <p14:creationId xmlns:p14="http://schemas.microsoft.com/office/powerpoint/2010/main" val="362909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E0D3-C5F8-E0B8-B43C-792C3B63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5C878F-22B5-0962-67EE-589F69C26FD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D1839CE-C8FB-963B-59BB-B8470E3A03D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D244D2B-4AB3-8BBC-9F5E-2E02CF17C9E8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D0EFFA0-98CA-C294-F888-16D5334281E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F743CF5-21A4-9AC7-C25F-73F4B986B67C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D5C159C-9749-9AA5-8023-D1EA076223ED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1BEE85A-C50B-0EFF-4FB4-02734135379C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B1AA738-1FEE-8200-70ED-C4F1A05AF233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0DE32E0-7FB5-EF17-1D65-87945E246B9F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838200" y="2932043"/>
            <a:ext cx="10515600" cy="3244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pt-BR" sz="2400" noProof="0" dirty="0"/>
              <a:t>Os requisitos precisam ser escritos em diferentes níveis de detalhamento para que diferentes leitores possam usá-los de diversas maneiras.</a:t>
            </a:r>
            <a:endParaRPr lang="pt-BR" sz="1600" noProof="0" dirty="0"/>
          </a:p>
        </p:txBody>
      </p:sp>
    </p:spTree>
    <p:extLst>
      <p:ext uri="{BB962C8B-B14F-4D97-AF65-F5344CB8AC3E}">
        <p14:creationId xmlns:p14="http://schemas.microsoft.com/office/powerpoint/2010/main" val="380824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 descr="Ícone&#10;&#10;Descrição gerada automaticamente">
            <a:extLst>
              <a:ext uri="{FF2B5EF4-FFF2-40B4-BE49-F238E27FC236}">
                <a16:creationId xmlns:a16="http://schemas.microsoft.com/office/drawing/2014/main" id="{C0DF9EC3-AA60-1384-C016-77E28433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2" y="357980"/>
            <a:ext cx="823543" cy="723064"/>
          </a:xfrm>
          <a:prstGeom prst="rect">
            <a:avLst/>
          </a:prstGeom>
        </p:spPr>
      </p:pic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838200" y="2932043"/>
            <a:ext cx="10515600" cy="32449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pt-BR" sz="1600" noProof="0" dirty="0"/>
          </a:p>
        </p:txBody>
      </p:sp>
      <p:pic>
        <p:nvPicPr>
          <p:cNvPr id="2" name="Imagem 2">
            <a:extLst>
              <a:ext uri="{FF2B5EF4-FFF2-40B4-BE49-F238E27FC236}">
                <a16:creationId xmlns:a16="http://schemas.microsoft.com/office/drawing/2014/main" id="{B471FBAD-39B3-4EB8-0622-5DE9C3CE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178" y="143605"/>
            <a:ext cx="9469901" cy="6604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5635131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FBC6-5469-46E2-6138-294E782F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1563D0-0F07-3921-FD1D-1992AE58BCD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B8A6A95-C07E-19E8-19CD-6F500577DE5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511EA6-AAEF-48A0-A5A2-F1F5F24A4856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80EAAF2-963A-13AF-143F-96BA837DAF23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D7C03C5-EC99-59F5-CBDD-95AC71EE6262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532A16E-A4D8-50C7-D01B-1D7FCDB606AB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553BA2D-0F17-3A18-C417-C2B7BF83C919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47935B0-6D85-4907-6228-8F029FB780B8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49A836-0F46-40C7-A66A-BAFB32CA574D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1162868" y="2340904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  <a:defRPr/>
            </a:pPr>
            <a:r>
              <a:rPr lang="pt-BR" sz="2000" noProof="0" dirty="0">
                <a:sym typeface="Arial" charset="0"/>
              </a:rPr>
              <a:t>PMI identifica diversos fatores que podem levar ao fracasso do projeto, incluindo </a:t>
            </a:r>
            <a:r>
              <a:rPr lang="pt-BR" sz="2000" b="1" noProof="0" dirty="0">
                <a:sym typeface="Arial" charset="0"/>
              </a:rPr>
              <a:t>comunicação ineficaz</a:t>
            </a:r>
            <a:r>
              <a:rPr lang="pt-BR" sz="2000" noProof="0" dirty="0">
                <a:sym typeface="Arial" charset="0"/>
              </a:rPr>
              <a:t>, </a:t>
            </a:r>
            <a:r>
              <a:rPr lang="pt-BR" sz="2000" b="1" noProof="0" dirty="0">
                <a:sym typeface="Arial" charset="0"/>
              </a:rPr>
              <a:t>escopo mal definido</a:t>
            </a:r>
            <a:r>
              <a:rPr lang="pt-BR" sz="2000" noProof="0" dirty="0">
                <a:sym typeface="Arial" charset="0"/>
              </a:rPr>
              <a:t>, </a:t>
            </a:r>
            <a:r>
              <a:rPr lang="pt-BR" sz="2000" b="1" noProof="0" dirty="0">
                <a:sym typeface="Arial" charset="0"/>
              </a:rPr>
              <a:t>estimativas incorretas de custos e prazos</a:t>
            </a:r>
            <a:r>
              <a:rPr lang="pt-BR" sz="2000" noProof="0" dirty="0">
                <a:sym typeface="Arial" charset="0"/>
              </a:rPr>
              <a:t>, </a:t>
            </a:r>
            <a:r>
              <a:rPr lang="pt-BR" sz="2000" b="1" noProof="0" dirty="0">
                <a:sym typeface="Arial" charset="0"/>
              </a:rPr>
              <a:t>falta de gerenciamento de mudanças </a:t>
            </a:r>
            <a:r>
              <a:rPr lang="pt-BR" sz="2000" noProof="0" dirty="0">
                <a:sym typeface="Arial" charset="0"/>
              </a:rPr>
              <a:t>e </a:t>
            </a:r>
            <a:r>
              <a:rPr lang="pt-BR" sz="2000" b="1" noProof="0" dirty="0">
                <a:sym typeface="Arial" charset="0"/>
              </a:rPr>
              <a:t>recursos inadequados</a:t>
            </a:r>
            <a:r>
              <a:rPr lang="pt-BR" sz="2000" noProof="0" dirty="0">
                <a:sym typeface="Arial" charset="0"/>
              </a:rPr>
              <a:t>. O </a:t>
            </a:r>
            <a:r>
              <a:rPr lang="pt-BR" sz="2000" b="1" u="sng" noProof="0" dirty="0">
                <a:sym typeface="Arial" charset="0"/>
              </a:rPr>
              <a:t>planejamento inadequado</a:t>
            </a:r>
            <a:r>
              <a:rPr lang="pt-BR" sz="2000" b="1" noProof="0" dirty="0">
                <a:sym typeface="Arial" charset="0"/>
              </a:rPr>
              <a:t> </a:t>
            </a:r>
            <a:r>
              <a:rPr lang="pt-BR" sz="2000" noProof="0" dirty="0">
                <a:sym typeface="Arial" charset="0"/>
              </a:rPr>
              <a:t>é frequentemente apontado como a </a:t>
            </a:r>
            <a:r>
              <a:rPr lang="pt-BR" sz="2000" u="sng" noProof="0" dirty="0">
                <a:sym typeface="Arial" charset="0"/>
              </a:rPr>
              <a:t>causa raiz</a:t>
            </a:r>
            <a:r>
              <a:rPr lang="pt-BR" sz="2000" noProof="0" dirty="0">
                <a:sym typeface="Arial" charset="0"/>
              </a:rPr>
              <a:t>, levando a problemas na execução e entrega do projeto. </a:t>
            </a:r>
          </a:p>
        </p:txBody>
      </p:sp>
    </p:spTree>
    <p:extLst>
      <p:ext uri="{BB962C8B-B14F-4D97-AF65-F5344CB8AC3E}">
        <p14:creationId xmlns:p14="http://schemas.microsoft.com/office/powerpoint/2010/main" val="346499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5978-85EC-C004-F59B-CA1559E4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2E1309-2932-C017-4414-95F003716A4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A189E32-20AB-8871-1DD0-FCFBCC4B42B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B6ED30E-65FC-F079-187C-49C588101C10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C51994A-BD48-B168-51ED-0DBFB94E194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7906E1C-BE51-FA51-091C-DDB258931C2C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37249B-7B21-0DD9-299C-A0310D99E3A3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3FDBB58-0F39-5CD3-D439-004135968EDF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5F038B8-61E7-FD69-9150-18AA81BC92D0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34CDE2B-5731-DE53-5BC8-F72156ED444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C0709F5C-26FA-B0BB-9AD1-1BCADD0812B6}"/>
              </a:ext>
            </a:extLst>
          </p:cNvPr>
          <p:cNvSpPr txBox="1">
            <a:spLocks/>
          </p:cNvSpPr>
          <p:nvPr/>
        </p:nvSpPr>
        <p:spPr>
          <a:xfrm>
            <a:off x="844574" y="2226366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None/>
              <a:defRPr/>
            </a:pPr>
            <a:r>
              <a:rPr lang="pt-BR" sz="2000" noProof="0" dirty="0">
                <a:sym typeface="Arial" charset="0"/>
              </a:rPr>
              <a:t>Pode-se acrescentar que ainda estão entre as </a:t>
            </a:r>
            <a:r>
              <a:rPr lang="pt-BR" sz="2000" u="sng" noProof="0" dirty="0">
                <a:sym typeface="Arial" charset="0"/>
              </a:rPr>
              <a:t>principais razões</a:t>
            </a:r>
            <a:r>
              <a:rPr lang="pt-BR" sz="2000" noProof="0" dirty="0">
                <a:sym typeface="Arial" charset="0"/>
              </a:rPr>
              <a:t> para o fracasso de um projeto os seguintes pontos: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>
                <a:sym typeface="Arial" charset="0"/>
              </a:rPr>
              <a:t>requisitos mal organizados;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>
                <a:sym typeface="Arial" charset="0"/>
              </a:rPr>
              <a:t>requisitos mal expressos;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>
                <a:sym typeface="Arial" charset="0"/>
              </a:rPr>
              <a:t>requisitos desnecessários para os clientes 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>
                <a:sym typeface="Arial" charset="0"/>
              </a:rPr>
              <a:t>dificuldade para lidar com requisitos frequentemente mutáveis.</a:t>
            </a: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8557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C532-2716-4C15-EF89-5205B346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7FB8FA-512B-1C04-FCC3-A7A3E6C9550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A0BAC60-A09E-DE06-E57F-6CFEE783917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7601EC8-A199-BE27-0BB4-63F3F46D9F45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DF1701-5F6F-CB58-5FEF-AA767E98A21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4767610-C9E1-B6A3-29AB-E95CA502D990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19236A0-8A3B-03E4-077C-37C490A7ED4B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D93051C-AEA1-2345-2614-FBBCB3B9BE8A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9376351-7A49-EEFB-777C-DD390138F472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8820F37-4A37-FF38-63C2-D1C5D68ADA0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256183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defRPr/>
            </a:pPr>
            <a:endParaRPr lang="pt-BR" sz="2000" noProof="0" dirty="0">
              <a:sym typeface="Arial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pt-BR" sz="2000" noProof="0" dirty="0"/>
              <a:t>Entre os </a:t>
            </a:r>
            <a:r>
              <a:rPr lang="pt-BR" sz="2000" u="sng" noProof="0" dirty="0"/>
              <a:t>problemas típicos</a:t>
            </a:r>
            <a:r>
              <a:rPr lang="pt-BR" sz="2000" noProof="0" dirty="0"/>
              <a:t> encontrados com a especificação dos requisitos temos: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/>
              <a:t>Falta de conhecimento sobre o domínio;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/>
              <a:t>Comunicação do Usuário com o Analista;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000" noProof="0" dirty="0"/>
              <a:t>Gestão de Mudanças e Evolução dos requisitos.</a:t>
            </a:r>
          </a:p>
        </p:txBody>
      </p:sp>
    </p:spTree>
    <p:extLst>
      <p:ext uri="{BB962C8B-B14F-4D97-AF65-F5344CB8AC3E}">
        <p14:creationId xmlns:p14="http://schemas.microsoft.com/office/powerpoint/2010/main" val="78925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C177-37D1-8E79-8990-C47D8A9C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3696FA-8CDD-2D0D-526F-502AB55B7C1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F1208B2-9CF1-D570-A60C-FD08B53B2993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3DAFB2E-70AD-D5B6-FD33-C63AF1368833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0B6EDEB-0360-5F42-903E-B4791A81AE3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A7D44AC-79C5-A2DA-50CB-03507DED253A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0493A25-D8C1-F2D8-FD1C-134CA3939C49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D657C53-B3C7-5FE8-B4C7-5647873643AF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D957993-F95E-1D78-C479-0913AE78D3CF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FD1FEF-7676-FE71-EDEE-4C207680E24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Texto explicativo em forma de nuvem 1">
            <a:extLst>
              <a:ext uri="{FF2B5EF4-FFF2-40B4-BE49-F238E27FC236}">
                <a16:creationId xmlns:a16="http://schemas.microsoft.com/office/drawing/2014/main" id="{211F3D8D-C191-A7E7-2264-D5B11D7AA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23" y="2496241"/>
            <a:ext cx="2738438" cy="1692275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pt-BR" sz="2000" noProof="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ctr" eaLnBrk="1" hangingPunct="1"/>
            <a:r>
              <a:rPr lang="pt-BR" sz="20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Falta de rastreabilidade</a:t>
            </a:r>
          </a:p>
        </p:txBody>
      </p:sp>
      <p:sp>
        <p:nvSpPr>
          <p:cNvPr id="13" name="Texto explicativo em forma de nuvem 3">
            <a:extLst>
              <a:ext uri="{FF2B5EF4-FFF2-40B4-BE49-F238E27FC236}">
                <a16:creationId xmlns:a16="http://schemas.microsoft.com/office/drawing/2014/main" id="{2A384B7A-699A-5CF0-1E7F-42B629709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726" y="3881853"/>
            <a:ext cx="2808287" cy="161925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20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Entendimentos errados ou mal compreendidos</a:t>
            </a:r>
          </a:p>
        </p:txBody>
      </p:sp>
      <p:sp>
        <p:nvSpPr>
          <p:cNvPr id="14" name="Texto explicativo em forma de nuvem 2">
            <a:extLst>
              <a:ext uri="{FF2B5EF4-FFF2-40B4-BE49-F238E27FC236}">
                <a16:creationId xmlns:a16="http://schemas.microsoft.com/office/drawing/2014/main" id="{117B508F-B3C8-C837-3593-B0428FA5C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213" y="1917700"/>
            <a:ext cx="2592387" cy="15113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20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Diferentes pontos de vista </a:t>
            </a:r>
          </a:p>
        </p:txBody>
      </p:sp>
    </p:spTree>
    <p:extLst>
      <p:ext uri="{BB962C8B-B14F-4D97-AF65-F5344CB8AC3E}">
        <p14:creationId xmlns:p14="http://schemas.microsoft.com/office/powerpoint/2010/main" val="289842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47DEF-B47B-7CAE-089B-F622E7CA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78127E-681B-9899-A4BF-1144099F441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148439B-32AE-98EF-AA14-53B59513EE7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C6EBFEF-194F-EAF4-11F4-8FF5DD444FBF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2343DE5-77C3-E00C-DA3A-49D85396E549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5F01D2C-6C4D-BDA7-2E5E-58DCD7B6A9E3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4577507-521A-DBDC-FD93-30CA74DC5C20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E178FD5-95DD-B99C-10FD-D658F0070298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FE59F5D-21D0-4958-5336-37C1E3020DCF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8ED2E74-3230-CF15-0EF0-D47C205E55C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1" name="Picture 7" descr="Resultado de imagem para requisitos de software">
            <a:extLst>
              <a:ext uri="{FF2B5EF4-FFF2-40B4-BE49-F238E27FC236}">
                <a16:creationId xmlns:a16="http://schemas.microsoft.com/office/drawing/2014/main" id="{2BDAEBBF-757C-F34C-2C26-2C89766FA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774" y="1827277"/>
            <a:ext cx="4674704" cy="459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23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0189-0F51-6943-5ACC-BE1034FF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D42710-27DF-F9EE-4C89-E783D8F94B4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791939E-091D-87A8-AE2A-1471C4FC842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85AF826-4051-F493-6C02-B25E9F50FD3F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6269A88-2BAD-3C3E-EB07-4634145047C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D32527D-ADB9-D6BE-9818-953592155796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9C309D4-673D-C4A1-B139-D0B41764FEB8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B3D363E-4A52-2AFD-9638-2A28EA337047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52BAEF8-CF20-4577-71EF-09CC2E2D6D6D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B791D3A-CFCA-B06F-1650-1F86D9D1048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2" name="Picture 8" descr="Resultado de imagem para requisitos de software">
            <a:extLst>
              <a:ext uri="{FF2B5EF4-FFF2-40B4-BE49-F238E27FC236}">
                <a16:creationId xmlns:a16="http://schemas.microsoft.com/office/drawing/2014/main" id="{70794595-7F6A-2EF5-638B-58A9C4A25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118" y="1760745"/>
            <a:ext cx="7908925" cy="464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526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1B3A-92D3-6918-490F-514D51CC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CA0BE5-C661-E38E-7FF9-E8D61A57E0B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24B53E5-FA00-9E58-9283-2D682173ACB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6A89B77-5AD4-7B98-7D9B-2384D2FECEF1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84B4523-6C69-AA14-EC19-A4CE3468AB7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18D63FB-8F0D-F152-D7F4-ACAF31B94C7D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C0F104-7C16-4A08-976C-9DC132A5C9FE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EDC8382-DA55-4C22-BA7A-2EC77F5ED336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089322F3-CEC6-88B8-2671-ACDCE225CD41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B27530-30E6-C907-FA56-E2D69522CE5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Texto explicativo em forma de nuvem 2">
            <a:extLst>
              <a:ext uri="{FF2B5EF4-FFF2-40B4-BE49-F238E27FC236}">
                <a16:creationId xmlns:a16="http://schemas.microsoft.com/office/drawing/2014/main" id="{010A0E48-2A0A-AF6B-E682-735964075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552" y="1523163"/>
            <a:ext cx="4199492" cy="256906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24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Como melhorar a qualidade do produto de software através dos requisitos?</a:t>
            </a:r>
          </a:p>
        </p:txBody>
      </p:sp>
      <p:pic>
        <p:nvPicPr>
          <p:cNvPr id="13" name="Picture 12" descr="Imagem relacionada">
            <a:extLst>
              <a:ext uri="{FF2B5EF4-FFF2-40B4-BE49-F238E27FC236}">
                <a16:creationId xmlns:a16="http://schemas.microsoft.com/office/drawing/2014/main" id="{2924A806-A0DB-C95F-5982-245B8DA92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142" y="4525547"/>
            <a:ext cx="3462338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59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9106-8588-2248-4234-603D2BC0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20342B-9B6B-98CC-6D28-EBA6DDDF475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E4F7194-A0BC-6D28-4E3C-73960C7399C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E6D1AD8-AAE5-24BD-301A-AD0252ABB212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0BA4A0-E3D2-3251-272D-361F08C28C6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24510F6-52E3-8344-B9E8-F38DF623757B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2D889F-F4F3-3624-67FF-2CF7BA7242C5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9CB1B3D-A065-4716-4A51-445F5817BF94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8547534-9D85-5C27-CADD-CB909D0C0424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ED5C9FB-0726-8311-2962-99B043E63A2F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844574" y="1736351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defRPr/>
            </a:pPr>
            <a:endParaRPr lang="pt-BR" sz="2000" noProof="0" dirty="0">
              <a:sym typeface="Arial" charset="0"/>
            </a:endParaRPr>
          </a:p>
          <a:p>
            <a:pPr marL="0" indent="0" eaLnBrk="1" hangingPunct="1">
              <a:buNone/>
              <a:defRPr/>
            </a:pPr>
            <a:r>
              <a:rPr lang="pt-BR" sz="2000" noProof="0" dirty="0">
                <a:sym typeface="Arial" charset="0"/>
              </a:rPr>
              <a:t>Para aquecer:</a:t>
            </a:r>
            <a:endParaRPr lang="pt-BR" sz="1400" noProof="0" dirty="0"/>
          </a:p>
          <a:p>
            <a:pPr marL="0" indent="0" eaLnBrk="1" hangingPunct="1">
              <a:buNone/>
              <a:defRPr/>
            </a:pPr>
            <a:endParaRPr lang="pt-BR" sz="2000" noProof="0" dirty="0"/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000" noProof="0" dirty="0"/>
              <a:t>Vamos planejar uma viagem de férias !!!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pt-BR" sz="2000" noProof="0" dirty="0"/>
          </a:p>
          <a:p>
            <a:pPr marL="0" indent="0">
              <a:buNone/>
              <a:defRPr/>
            </a:pPr>
            <a:r>
              <a:rPr lang="pt-BR" sz="2000" noProof="0" dirty="0"/>
              <a:t>O que não pode faltar nessa viagem (requisitos):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pt-BR" sz="2000" noProof="0" dirty="0"/>
              <a:t>Quais os lugares que eu vou visitar?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pt-BR" sz="2000" noProof="0" dirty="0"/>
              <a:t>O que vou comer de diferente?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pt-BR" sz="2000" noProof="0" dirty="0"/>
              <a:t>Vou visitar alguém?</a:t>
            </a:r>
          </a:p>
        </p:txBody>
      </p:sp>
    </p:spTree>
    <p:extLst>
      <p:ext uri="{BB962C8B-B14F-4D97-AF65-F5344CB8AC3E}">
        <p14:creationId xmlns:p14="http://schemas.microsoft.com/office/powerpoint/2010/main" val="2137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CE58-FEB4-48F5-A257-1C229FED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C555CD-087A-0C16-CE46-2EA8284B019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A58B39D-17AC-FDD3-3933-7090DAA9CB6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787BC12-A91A-0B1B-8E49-8E2D717CEE89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532E460-0435-3A2F-6F59-BE2182937B1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4C4072C-DD4D-0FE7-23F9-F726A64179BD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1DB83F6-A141-22CA-005D-4273C61397E5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762A969-A797-CF86-B659-500735EF6B2C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00842DF-C63A-2323-99AD-7DE3EB771A7D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06960F4-5A73-68E4-E103-B248821E4E0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256183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defRPr/>
            </a:pPr>
            <a:endParaRPr lang="pt-BR" sz="2000" noProof="0" dirty="0">
              <a:sym typeface="Arial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000" u="sng" noProof="0" dirty="0"/>
              <a:t>Concepção</a:t>
            </a:r>
          </a:p>
          <a:p>
            <a:pPr marL="0" indent="0">
              <a:lnSpc>
                <a:spcPct val="150000"/>
              </a:lnSpc>
              <a:buNone/>
            </a:pPr>
            <a:endParaRPr lang="pt-BR" sz="2000" noProof="0" dirty="0"/>
          </a:p>
          <a:p>
            <a:pPr marL="0" indent="0">
              <a:buNone/>
            </a:pPr>
            <a:r>
              <a:rPr lang="pt-BR" sz="2000" noProof="0" dirty="0"/>
              <a:t>Desta forma nós estabelecemos os </a:t>
            </a:r>
            <a:r>
              <a:rPr lang="pt-BR" sz="2000" b="1" noProof="0" dirty="0"/>
              <a:t>Requisitos:</a:t>
            </a:r>
            <a:r>
              <a:rPr lang="pt-BR" sz="2000" noProof="0" dirty="0"/>
              <a:t> o que necessariamente </a:t>
            </a:r>
            <a:r>
              <a:rPr lang="pt-BR" sz="2000" b="1" noProof="0" dirty="0"/>
              <a:t>deve ter</a:t>
            </a:r>
            <a:r>
              <a:rPr lang="pt-BR" sz="2000" noProof="0" dirty="0"/>
              <a:t> nesta viagem.</a:t>
            </a:r>
          </a:p>
        </p:txBody>
      </p:sp>
    </p:spTree>
    <p:extLst>
      <p:ext uri="{BB962C8B-B14F-4D97-AF65-F5344CB8AC3E}">
        <p14:creationId xmlns:p14="http://schemas.microsoft.com/office/powerpoint/2010/main" val="15075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C73D-CB88-DE84-05AE-2E54643F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25F417-0F49-CFFE-12C0-89DA8C832C1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8E84F2EE-CA59-9198-1315-BAAE68EF694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D17509D-8962-F059-B87A-A0A6EA759E57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8F31D1-FB18-E894-DBE5-1EB3403E7A3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BAB29CF-CA5B-93C4-BB22-7225118E5E06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377887-98C3-2771-4829-ED36E753F530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A2CBB3C-F75E-FFD2-9DC0-56E8C065D588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F489DEF-FDBA-5F63-36B0-7E0C605161FF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07D1C21-AB1D-944E-FB46-132859A356A0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256183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2000" u="sng" noProof="0" dirty="0"/>
              <a:t>Concepção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pt-BR" sz="2000" noProof="0" dirty="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pt-BR" sz="2000" noProof="0" dirty="0"/>
              <a:t>Como um projeto de software é iniciado?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pt-BR" sz="2000" noProof="0" dirty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noProof="0" dirty="0"/>
              <a:t>A maioria dos projetos começa quando é identificada a necessidade do negócio ou é descoberto um novo serviço ou mercado potencial.</a:t>
            </a:r>
          </a:p>
        </p:txBody>
      </p:sp>
    </p:spTree>
    <p:extLst>
      <p:ext uri="{BB962C8B-B14F-4D97-AF65-F5344CB8AC3E}">
        <p14:creationId xmlns:p14="http://schemas.microsoft.com/office/powerpoint/2010/main" val="1923002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D796-D57B-5E18-723E-4FE7C85A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2FF091-55B6-15D3-E8A0-796A08A1E4C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5AE1044-EF12-9094-91FA-B03E8ADB7F39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87B8BE-C4D6-02B6-510D-8E73C8D15922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EDB3AA3-E467-9E2E-FF7A-A5BAC562B19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21B312B-70F1-4527-EDE6-54F1140F0278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54A4786-DD75-3464-69FE-B07D74980C4E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21115A5-11D7-7E16-A4EF-0DA0BAA7654E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9983782-224B-A07E-D2B5-922BE03B9969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B4021A8-350D-226F-BFBA-0589B3C036A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256183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2000" u="sng" noProof="0" dirty="0"/>
              <a:t>Concepção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pt-BR" sz="2000" noProof="0" dirty="0"/>
              <a:t>Como um projeto de software é iniciado?</a:t>
            </a:r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noProof="0" dirty="0"/>
              <a:t>Os envolvidos no negócio (gerentes comerciais, pessoal de marketing, gerentes de produto) definem um plano de negócio para a ideia, tentam identificar o tamanho do mercado, fazem uma análise de viabilidade aproximada e identificam uma descrição operacional da abrangência do projeto.</a:t>
            </a:r>
          </a:p>
        </p:txBody>
      </p:sp>
    </p:spTree>
    <p:extLst>
      <p:ext uri="{BB962C8B-B14F-4D97-AF65-F5344CB8AC3E}">
        <p14:creationId xmlns:p14="http://schemas.microsoft.com/office/powerpoint/2010/main" val="134723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6634-5D26-51DB-95F8-ED1724EF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A1B214-F5C0-0018-585B-BC87D6F943E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11FA49EE-57D9-F533-8BD0-3C7ECF2258F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63F0356-D2A0-B8E4-4A5B-3A7AC48E6247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7A037F-4E1E-27EE-3F3A-74B848F2F94D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C0B4B25-D6E7-235C-CA72-31E4E3EF65E5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400A7D4-B5A8-539C-AB81-AD78885B855C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BCC88F0-5EA3-705B-1AD6-F7393C4FA809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B665567-DDF3-C655-C7A2-F6501FC45172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4DCC879-961C-73EB-72E1-19F32A37C87E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256183"/>
            <a:ext cx="9866243" cy="32449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sz="2000" u="sng" noProof="0" dirty="0"/>
              <a:t>Concepção</a:t>
            </a:r>
          </a:p>
          <a:p>
            <a:pPr marL="0" indent="0">
              <a:lnSpc>
                <a:spcPct val="150000"/>
              </a:lnSpc>
              <a:buNone/>
            </a:pPr>
            <a:endParaRPr lang="pt-BR" sz="2000" noProof="0" dirty="0"/>
          </a:p>
          <a:p>
            <a:pPr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noProof="0" dirty="0"/>
              <a:t>Na concepção do projeto, estabelece-se um </a:t>
            </a:r>
            <a:r>
              <a:rPr lang="pt-BR" sz="2000" u="sng" noProof="0" dirty="0"/>
              <a:t>entendimento básico do problema</a:t>
            </a:r>
            <a:r>
              <a:rPr lang="pt-BR" sz="2000" noProof="0" dirty="0"/>
              <a:t>, as pessoas que querem uma solução, a natureza da solução desejada e a eficácia da comunicação e colaboração preliminares entre os demais envolvidos e a equipe de software.</a:t>
            </a:r>
          </a:p>
        </p:txBody>
      </p:sp>
    </p:spTree>
    <p:extLst>
      <p:ext uri="{BB962C8B-B14F-4D97-AF65-F5344CB8AC3E}">
        <p14:creationId xmlns:p14="http://schemas.microsoft.com/office/powerpoint/2010/main" val="1228630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AFDD-6157-A60C-8068-42BD8815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9C6026-AFB7-7E4B-0604-73079B673C9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4902ADB-E0E4-2C3E-BDA4-3080CA9AEA5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A1107A3-9CBD-4171-692D-7A9C3CA7E5FD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AF13407-75F1-CFE9-1B47-D6018BF1D46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0A00555-F0BA-811F-C5EB-6D2F3032C4E0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B26B94-81E7-CD0D-0CDC-B1BB4391D142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87F51B7-3D47-9839-B069-8BE309D2B10F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12FDF2F-B980-F6D5-E329-4CD143CF831B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394A537-C7A8-C8D0-FBC8-3A878B9E4CA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971799"/>
            <a:ext cx="9866243" cy="25293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pt-BR" noProof="0" dirty="0"/>
              <a:t>Por que é difícil entender claramente o que o cliente deseja?</a:t>
            </a:r>
          </a:p>
        </p:txBody>
      </p:sp>
    </p:spTree>
    <p:extLst>
      <p:ext uri="{BB962C8B-B14F-4D97-AF65-F5344CB8AC3E}">
        <p14:creationId xmlns:p14="http://schemas.microsoft.com/office/powerpoint/2010/main" val="2736699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0B60-CE5F-00A6-239E-5EB259A1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06BE93D-F142-ABC7-920F-FF8555EC1B00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3635E5-CD34-610F-72B4-9B64201B0CC0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A2F1B2B-3B4B-A989-BBE1-62DBB975CC4F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012E30-0E0F-BDA2-3929-AAE6096E2212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0567BA5-EA78-EA95-141F-7BF766D2689E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sp>
        <p:nvSpPr>
          <p:cNvPr id="13" name="Texto explicativo em forma de nuvem 2">
            <a:extLst>
              <a:ext uri="{FF2B5EF4-FFF2-40B4-BE49-F238E27FC236}">
                <a16:creationId xmlns:a16="http://schemas.microsoft.com/office/drawing/2014/main" id="{2A2E26AE-A63C-25FB-71B0-CFE5696CA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68" y="1721777"/>
            <a:ext cx="3830638" cy="2232025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24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O que você entende por requisitos de software ? </a:t>
            </a:r>
          </a:p>
        </p:txBody>
      </p:sp>
      <p:pic>
        <p:nvPicPr>
          <p:cNvPr id="14" name="Picture 12" descr="Imagem relacionada">
            <a:extLst>
              <a:ext uri="{FF2B5EF4-FFF2-40B4-BE49-F238E27FC236}">
                <a16:creationId xmlns:a16="http://schemas.microsoft.com/office/drawing/2014/main" id="{B31E49A7-3864-FBCE-D863-7EBC1FBFF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1" y="4385602"/>
            <a:ext cx="3462337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24C20B8-A66B-8962-81E9-E861B49DDE6A}"/>
              </a:ext>
            </a:extLst>
          </p:cNvPr>
          <p:cNvSpPr txBox="1"/>
          <p:nvPr/>
        </p:nvSpPr>
        <p:spPr>
          <a:xfrm>
            <a:off x="5752272" y="6165844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https://www.menti.com/alh9qfubw8m3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63C615-8453-3DEB-514A-5AE381BA4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1496" y="1721777"/>
            <a:ext cx="4270513" cy="427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07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8DED-36B9-34B9-DF9F-89A77180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D3A17AE-2E6C-ED85-FBD5-D2FF1A4F6A16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F68D673-065C-F8B5-6485-BA432D09442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713497A-A262-0DEE-4C75-FC835D0998C6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33F2B99-DBAF-5F0D-B5FD-CA6013EA74B8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45E4F11-45FA-7732-B5E6-410DF54AC693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sp>
        <p:nvSpPr>
          <p:cNvPr id="3" name="Texto explicativo em forma de nuvem 2">
            <a:extLst>
              <a:ext uri="{FF2B5EF4-FFF2-40B4-BE49-F238E27FC236}">
                <a16:creationId xmlns:a16="http://schemas.microsoft.com/office/drawing/2014/main" id="{62E00278-1BF8-08FC-7EC3-8003015B1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4232275" cy="2232025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sz="24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Como você pode contribuir para a melhoria na análise de requisitos?</a:t>
            </a:r>
          </a:p>
        </p:txBody>
      </p:sp>
      <p:pic>
        <p:nvPicPr>
          <p:cNvPr id="2" name="Picture 12" descr="Imagem relacionada">
            <a:extLst>
              <a:ext uri="{FF2B5EF4-FFF2-40B4-BE49-F238E27FC236}">
                <a16:creationId xmlns:a16="http://schemas.microsoft.com/office/drawing/2014/main" id="{45928A73-64E2-7243-BD3A-A70B89C1A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4437063"/>
            <a:ext cx="3462337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10">
            <a:extLst>
              <a:ext uri="{FF2B5EF4-FFF2-40B4-BE49-F238E27FC236}">
                <a16:creationId xmlns:a16="http://schemas.microsoft.com/office/drawing/2014/main" id="{D516DA67-2A48-2657-0E0A-11093D223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764" y="6114267"/>
            <a:ext cx="4670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pt-BR" sz="2400" noProof="0" dirty="0">
                <a:solidFill>
                  <a:srgbClr val="000000"/>
                </a:solidFill>
                <a:latin typeface="Gill Sans" charset="0"/>
                <a:sym typeface="Gill Sans" charset="0"/>
              </a:rPr>
              <a:t>https://www.menti.com/77cxibd6sr</a:t>
            </a:r>
          </a:p>
        </p:txBody>
      </p:sp>
      <p:pic>
        <p:nvPicPr>
          <p:cNvPr id="10" name="Imagem 3">
            <a:extLst>
              <a:ext uri="{FF2B5EF4-FFF2-40B4-BE49-F238E27FC236}">
                <a16:creationId xmlns:a16="http://schemas.microsoft.com/office/drawing/2014/main" id="{A0BB5651-E6AD-E859-D67D-D6CEFD268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764" y="1448594"/>
            <a:ext cx="4582836" cy="4582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6013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1B4F-ECEF-75AD-FE02-0DAF9DDF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91DBB8-DD05-2788-1C65-81F28F595ED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8C26A7D-3D0F-1F04-E9AC-1A27E30FE48C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73F7ED5-3BBB-494B-A5C5-CFAF779C8912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D8082A-C26D-B10F-B34A-89E4FA19DF2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DA18AF3-9F97-D565-B4EA-80F799C21F9D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271509-8D40-C54C-B482-DBCB78574297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81A5BC-383B-FF59-FB5F-3BF9D52042A3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A1C8922-B48D-FC64-C171-CBB18BE82D9B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5D48C97-E887-5A4B-348E-49888535740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EA8D64A2-FB65-8588-68AA-2E82B4422773}"/>
              </a:ext>
            </a:extLst>
          </p:cNvPr>
          <p:cNvSpPr txBox="1">
            <a:spLocks/>
          </p:cNvSpPr>
          <p:nvPr/>
        </p:nvSpPr>
        <p:spPr>
          <a:xfrm>
            <a:off x="649357" y="2971799"/>
            <a:ext cx="9866243" cy="25293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pt-BR" sz="3200" noProof="0" dirty="0"/>
              <a:t>Em resumo...</a:t>
            </a:r>
          </a:p>
          <a:p>
            <a:pPr marL="0" indent="0" eaLnBrk="1" hangingPunct="1">
              <a:buNone/>
            </a:pPr>
            <a:r>
              <a:rPr lang="pt-BR" noProof="0" dirty="0">
                <a:hlinkClick r:id="rId6"/>
              </a:rPr>
              <a:t>https://www.youtube.com/watch?v=75PCw2kJsq8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9444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77DB-646B-5EA7-49A2-C603FE80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E91348-50B2-7082-028E-954C63ACB54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691046"/>
            <a:ext cx="2752261" cy="1166953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D621AF02-2D19-5BE3-5380-58728E8775C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83D380A-9382-2B2B-AE95-894BD3476F9F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1F47F3-C949-FD15-53C5-7E366B72817E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281D2A0-E533-0EC6-730A-41F2EA82B0BB}"/>
              </a:ext>
            </a:extLst>
          </p:cNvPr>
          <p:cNvGrpSpPr>
            <a:grpSpLocks noChangeAspect="1"/>
          </p:cNvGrpSpPr>
          <p:nvPr/>
        </p:nvGrpSpPr>
        <p:grpSpPr>
          <a:xfrm>
            <a:off x="844574" y="755594"/>
            <a:ext cx="552998" cy="489750"/>
            <a:chOff x="0" y="0"/>
            <a:chExt cx="1105996" cy="979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1EE65E-30D5-D4E2-4994-69A7301E6167}"/>
                </a:ext>
              </a:extLst>
            </p:cNvPr>
            <p:cNvSpPr/>
            <p:nvPr/>
          </p:nvSpPr>
          <p:spPr>
            <a:xfrm>
              <a:off x="0" y="0"/>
              <a:ext cx="1106043" cy="979551"/>
            </a:xfrm>
            <a:custGeom>
              <a:avLst/>
              <a:gdLst/>
              <a:ahLst/>
              <a:cxnLst/>
              <a:rect l="l" t="t" r="r" b="b"/>
              <a:pathLst>
                <a:path w="1106043" h="979551">
                  <a:moveTo>
                    <a:pt x="0" y="0"/>
                  </a:moveTo>
                  <a:lnTo>
                    <a:pt x="1106043" y="0"/>
                  </a:lnTo>
                  <a:lnTo>
                    <a:pt x="1106043" y="979551"/>
                  </a:lnTo>
                  <a:lnTo>
                    <a:pt x="0" y="97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3" r="-938" b="5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6BEA89C-0C09-3AF9-6DD7-822F22AF2453}"/>
              </a:ext>
            </a:extLst>
          </p:cNvPr>
          <p:cNvSpPr txBox="1"/>
          <p:nvPr/>
        </p:nvSpPr>
        <p:spPr>
          <a:xfrm>
            <a:off x="1580554" y="743733"/>
            <a:ext cx="63687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pt-BR" sz="3200" b="1" noProof="0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 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D4B4FD8-CBB9-DBA9-B9C8-6FD76930464B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364062-F743-B2C3-7DBE-67A45F4D1F41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pic>
        <p:nvPicPr>
          <p:cNvPr id="14" name="Picture 4" descr="a cartoon pug dog with a question mark above its head">
            <a:extLst>
              <a:ext uri="{FF2B5EF4-FFF2-40B4-BE49-F238E27FC236}">
                <a16:creationId xmlns:a16="http://schemas.microsoft.com/office/drawing/2014/main" id="{FAB10607-9583-38F0-A3A2-D358F4CAB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158" y="2136602"/>
            <a:ext cx="3977665" cy="397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298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82632" y="-59934"/>
            <a:ext cx="5711925" cy="6936179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5759" y="988028"/>
            <a:ext cx="6368785" cy="110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>
              <a:lnSpc>
                <a:spcPts val="2880"/>
              </a:lnSpc>
            </a:pPr>
            <a:r>
              <a:rPr lang="en-US" sz="24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24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>
              <a:lnSpc>
                <a:spcPts val="2880"/>
              </a:lnSpc>
            </a:pPr>
            <a:r>
              <a:rPr lang="en-US" sz="24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</a:t>
            </a:r>
            <a:r>
              <a:rPr lang="en-US" sz="24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.br</a:t>
            </a:r>
            <a:endParaRPr lang="en-US" sz="24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97622" y="4781204"/>
            <a:ext cx="2908458" cy="1241245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1160</TotalTime>
  <Words>553</Words>
  <Application>Microsoft Office PowerPoint</Application>
  <PresentationFormat>Widescreen</PresentationFormat>
  <Paragraphs>80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 Avenir Next Arabic</vt:lpstr>
      <vt:lpstr> Avenir Next Arabic Bold</vt:lpstr>
      <vt:lpstr>Arial</vt:lpstr>
      <vt:lpstr>Calibri</vt:lpstr>
      <vt:lpstr>Calibri Light</vt:lpstr>
      <vt:lpstr>Courier New</vt:lpstr>
      <vt:lpstr>Gill Sans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Software</dc:title>
  <dc:creator>Usuario</dc:creator>
  <cp:lastModifiedBy>CHAIENE MERCEDES DA SILVA MINELLA</cp:lastModifiedBy>
  <cp:revision>60</cp:revision>
  <dcterms:created xsi:type="dcterms:W3CDTF">2017-02-19T11:14:52Z</dcterms:created>
  <dcterms:modified xsi:type="dcterms:W3CDTF">2026-07-27T15:05:01Z</dcterms:modified>
</cp:coreProperties>
</file>