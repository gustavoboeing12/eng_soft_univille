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8" r:id="rId14"/>
    <p:sldId id="270" r:id="rId15"/>
    <p:sldId id="279" r:id="rId16"/>
    <p:sldId id="272" r:id="rId17"/>
    <p:sldId id="281" r:id="rId18"/>
    <p:sldId id="274" r:id="rId19"/>
    <p:sldId id="283" r:id="rId20"/>
    <p:sldId id="276" r:id="rId21"/>
    <p:sldId id="285" r:id="rId22"/>
    <p:sldId id="277" r:id="rId23"/>
    <p:sldId id="286" r:id="rId24"/>
    <p:sldId id="259" r:id="rId25"/>
  </p:sldIdLst>
  <p:sldSz cx="18288000" cy="10287000"/>
  <p:notesSz cx="6858000" cy="9144000"/>
  <p:embeddedFontLst>
    <p:embeddedFont>
      <p:font typeface=" Avenir Next Arabic"/>
      <p:regular r:id="rId26"/>
    </p:embeddedFont>
    <p:embeddedFont>
      <p:font typeface=" Avenir Next Arabic Bold"/>
      <p:regular r:id="rId27"/>
    </p:embeddedFont>
    <p:embeddedFont>
      <p:font typeface="Cambria Math" panose="02040503050406030204" pitchFamily="18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modSld">
      <pc:chgData name="CHAIENE MERCEDES DA SILVA MINELLA" userId="03c40756-137a-4d89-92ad-627326a1a7b4" providerId="ADAL" clId="{B70A75BF-988A-4E24-A962-02E599989989}" dt="2026-06-29T12:56:18.995" v="4" actId="20577"/>
      <pc:docMkLst>
        <pc:docMk/>
      </pc:docMkLst>
      <pc:sldChg chg="modSp mod">
        <pc:chgData name="CHAIENE MERCEDES DA SILVA MINELLA" userId="03c40756-137a-4d89-92ad-627326a1a7b4" providerId="ADAL" clId="{B70A75BF-988A-4E24-A962-02E599989989}" dt="2026-06-29T12:54:11.705" v="2" actId="20577"/>
        <pc:sldMkLst>
          <pc:docMk/>
          <pc:sldMk cId="0" sldId="257"/>
        </pc:sldMkLst>
        <pc:spChg chg="mod">
          <ac:chgData name="CHAIENE MERCEDES DA SILVA MINELLA" userId="03c40756-137a-4d89-92ad-627326a1a7b4" providerId="ADAL" clId="{B70A75BF-988A-4E24-A962-02E599989989}" dt="2026-06-29T12:54:11.705" v="2" actId="20577"/>
          <ac:spMkLst>
            <pc:docMk/>
            <pc:sldMk cId="0" sldId="257"/>
            <ac:spMk id="7" creationId="{D2354044-EE60-FD2C-C1FE-4B4BB893A1FE}"/>
          </ac:spMkLst>
        </pc:spChg>
      </pc:sldChg>
      <pc:sldChg chg="modSp mod">
        <pc:chgData name="CHAIENE MERCEDES DA SILVA MINELLA" userId="03c40756-137a-4d89-92ad-627326a1a7b4" providerId="ADAL" clId="{B70A75BF-988A-4E24-A962-02E599989989}" dt="2026-06-29T12:56:18.995" v="4" actId="20577"/>
        <pc:sldMkLst>
          <pc:docMk/>
          <pc:sldMk cId="0" sldId="259"/>
        </pc:sldMkLst>
        <pc:spChg chg="mod">
          <ac:chgData name="CHAIENE MERCEDES DA SILVA MINELLA" userId="03c40756-137a-4d89-92ad-627326a1a7b4" providerId="ADAL" clId="{B70A75BF-988A-4E24-A962-02E599989989}" dt="2026-06-29T12:56:18.995" v="4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1034716" y="3404731"/>
            <a:ext cx="1810499" cy="1705490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3200400" y="2750090"/>
            <a:ext cx="11237748" cy="195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54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54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54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54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</a:t>
            </a:r>
          </a:p>
          <a:p>
            <a:pPr algn="l">
              <a:lnSpc>
                <a:spcPts val="7920"/>
              </a:lnSpc>
            </a:pPr>
            <a:r>
              <a:rPr lang="en-US" sz="54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Engenharia de </a:t>
            </a:r>
            <a:r>
              <a:rPr lang="en-US" sz="54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54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00400" y="4836189"/>
            <a:ext cx="9553178" cy="55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Engenharia de </a:t>
            </a:r>
            <a:r>
              <a:rPr lang="en-US" sz="3600" dirty="0" err="1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Requisitos</a:t>
            </a:r>
            <a:endParaRPr lang="en-US" sz="2400" dirty="0">
              <a:solidFill>
                <a:srgbClr val="006232"/>
              </a:solidFill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D17381A-63F8-6555-E4AD-67E53935CFAF}"/>
              </a:ext>
            </a:extLst>
          </p:cNvPr>
          <p:cNvGrpSpPr>
            <a:grpSpLocks noChangeAspect="1"/>
          </p:cNvGrpSpPr>
          <p:nvPr/>
        </p:nvGrpSpPr>
        <p:grpSpPr>
          <a:xfrm>
            <a:off x="1181100" y="7670548"/>
            <a:ext cx="3276600" cy="1398357"/>
            <a:chOff x="0" y="0"/>
            <a:chExt cx="5816916" cy="248249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1A4F598-EA5F-4E7D-CB0C-CF7CB6A4BB10}"/>
                </a:ext>
              </a:extLst>
            </p:cNvPr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F6513F38-3E80-3A58-9ED9-D1CA2661D755}"/>
              </a:ext>
            </a:extLst>
          </p:cNvPr>
          <p:cNvSpPr txBox="1"/>
          <p:nvPr/>
        </p:nvSpPr>
        <p:spPr>
          <a:xfrm>
            <a:off x="1828800" y="1138163"/>
            <a:ext cx="11125200" cy="468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UNIVILLE - </a:t>
            </a:r>
            <a:r>
              <a:rPr lang="en-US" sz="3600" dirty="0" err="1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Universidade</a:t>
            </a:r>
            <a:r>
              <a:rPr lang="en-US" sz="3600" dirty="0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 da </a:t>
            </a:r>
            <a:r>
              <a:rPr lang="en-US" sz="3600" dirty="0" err="1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Região</a:t>
            </a:r>
            <a:r>
              <a:rPr lang="en-US" sz="3600" dirty="0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 de Joinville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42696FA-CDB4-BA72-416D-E714CB6E3CB3}"/>
              </a:ext>
            </a:extLst>
          </p:cNvPr>
          <p:cNvSpPr txBox="1"/>
          <p:nvPr/>
        </p:nvSpPr>
        <p:spPr>
          <a:xfrm>
            <a:off x="1066800" y="9182100"/>
            <a:ext cx="9144000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800" dirty="0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Engenharia de Software - Profª Mª Chaiene M. da Silva Minella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11CA974-B82E-D349-2C59-98C8F433CA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024968"/>
            <a:ext cx="552599" cy="500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012EF5C-03B9-F676-B8BB-474C691D3306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FB65B0C-B949-19F9-84BC-3F503A5EC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2354044-EE60-FD2C-C1FE-4B4BB893A1FE}"/>
              </a:ext>
            </a:extLst>
          </p:cNvPr>
          <p:cNvSpPr txBox="1"/>
          <p:nvPr/>
        </p:nvSpPr>
        <p:spPr>
          <a:xfrm>
            <a:off x="1101881" y="2132390"/>
            <a:ext cx="16043086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O que é um </a:t>
            </a:r>
            <a:r>
              <a:rPr lang="pt-BR" sz="4400" b="1" u="sng" dirty="0"/>
              <a:t>processo</a:t>
            </a:r>
            <a:r>
              <a:rPr lang="pt-BR" sz="4400" b="1" dirty="0"/>
              <a:t> de Engenharia de Requisitos (ER)?</a:t>
            </a:r>
          </a:p>
          <a:p>
            <a:endParaRPr lang="pt-BR" sz="4400" b="1" dirty="0"/>
          </a:p>
          <a:p>
            <a:r>
              <a:rPr lang="pt-BR" sz="3600" dirty="0"/>
              <a:t>É um conjunto sistemático de atividades para:</a:t>
            </a:r>
          </a:p>
          <a:p>
            <a:r>
              <a:rPr lang="pt-BR" sz="3600" b="1" dirty="0"/>
              <a:t>Elicitar</a:t>
            </a:r>
            <a:r>
              <a:rPr lang="pt-BR" sz="3600" dirty="0"/>
              <a:t> </a:t>
            </a:r>
            <a:r>
              <a:rPr lang="pt-BR" sz="3600" b="1" dirty="0"/>
              <a:t>requisitos</a:t>
            </a:r>
          </a:p>
          <a:p>
            <a:r>
              <a:rPr lang="pt-BR" sz="3600" b="1" dirty="0"/>
              <a:t>Analisar e negociar</a:t>
            </a:r>
            <a:endParaRPr lang="pt-BR" sz="3600" dirty="0"/>
          </a:p>
          <a:p>
            <a:r>
              <a:rPr lang="pt-BR" sz="3600" b="1" dirty="0"/>
              <a:t>Especificar</a:t>
            </a:r>
            <a:endParaRPr lang="pt-BR" sz="3600" dirty="0"/>
          </a:p>
          <a:p>
            <a:r>
              <a:rPr lang="pt-BR" sz="3600" b="1" dirty="0"/>
              <a:t>Validar e Verificar</a:t>
            </a:r>
            <a:endParaRPr lang="pt-BR" sz="3600" dirty="0"/>
          </a:p>
          <a:p>
            <a:r>
              <a:rPr lang="pt-BR" sz="3600" b="1" dirty="0"/>
              <a:t>Gerenciar mudanças</a:t>
            </a:r>
            <a:endParaRPr lang="pt-BR" sz="3600" dirty="0"/>
          </a:p>
          <a:p>
            <a:r>
              <a:rPr lang="pt-BR" sz="3600" b="1" dirty="0"/>
              <a:t>Acompanhar rastreabilidade</a:t>
            </a:r>
          </a:p>
          <a:p>
            <a:endParaRPr lang="pt-BR" sz="3600" dirty="0"/>
          </a:p>
          <a:p>
            <a:r>
              <a:rPr lang="pt-BR" sz="3600" dirty="0"/>
              <a:t>Esse processo pode variar conforme o modelo de ciclo de vida (cascata, ágil).</a:t>
            </a:r>
          </a:p>
          <a:p>
            <a:pPr algn="just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4ADA-0A1E-38D0-8794-397420E2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3F2126-EE59-B985-A372-00E8F6E53C7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CAE2AD0-8689-3FE9-DD0D-71DE10A62AD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0A79968-DD45-9D26-B7E5-A567B1C60D9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12A5C2-DED9-40F2-9E87-130F8097363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BF7E12A-9E1B-351C-BF29-D730A1CE8FE4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B0DB241-D836-C2CF-8F7A-D80E1B0321B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989BED2-5A81-EEE0-88DB-3FBBF0C5AC50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5F7EDD1-6518-D17C-8A8A-2DD4D2268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7764DA5-A5F5-EB77-9CDD-0FAFA3890939}"/>
              </a:ext>
            </a:extLst>
          </p:cNvPr>
          <p:cNvSpPr txBox="1"/>
          <p:nvPr/>
        </p:nvSpPr>
        <p:spPr>
          <a:xfrm>
            <a:off x="1101881" y="2132390"/>
            <a:ext cx="16043086" cy="82176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4400" b="1" dirty="0"/>
              <a:t>O que é Gerenciamento de Processos em ER?</a:t>
            </a:r>
          </a:p>
          <a:p>
            <a:r>
              <a:rPr lang="pt-BR" sz="3600" dirty="0"/>
              <a:t>Consiste em </a:t>
            </a:r>
            <a:r>
              <a:rPr lang="pt-BR" sz="3600" b="1" dirty="0"/>
              <a:t>planejar, organizar, monitorar e melhorar</a:t>
            </a:r>
            <a:r>
              <a:rPr lang="pt-BR" sz="3600" dirty="0"/>
              <a:t> o processo de requisitos para </a:t>
            </a:r>
            <a:r>
              <a:rPr lang="pt-BR" sz="3600" u="sng" dirty="0"/>
              <a:t>garantir </a:t>
            </a:r>
            <a:r>
              <a:rPr lang="pt-BR" sz="3600" dirty="0"/>
              <a:t>que: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Seja seguido de forma consistente.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Produza artefatos de qualidade.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Evite retrabalho e falhas de comunicação.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Esteja alinhado a padrões organizacionais.</a:t>
            </a:r>
          </a:p>
          <a:p>
            <a:r>
              <a:rPr lang="pt-BR" sz="3600" u="sng" dirty="0"/>
              <a:t>Inclui</a:t>
            </a:r>
            <a:r>
              <a:rPr lang="pt-BR" sz="3600" dirty="0"/>
              <a:t>: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Definição de políticas e padrões.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Definição de papéis: analistas, stakeholders, gerente de requisitos.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Treinamento e definição de ferramentas.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Medição e melhoria.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192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18BE-7BD0-EF8F-C0D2-ACC5115B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8DF22F-881B-DB16-8738-C3E201704F5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0F0B4E0-36E6-5108-3F28-78BE487FA25F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A5740B4-5E6E-D7BA-BDDB-CE7ADBC05427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A2C44CD-7FBF-D617-8C62-3F86EEA23B6D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2862C76-EF21-0511-52EC-7A34170622C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2A077F-9726-D649-9613-A107E6B6C71E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3EC65B8-66B9-3556-9AE4-BAF2DE40D5AF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5E99739-9FF8-4F34-C66C-A0DF39C32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02A8DAC-55D3-4B4C-62AF-53DD0BC44103}"/>
              </a:ext>
            </a:extLst>
          </p:cNvPr>
          <p:cNvSpPr txBox="1"/>
          <p:nvPr/>
        </p:nvSpPr>
        <p:spPr>
          <a:xfrm>
            <a:off x="1101881" y="2132390"/>
            <a:ext cx="16043086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Principais Atividades do Gerenciamento de Processos em ER</a:t>
            </a:r>
          </a:p>
          <a:p>
            <a:endParaRPr lang="pt-BR" sz="3600" b="1" dirty="0"/>
          </a:p>
          <a:p>
            <a:r>
              <a:rPr lang="pt-BR" sz="3600" b="1" dirty="0"/>
              <a:t>Planejamento do Processo de Requisitos</a:t>
            </a:r>
          </a:p>
          <a:p>
            <a:r>
              <a:rPr lang="pt-BR" sz="3600" dirty="0"/>
              <a:t>Planejar significa definir: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b="1" dirty="0"/>
              <a:t>Escopo do processo</a:t>
            </a:r>
            <a:r>
              <a:rPr lang="pt-BR" sz="3600" dirty="0"/>
              <a:t>: quais atividades serão executadas?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b="1" dirty="0"/>
              <a:t>Artefatos previstos</a:t>
            </a:r>
            <a:r>
              <a:rPr lang="pt-BR" sz="3600" dirty="0"/>
              <a:t>: documentos, modelos, backlogs.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b="1" dirty="0"/>
              <a:t>Papéis e responsabilidades</a:t>
            </a:r>
            <a:r>
              <a:rPr lang="pt-BR" sz="3600" dirty="0"/>
              <a:t>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b="1" dirty="0"/>
              <a:t>Ferramentas</a:t>
            </a:r>
            <a:r>
              <a:rPr lang="pt-BR" sz="3600" dirty="0"/>
              <a:t> (ex.: </a:t>
            </a:r>
            <a:r>
              <a:rPr lang="pt-BR" sz="3600" dirty="0" err="1"/>
              <a:t>Jira</a:t>
            </a:r>
            <a:r>
              <a:rPr lang="pt-BR" sz="3600" dirty="0"/>
              <a:t>, Azure </a:t>
            </a:r>
            <a:r>
              <a:rPr lang="pt-BR" sz="3600" dirty="0" err="1"/>
              <a:t>DevOps</a:t>
            </a:r>
            <a:r>
              <a:rPr lang="pt-BR" sz="3600" dirty="0"/>
              <a:t>, Enterprise Architect).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b="1" dirty="0"/>
              <a:t>Cronograma e marcos</a:t>
            </a:r>
            <a:r>
              <a:rPr lang="pt-BR" sz="3600" dirty="0"/>
              <a:t>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b="1" dirty="0"/>
              <a:t>Critérios de qualidade</a:t>
            </a:r>
            <a:r>
              <a:rPr lang="pt-BR" sz="3600" dirty="0"/>
              <a:t>.</a:t>
            </a:r>
          </a:p>
          <a:p>
            <a:r>
              <a:rPr lang="pt-BR" sz="3600" dirty="0"/>
              <a:t>Exemplo: definir que todos os requisitos devem ser revisados por pares antes da aprovação.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86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FF9F-D3EE-6024-9E59-2AA1A3FE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B46FBA1-B124-58C5-A973-DE95651B1A6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106197A-A631-B9EB-3EE8-5E2E3C7C76E8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5B70652-FF2A-0B1E-939C-40CFCC4D0242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6551F2B-F8F5-3A6D-D79F-E4531A5B1FE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5014D5C-087B-3488-59B9-720A8C19281B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297A7FE-F11F-6ED6-E81D-7874BFDAF4AD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4B50C0B-6BAD-0EB0-FAE8-487EF1E5E8E8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FE98D65-76A9-7EB0-8172-8E6DA2408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9017AEB-9A00-2567-8351-02A172DC53A3}"/>
              </a:ext>
            </a:extLst>
          </p:cNvPr>
          <p:cNvSpPr txBox="1"/>
          <p:nvPr/>
        </p:nvSpPr>
        <p:spPr>
          <a:xfrm>
            <a:off x="1101881" y="2132390"/>
            <a:ext cx="1604308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Principais Atividades do Gerenciamento de Processos em ER</a:t>
            </a:r>
          </a:p>
          <a:p>
            <a:endParaRPr lang="pt-BR" sz="3600" b="1" dirty="0"/>
          </a:p>
          <a:p>
            <a:r>
              <a:rPr lang="pt-BR" sz="3600" b="1" dirty="0"/>
              <a:t>Definição de Padrões e Políticas</a:t>
            </a:r>
          </a:p>
          <a:p>
            <a:r>
              <a:rPr lang="pt-BR" sz="3600" dirty="0"/>
              <a:t>A organização estabelece: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Padrões de escrita (ex.: modelo IEEE 29148).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Níveis de detalhe (alto nível </a:t>
            </a:r>
            <a:r>
              <a:rPr lang="pt-BR" sz="3600" dirty="0" err="1"/>
              <a:t>vs</a:t>
            </a:r>
            <a:r>
              <a:rPr lang="pt-BR" sz="3600" dirty="0"/>
              <a:t> detalhado).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Estrutura mínima de um requisito (ID, descrição, justificativa, prioridade, critérios de aceitação).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Padrões de rastreabilidade (requisito → casos de teste → elementos de projeto).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61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9FB7-DC42-6BAE-6AAD-6EDA2CA19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E9A100B-4C83-5C31-B1CA-977774ED453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72F475C-13B5-CC50-3CD0-73182F7BB03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6C91657-D87D-A6F8-63D5-3998668AC255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854D625-628C-89F1-7A97-658BBF5BF77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5323EDA-DEA8-4C55-3F88-DC0482A3627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C7B6922-08AF-8152-A215-D886CCBFB91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D79DD64-CF7B-6780-26BD-5A4904802266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A90EF78-8907-A7ED-5F05-6EC1A688B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E4CB8C6-9C1A-B567-0F1F-E70633E07600}"/>
              </a:ext>
            </a:extLst>
          </p:cNvPr>
          <p:cNvSpPr txBox="1"/>
          <p:nvPr/>
        </p:nvSpPr>
        <p:spPr>
          <a:xfrm>
            <a:off x="1101881" y="2132390"/>
            <a:ext cx="16043086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4400" b="1" dirty="0"/>
              <a:t>Principais Atividades do Gerenciamento de Processos em ER</a:t>
            </a:r>
          </a:p>
          <a:p>
            <a:endParaRPr lang="pt-BR" sz="3600" b="1" dirty="0"/>
          </a:p>
          <a:p>
            <a:r>
              <a:rPr lang="pt-BR" sz="3600" b="1" dirty="0"/>
              <a:t>Gerenciamento da Rastreabilidade</a:t>
            </a:r>
          </a:p>
          <a:p>
            <a:r>
              <a:rPr lang="pt-BR" sz="3600" dirty="0"/>
              <a:t>A rastreabilidade permite: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Saber </a:t>
            </a:r>
            <a:r>
              <a:rPr lang="pt-BR" sz="3600" b="1" dirty="0"/>
              <a:t>de onde</a:t>
            </a:r>
            <a:r>
              <a:rPr lang="pt-BR" sz="3600" dirty="0"/>
              <a:t> um requisito veio.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Identificar </a:t>
            </a:r>
            <a:r>
              <a:rPr lang="pt-BR" sz="3600" b="1" dirty="0"/>
              <a:t>impacto de mudanças</a:t>
            </a:r>
            <a:r>
              <a:rPr lang="pt-BR" sz="3600" dirty="0"/>
              <a:t>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Relacionar requisitos com testes, design e código.</a:t>
            </a:r>
          </a:p>
        </p:txBody>
      </p:sp>
    </p:spTree>
    <p:extLst>
      <p:ext uri="{BB962C8B-B14F-4D97-AF65-F5344CB8AC3E}">
        <p14:creationId xmlns:p14="http://schemas.microsoft.com/office/powerpoint/2010/main" val="2836981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7111-E7AC-F42A-2185-4AD024C8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BF514D8-2147-3A12-8C8A-E8202D0C6F6F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5EEF372-9398-92BD-2BD9-267C9868536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810F9B3-530A-827F-F3CA-264086BC9EE4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349430E-1224-0302-DF01-CE74320C189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CADE5C8-4452-150D-9F8F-09E3C38DB7DD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BF6915B-3494-7DC9-C3D7-80B7284FC2F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8B095EA8-B47F-E237-CDC4-90962102FE7C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BAD9AC5-613D-40F5-94BF-22109E5A2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301394B-15B6-9F92-F8E0-51E6482D115F}"/>
              </a:ext>
            </a:extLst>
          </p:cNvPr>
          <p:cNvSpPr txBox="1"/>
          <p:nvPr/>
        </p:nvSpPr>
        <p:spPr>
          <a:xfrm>
            <a:off x="1101881" y="2132390"/>
            <a:ext cx="1604308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Principais Atividades do Gerenciamento de Processos em ER</a:t>
            </a:r>
          </a:p>
          <a:p>
            <a:endParaRPr lang="pt-BR" sz="3600" b="1" dirty="0"/>
          </a:p>
          <a:p>
            <a:r>
              <a:rPr lang="pt-BR" sz="3600" b="1" dirty="0"/>
              <a:t>Gerenciamento de Mudanças em Requisitos</a:t>
            </a:r>
          </a:p>
          <a:p>
            <a:r>
              <a:rPr lang="pt-BR" sz="3600" dirty="0"/>
              <a:t>Processo envolve: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Solicitação de mudança.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Análise de impacto.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Aprovação ou rejeição (CCB – </a:t>
            </a:r>
            <a:r>
              <a:rPr lang="pt-BR" sz="3600" dirty="0" err="1"/>
              <a:t>Change</a:t>
            </a:r>
            <a:r>
              <a:rPr lang="pt-BR" sz="3600" dirty="0"/>
              <a:t> </a:t>
            </a:r>
            <a:r>
              <a:rPr lang="pt-BR" sz="3600" dirty="0" err="1"/>
              <a:t>Control</a:t>
            </a:r>
            <a:r>
              <a:rPr lang="pt-BR" sz="3600" dirty="0"/>
              <a:t> Board).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Atualização dos artefatos.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Comunicação aos stakeholders.</a:t>
            </a:r>
          </a:p>
        </p:txBody>
      </p:sp>
    </p:spTree>
    <p:extLst>
      <p:ext uri="{BB962C8B-B14F-4D97-AF65-F5344CB8AC3E}">
        <p14:creationId xmlns:p14="http://schemas.microsoft.com/office/powerpoint/2010/main" val="82510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17CE9-61BB-6B66-C51F-76FB6827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B3D1E96-C316-B150-BFD1-5C6FD5DA8D6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052B479-016F-B4FE-61EB-D7B1A10CFE0B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6F79692-6D99-EC39-6E77-420C39E0D8F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C4186CD-62AC-80CF-92FA-22F3A315021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5E51EE2-33EC-4E5B-378B-F10F9D3536D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331B3E5-EEEA-D3B0-FCEB-4A3E873FE8AE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2E2B0399-D12E-AB58-023F-8509F29694A6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55C0AA4-2D1B-8EA3-075F-7F1BEAB9B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F9373CD-B615-4CED-C949-70F2E4AB6EFD}"/>
              </a:ext>
            </a:extLst>
          </p:cNvPr>
          <p:cNvSpPr txBox="1"/>
          <p:nvPr/>
        </p:nvSpPr>
        <p:spPr>
          <a:xfrm>
            <a:off x="1101881" y="2132390"/>
            <a:ext cx="1604308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Principais Atividades do Gerenciamento de Processos em ER</a:t>
            </a:r>
          </a:p>
          <a:p>
            <a:endParaRPr lang="pt-BR" sz="3600" b="1" dirty="0"/>
          </a:p>
          <a:p>
            <a:r>
              <a:rPr lang="pt-BR" sz="3600" b="1" dirty="0"/>
              <a:t>Medição e Avaliação do Processo</a:t>
            </a:r>
          </a:p>
          <a:p>
            <a:r>
              <a:rPr lang="pt-BR" sz="3600" dirty="0"/>
              <a:t>Indicadores comuns: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Número de mudanças por sprint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Percentual de requisitos rejeitados em validação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Percentual de requisitos que geram defeitos no teste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Tempo médio de análise de uma mudança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b="1" dirty="0"/>
              <a:t>PDCA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dirty="0"/>
              <a:t>Modelos como </a:t>
            </a:r>
            <a:r>
              <a:rPr lang="pt-BR" sz="3600" b="1" dirty="0"/>
              <a:t>CMMI</a:t>
            </a:r>
            <a:r>
              <a:rPr lang="pt-BR" sz="3600" dirty="0"/>
              <a:t> e </a:t>
            </a:r>
            <a:r>
              <a:rPr lang="pt-BR" sz="3600" b="1" dirty="0" err="1"/>
              <a:t>MPS.Br</a:t>
            </a:r>
            <a:r>
              <a:rPr lang="pt-BR" sz="3600" b="1" dirty="0"/>
              <a:t> (GRE e GPR)</a:t>
            </a:r>
            <a:r>
              <a:rPr lang="pt-BR" sz="3600" dirty="0"/>
              <a:t> reforçam a importância de medições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3600" b="1" dirty="0"/>
              <a:t>ISO 29148</a:t>
            </a:r>
          </a:p>
        </p:txBody>
      </p:sp>
    </p:spTree>
    <p:extLst>
      <p:ext uri="{BB962C8B-B14F-4D97-AF65-F5344CB8AC3E}">
        <p14:creationId xmlns:p14="http://schemas.microsoft.com/office/powerpoint/2010/main" val="365756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DCB2-D5B8-6A4B-5B54-17914350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F6DF7C6-E646-A176-4743-E5EF1CE0962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1B2D64F6-4F99-852A-60B1-4B85F301465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BAB28C4-C010-DAFA-1336-65DDACEC4DF5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9A51EAA-AB82-A0D7-316F-9FF80DBB9FA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822FD29-3F73-488E-CEF6-F6895ECC512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BF29D88-5885-F11F-B530-7EA60CD88F65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B180ED3-91EE-CE65-A5FC-CA036491784E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25243D8-FA4B-7C4F-8574-65B5AFF18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D35D546-4E2D-8A91-638E-D0D4F9CB46AE}"/>
              </a:ext>
            </a:extLst>
          </p:cNvPr>
          <p:cNvSpPr txBox="1"/>
          <p:nvPr/>
        </p:nvSpPr>
        <p:spPr>
          <a:xfrm>
            <a:off x="1101881" y="2132390"/>
            <a:ext cx="1604308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Principais Atividades do Gerenciamento de Processos em ER</a:t>
            </a:r>
          </a:p>
          <a:p>
            <a:endParaRPr lang="pt-BR" sz="3600" b="1" dirty="0"/>
          </a:p>
          <a:p>
            <a:r>
              <a:rPr lang="pt-BR" sz="3600" b="1" dirty="0"/>
              <a:t>Melhoria Contínua do Processo</a:t>
            </a:r>
          </a:p>
          <a:p>
            <a:r>
              <a:rPr lang="pt-BR" sz="3600" dirty="0"/>
              <a:t>Estrutura PDCA:</a:t>
            </a:r>
          </a:p>
          <a:p>
            <a:r>
              <a:rPr lang="pt-BR" sz="3600" b="1" dirty="0" err="1"/>
              <a:t>Plan</a:t>
            </a:r>
            <a:r>
              <a:rPr lang="pt-BR" sz="3600" dirty="0"/>
              <a:t> – definir objetivos e padrões.</a:t>
            </a:r>
          </a:p>
          <a:p>
            <a:r>
              <a:rPr lang="pt-BR" sz="3600" b="1" dirty="0"/>
              <a:t>Do</a:t>
            </a:r>
            <a:r>
              <a:rPr lang="pt-BR" sz="3600" dirty="0"/>
              <a:t> – executar o processo.</a:t>
            </a:r>
          </a:p>
          <a:p>
            <a:r>
              <a:rPr lang="pt-BR" sz="3600" b="1" dirty="0" err="1"/>
              <a:t>Check</a:t>
            </a:r>
            <a:r>
              <a:rPr lang="pt-BR" sz="3600" dirty="0"/>
              <a:t> – medir e avaliar resultados.</a:t>
            </a:r>
          </a:p>
          <a:p>
            <a:r>
              <a:rPr lang="pt-BR" sz="3600" b="1" dirty="0" err="1"/>
              <a:t>Act</a:t>
            </a:r>
            <a:r>
              <a:rPr lang="pt-BR" sz="3600" dirty="0"/>
              <a:t> – melhorar atividades, treinar e documentar boas práticas.</a:t>
            </a:r>
          </a:p>
        </p:txBody>
      </p:sp>
    </p:spTree>
    <p:extLst>
      <p:ext uri="{BB962C8B-B14F-4D97-AF65-F5344CB8AC3E}">
        <p14:creationId xmlns:p14="http://schemas.microsoft.com/office/powerpoint/2010/main" val="36181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860EF-A4CD-B2AC-C621-B84DE938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9BD21D-446E-9E7C-C723-2BB67D5F7714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9026960"/>
            <a:ext cx="2971800" cy="1260037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3078584-0376-BACD-9DCE-EA024F4D5497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424E440-B816-152A-7871-F11231D7AF7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C2D701-26D9-0151-2A62-576CE401159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D632ED6-F180-A680-1DBF-EB9B0C9B69F7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DB41449-6525-6AC1-46F9-18B99FD960D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68FDBCE-9994-9B92-7B00-88B32CA32FAE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4F64FB9-9659-D858-335A-5EF3CA300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B52C430-991E-1146-C1F1-93C5EFF8A484}"/>
              </a:ext>
            </a:extLst>
          </p:cNvPr>
          <p:cNvSpPr txBox="1"/>
          <p:nvPr/>
        </p:nvSpPr>
        <p:spPr>
          <a:xfrm>
            <a:off x="1101881" y="2132390"/>
            <a:ext cx="16043086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Principais Atividades do Gerenciamento de Processos em ER</a:t>
            </a:r>
          </a:p>
          <a:p>
            <a:endParaRPr lang="pt-BR" sz="2800" b="1" dirty="0"/>
          </a:p>
          <a:p>
            <a:r>
              <a:rPr lang="pt-BR" sz="2800" b="1" dirty="0"/>
              <a:t>Modelos de Referência Relacionados</a:t>
            </a:r>
          </a:p>
          <a:p>
            <a:r>
              <a:rPr lang="pt-BR" sz="2800" b="1" dirty="0"/>
              <a:t>CMMI (</a:t>
            </a:r>
            <a:r>
              <a:rPr lang="pt-BR" sz="2800" b="1" dirty="0" err="1"/>
              <a:t>Capability</a:t>
            </a:r>
            <a:r>
              <a:rPr lang="pt-BR" sz="2800" b="1" dirty="0"/>
              <a:t> </a:t>
            </a:r>
            <a:r>
              <a:rPr lang="pt-BR" sz="2800" b="1" dirty="0" err="1"/>
              <a:t>Maturity</a:t>
            </a:r>
            <a:r>
              <a:rPr lang="pt-BR" sz="2800" b="1" dirty="0"/>
              <a:t> Model </a:t>
            </a:r>
            <a:r>
              <a:rPr lang="pt-BR" sz="2800" b="1" dirty="0" err="1"/>
              <a:t>Integration</a:t>
            </a:r>
            <a:r>
              <a:rPr lang="pt-BR" sz="2800" b="1" dirty="0"/>
              <a:t>)</a:t>
            </a:r>
          </a:p>
          <a:p>
            <a:r>
              <a:rPr lang="pt-BR" sz="2800" b="1" dirty="0" err="1"/>
              <a:t>MPS.Br</a:t>
            </a:r>
            <a:r>
              <a:rPr lang="pt-BR" sz="2800" b="1" dirty="0"/>
              <a:t> – Melhoria de Processo de Software Brasileiro</a:t>
            </a:r>
          </a:p>
          <a:p>
            <a:pPr marL="352425"/>
            <a:r>
              <a:rPr lang="pt-BR" sz="2800" dirty="0"/>
              <a:t>Processos equivalentes:</a:t>
            </a:r>
          </a:p>
          <a:p>
            <a:pPr marL="352425"/>
            <a:r>
              <a:rPr lang="pt-BR" sz="2800" b="1" dirty="0"/>
              <a:t>GRE – Gerência de Requisitos</a:t>
            </a:r>
            <a:endParaRPr lang="pt-BR" sz="2800" dirty="0"/>
          </a:p>
          <a:p>
            <a:pPr marL="352425"/>
            <a:r>
              <a:rPr lang="pt-BR" sz="2800" b="1" dirty="0"/>
              <a:t>GPR – Gerência de Projetos</a:t>
            </a:r>
            <a:r>
              <a:rPr lang="pt-BR" sz="2800" dirty="0"/>
              <a:t> (apoio ao planejamento do processo de ER)</a:t>
            </a:r>
          </a:p>
          <a:p>
            <a:pPr marL="352425"/>
            <a:r>
              <a:rPr lang="pt-BR" sz="2800" b="1" dirty="0"/>
              <a:t>ENG – Engenharia de Requisitos</a:t>
            </a:r>
            <a:endParaRPr lang="pt-BR" sz="2800" dirty="0"/>
          </a:p>
          <a:p>
            <a:pPr marL="352425"/>
            <a:r>
              <a:rPr lang="pt-BR" sz="2800" dirty="0"/>
              <a:t>Práticas incluem:</a:t>
            </a:r>
          </a:p>
          <a:p>
            <a:pPr marL="900113"/>
            <a:r>
              <a:rPr lang="pt-BR" sz="2800" dirty="0"/>
              <a:t>Estabelecer e manter entendimento entre stakeholders.</a:t>
            </a:r>
          </a:p>
          <a:p>
            <a:pPr marL="900113"/>
            <a:r>
              <a:rPr lang="pt-BR" sz="2800" dirty="0"/>
              <a:t>Gerenciar mudanças.</a:t>
            </a:r>
          </a:p>
          <a:p>
            <a:pPr marL="900113"/>
            <a:r>
              <a:rPr lang="pt-BR" sz="2800" dirty="0"/>
              <a:t>Manter rastreabilidade bidirecional.</a:t>
            </a:r>
          </a:p>
          <a:p>
            <a:r>
              <a:rPr lang="pt-BR" sz="2800" b="1" dirty="0"/>
              <a:t>ISO/IEC/IEEE 29148</a:t>
            </a:r>
          </a:p>
          <a:p>
            <a:pPr marL="273050"/>
            <a:r>
              <a:rPr lang="pt-BR" sz="2800" dirty="0"/>
              <a:t>Padrão internacional para processos de requisitos.</a:t>
            </a:r>
          </a:p>
          <a:p>
            <a:pPr marL="273050"/>
            <a:r>
              <a:rPr lang="pt-BR" sz="2800" dirty="0"/>
              <a:t>Contém diretrizes de qualidade para requisitos (completos, consistentes, verificáveis, etc.).</a:t>
            </a:r>
          </a:p>
        </p:txBody>
      </p:sp>
    </p:spTree>
    <p:extLst>
      <p:ext uri="{BB962C8B-B14F-4D97-AF65-F5344CB8AC3E}">
        <p14:creationId xmlns:p14="http://schemas.microsoft.com/office/powerpoint/2010/main" val="1542156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76C9-47DB-72BC-230D-D2418ECD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62AF4C-AC40-294C-EAD3-0D739A2216A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9180040"/>
            <a:ext cx="2610763" cy="1106958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426BE38B-7127-734F-9735-12684D9FF3A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970AE7E-303A-34C2-8225-2D61366D818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99780F-CE15-D67E-CB58-895841D71799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35AB3BA-1572-52F3-E8C4-DA97660A6F4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36D8CA5-E9E5-8AF2-4CEF-2B393D4C852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530AD71-EF61-0B6A-0FAD-BA4288E9393D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8E01037-DD2D-8ED9-EE68-901D5BCB4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9FCEE82-2B3F-1567-2AD1-DCADFEBFB4EA}"/>
              </a:ext>
            </a:extLst>
          </p:cNvPr>
          <p:cNvSpPr txBox="1"/>
          <p:nvPr/>
        </p:nvSpPr>
        <p:spPr>
          <a:xfrm>
            <a:off x="1101881" y="2132390"/>
            <a:ext cx="16043086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Gerenciamento de Processos de Requisitos em Metodologias Ágeis</a:t>
            </a:r>
          </a:p>
          <a:p>
            <a:r>
              <a:rPr lang="pt-BR" sz="3000" dirty="0"/>
              <a:t>No ágil:</a:t>
            </a:r>
          </a:p>
          <a:p>
            <a:pPr marL="450850"/>
            <a:r>
              <a:rPr lang="pt-BR" sz="3000" dirty="0"/>
              <a:t>Processo é mais leve e iterativo.</a:t>
            </a:r>
          </a:p>
          <a:p>
            <a:r>
              <a:rPr lang="pt-BR" sz="3000" dirty="0"/>
              <a:t>Papéis: </a:t>
            </a:r>
            <a:r>
              <a:rPr lang="pt-BR" sz="3000" dirty="0" err="1"/>
              <a:t>Product</a:t>
            </a:r>
            <a:r>
              <a:rPr lang="pt-BR" sz="3000" dirty="0"/>
              <a:t> </a:t>
            </a:r>
            <a:r>
              <a:rPr lang="pt-BR" sz="3000" dirty="0" err="1"/>
              <a:t>Owner</a:t>
            </a:r>
            <a:r>
              <a:rPr lang="pt-BR" sz="3000" dirty="0"/>
              <a:t>, Scrum Master, Time de Desenvolvimento.</a:t>
            </a:r>
          </a:p>
          <a:p>
            <a:pPr marL="534988"/>
            <a:r>
              <a:rPr lang="pt-BR" sz="3000" dirty="0"/>
              <a:t>Artefatos:</a:t>
            </a:r>
          </a:p>
          <a:p>
            <a:pPr marL="1082675" lvl="1"/>
            <a:r>
              <a:rPr lang="pt-BR" sz="3000" b="1" dirty="0" err="1"/>
              <a:t>Product</a:t>
            </a:r>
            <a:r>
              <a:rPr lang="pt-BR" sz="3000" b="1" dirty="0"/>
              <a:t> Backlog</a:t>
            </a:r>
            <a:endParaRPr lang="pt-BR" sz="3000" dirty="0"/>
          </a:p>
          <a:p>
            <a:pPr marL="1082675" lvl="1"/>
            <a:r>
              <a:rPr lang="pt-BR" sz="3000" b="1" dirty="0" err="1"/>
              <a:t>User</a:t>
            </a:r>
            <a:r>
              <a:rPr lang="pt-BR" sz="3000" b="1" dirty="0"/>
              <a:t> Stories</a:t>
            </a:r>
            <a:endParaRPr lang="pt-BR" sz="3000" dirty="0"/>
          </a:p>
          <a:p>
            <a:pPr marL="1082675" lvl="1"/>
            <a:r>
              <a:rPr lang="pt-BR" sz="3000" b="1" dirty="0" err="1"/>
              <a:t>Definition</a:t>
            </a:r>
            <a:r>
              <a:rPr lang="pt-BR" sz="3000" b="1" dirty="0"/>
              <a:t> </a:t>
            </a:r>
            <a:r>
              <a:rPr lang="pt-BR" sz="3000" b="1" dirty="0" err="1"/>
              <a:t>of</a:t>
            </a:r>
            <a:r>
              <a:rPr lang="pt-BR" sz="3000" b="1" dirty="0"/>
              <a:t> </a:t>
            </a:r>
            <a:r>
              <a:rPr lang="pt-BR" sz="3000" b="1" dirty="0" err="1"/>
              <a:t>Ready</a:t>
            </a:r>
            <a:endParaRPr lang="pt-BR" sz="3000" dirty="0"/>
          </a:p>
          <a:p>
            <a:pPr marL="1082675" lvl="1"/>
            <a:r>
              <a:rPr lang="pt-BR" sz="3000" b="1" dirty="0" err="1"/>
              <a:t>Definition</a:t>
            </a:r>
            <a:r>
              <a:rPr lang="pt-BR" sz="3000" b="1" dirty="0"/>
              <a:t> </a:t>
            </a:r>
            <a:r>
              <a:rPr lang="pt-BR" sz="3000" b="1" dirty="0" err="1"/>
              <a:t>of</a:t>
            </a:r>
            <a:r>
              <a:rPr lang="pt-BR" sz="3000" b="1" dirty="0"/>
              <a:t> </a:t>
            </a:r>
            <a:r>
              <a:rPr lang="pt-BR" sz="3000" b="1" dirty="0" err="1"/>
              <a:t>Done</a:t>
            </a:r>
            <a:endParaRPr lang="pt-BR" sz="3000" dirty="0"/>
          </a:p>
          <a:p>
            <a:r>
              <a:rPr lang="pt-BR" sz="3000" dirty="0"/>
              <a:t>Refinamento atende parte da revisão e análise do processo de requisitos.</a:t>
            </a:r>
          </a:p>
          <a:p>
            <a:r>
              <a:rPr lang="pt-BR" sz="3000" dirty="0"/>
              <a:t>Métricas:</a:t>
            </a:r>
          </a:p>
          <a:p>
            <a:pPr lvl="1"/>
            <a:r>
              <a:rPr lang="pt-BR" sz="3000" dirty="0"/>
              <a:t>Velocidade (tempo de desenvolvimento).</a:t>
            </a:r>
          </a:p>
          <a:p>
            <a:pPr lvl="1"/>
            <a:r>
              <a:rPr lang="pt-BR" sz="3000" dirty="0"/>
              <a:t>Número de histórias reabertas.</a:t>
            </a:r>
          </a:p>
          <a:p>
            <a:pPr lvl="1"/>
            <a:r>
              <a:rPr lang="pt-BR" sz="3000" dirty="0"/>
              <a:t>Requisitos não concluídos no sprint.</a:t>
            </a:r>
          </a:p>
          <a:p>
            <a:r>
              <a:rPr lang="pt-BR" sz="3000" dirty="0"/>
              <a:t>Apesar da flexibilidade, </a:t>
            </a:r>
            <a:r>
              <a:rPr lang="pt-BR" sz="3000" b="1" dirty="0"/>
              <a:t>agilidade não é ausência de processo</a:t>
            </a:r>
            <a:r>
              <a:rPr lang="pt-BR" sz="3000" dirty="0"/>
              <a:t>; é um processo adaptável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2379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9AE4-919D-0960-E75B-063CB9D8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1F4933-C179-14B0-E3CF-D27789307004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14ECC71-E21E-5441-28A6-620BCC4C718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E0AECF1-0383-E2ED-4002-6C1A6E150EC2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09F96C5-7864-2F02-72A5-79D2613CB6F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7C44A15-841C-8376-34FD-F28C5946940E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8CD53C3-938B-CCAC-6562-08CD8727933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A76D043-73A4-553B-6A01-948DA9B6CC98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Processo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em Engenharia de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000" b="1" dirty="0">
              <a:solidFill>
                <a:srgbClr val="006232"/>
              </a:solidFill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E41B1D0-B579-705A-B946-C71CF0524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88E50BB-297C-F329-4F20-28A6049E30FB}"/>
              </a:ext>
            </a:extLst>
          </p:cNvPr>
          <p:cNvSpPr txBox="1"/>
          <p:nvPr/>
        </p:nvSpPr>
        <p:spPr>
          <a:xfrm>
            <a:off x="1101881" y="2132390"/>
            <a:ext cx="1604308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Exemplos de Artefatos do Processo de ER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/>
              <a:t>Documento de visão.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/>
              <a:t>Lista priorizada de requisitos.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/>
              <a:t>Especificação de requisitos (SRS).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 err="1"/>
              <a:t>User</a:t>
            </a:r>
            <a:r>
              <a:rPr lang="pt-BR" sz="3200" dirty="0"/>
              <a:t> Stories + critérios de aceitação.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/>
              <a:t>Matriz de rastreabilidade.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/>
              <a:t>Relatório de análise de impacto.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pt-BR" sz="3200" dirty="0"/>
              <a:t>Mapa de stakeholders. Protótipos e modelos UML.</a:t>
            </a:r>
          </a:p>
        </p:txBody>
      </p:sp>
    </p:spTree>
    <p:extLst>
      <p:ext uri="{BB962C8B-B14F-4D97-AF65-F5344CB8AC3E}">
        <p14:creationId xmlns:p14="http://schemas.microsoft.com/office/powerpoint/2010/main" val="3082851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" y="8510024"/>
            <a:ext cx="4191000" cy="1776976"/>
            <a:chOff x="0" y="0"/>
            <a:chExt cx="6937514" cy="2941492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6937502" cy="2941447"/>
            </a:xfrm>
            <a:custGeom>
              <a:avLst/>
              <a:gdLst/>
              <a:ahLst/>
              <a:cxnLst/>
              <a:rect l="l" t="t" r="r" b="b"/>
              <a:pathLst>
                <a:path w="6937502" h="2941447">
                  <a:moveTo>
                    <a:pt x="0" y="0"/>
                  </a:moveTo>
                  <a:lnTo>
                    <a:pt x="6937502" y="0"/>
                  </a:lnTo>
                  <a:lnTo>
                    <a:pt x="6937502" y="2941447"/>
                  </a:lnTo>
                  <a:lnTo>
                    <a:pt x="0" y="294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2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43583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370830" y="1115598"/>
            <a:ext cx="9553178" cy="72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Dúvidas</a:t>
            </a:r>
            <a:r>
              <a:rPr lang="en-US" sz="48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 ???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0C59DBF-ECB8-9BD0-434C-6F7C247A3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pic>
        <p:nvPicPr>
          <p:cNvPr id="6" name="Picture 4" descr="a cartoon pug dog with a question mark above its head">
            <a:extLst>
              <a:ext uri="{FF2B5EF4-FFF2-40B4-BE49-F238E27FC236}">
                <a16:creationId xmlns:a16="http://schemas.microsoft.com/office/drawing/2014/main" id="{1EDFB4EC-98B3-D00D-078D-C97EF8E0C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17746"/>
            <a:ext cx="5098294" cy="509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63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1211-F3B1-4671-2990-7CBB0F09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1CF9C9-A32A-36ED-09D0-1F3F96D2F7B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BA7ED31-D3F7-BF48-B20A-0FCCF8D59F7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DA93496-6B1F-977C-E293-1A1060DD97FC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356A670-116D-29F2-3803-525F604E4A0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0D152F5-4A73-DDD2-0DAE-71ACCAAE0DE8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C616504-0F20-6545-FA4A-2819D47BCBF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B190A17D-68DB-48E4-73BC-44754FEE7A3D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CF9F99F-ECE0-9144-074C-5B659F864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D234E77-0822-0C51-B88D-CBFD48E0EDFA}"/>
              </a:ext>
            </a:extLst>
          </p:cNvPr>
          <p:cNvSpPr txBox="1"/>
          <p:nvPr/>
        </p:nvSpPr>
        <p:spPr>
          <a:xfrm>
            <a:off x="1101881" y="2132390"/>
            <a:ext cx="1604308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1. O que é Gerenciamento de Processos em Engenharia de Requisitos?</a:t>
            </a:r>
          </a:p>
          <a:p>
            <a:r>
              <a:rPr lang="pt-BR" sz="3200" dirty="0"/>
              <a:t>A) Apenas a documentação dos requisitos.</a:t>
            </a:r>
            <a:br>
              <a:rPr lang="pt-BR" sz="3200" dirty="0"/>
            </a:br>
            <a:r>
              <a:rPr lang="pt-BR" sz="3200" dirty="0"/>
              <a:t>B) Um conjunto de atividades para garantir que o processo de requisitos seja planejado, executado, monitorado e melhorado.</a:t>
            </a:r>
            <a:br>
              <a:rPr lang="pt-BR" sz="3200" dirty="0"/>
            </a:br>
            <a:r>
              <a:rPr lang="pt-BR" sz="3200" dirty="0"/>
              <a:t>C) A tradução de requisitos para casos de teste.</a:t>
            </a:r>
            <a:br>
              <a:rPr lang="pt-BR" sz="3200" dirty="0"/>
            </a:br>
            <a:r>
              <a:rPr lang="pt-BR" sz="3200" dirty="0"/>
              <a:t>D) A implementação de funcionalidades no sistema.</a:t>
            </a:r>
          </a:p>
          <a:p>
            <a:endParaRPr lang="pt-BR" sz="3200" dirty="0"/>
          </a:p>
          <a:p>
            <a:r>
              <a:rPr lang="pt-BR" sz="3200" b="1" dirty="0"/>
              <a:t>2. Qual atividade NÃO faz parte do processo de requisitos?</a:t>
            </a:r>
          </a:p>
          <a:p>
            <a:r>
              <a:rPr lang="pt-BR" sz="3200" dirty="0"/>
              <a:t>A) Elicitação.</a:t>
            </a:r>
            <a:br>
              <a:rPr lang="pt-BR" sz="3200" dirty="0"/>
            </a:br>
            <a:r>
              <a:rPr lang="pt-BR" sz="3200" dirty="0"/>
              <a:t>B) Validação.</a:t>
            </a:r>
            <a:br>
              <a:rPr lang="pt-BR" sz="3200" dirty="0"/>
            </a:br>
            <a:r>
              <a:rPr lang="pt-BR" sz="3200" dirty="0"/>
              <a:t>C) Análise e negociação.</a:t>
            </a:r>
            <a:br>
              <a:rPr lang="pt-BR" sz="3200" dirty="0"/>
            </a:br>
            <a:r>
              <a:rPr lang="pt-BR" sz="3200" dirty="0"/>
              <a:t>D) </a:t>
            </a:r>
            <a:r>
              <a:rPr lang="pt-BR" sz="3200" dirty="0" err="1"/>
              <a:t>Deploy</a:t>
            </a:r>
            <a:r>
              <a:rPr lang="pt-BR" sz="3200" dirty="0"/>
              <a:t> do software.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60241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5B372-EE9E-EE64-95F4-A7FFCEDD6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5BEDCF-CE21-2EFA-AF37-289DD0D8574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A1B7747-27FF-7C9D-6CA9-C76CB71A00D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A440642-FC7F-D504-E3E9-10E4D00BE68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4FBC0CD-C882-9777-DB33-162E8327E92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93CEA4A-C462-1159-67DA-D2FBDE6D6E77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711E1B0-AA96-A4FF-BCB3-3863C2CBAFE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D70299DE-3A8D-16F3-F0E3-18A7544CD5B1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73BD779-F268-7D3A-A45E-116849873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E382055-FC2A-DD4D-CB04-B23E5D693E1F}"/>
              </a:ext>
            </a:extLst>
          </p:cNvPr>
          <p:cNvSpPr txBox="1"/>
          <p:nvPr/>
        </p:nvSpPr>
        <p:spPr>
          <a:xfrm>
            <a:off x="1101881" y="2132390"/>
            <a:ext cx="1604308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1. O que é Gerenciamento de Processos em Engenharia de Requisitos?</a:t>
            </a:r>
          </a:p>
          <a:p>
            <a:r>
              <a:rPr lang="pt-BR" sz="3200" dirty="0"/>
              <a:t>A) Apenas a documentação dos requisitos.</a:t>
            </a:r>
            <a:br>
              <a:rPr lang="pt-BR" sz="3200" dirty="0"/>
            </a:br>
            <a:r>
              <a:rPr lang="pt-BR" sz="3200" b="1" dirty="0"/>
              <a:t>B) Um conjunto de atividades para garantir que o processo de requisitos seja planejado, executado, monitorado e melhorado.</a:t>
            </a:r>
            <a:br>
              <a:rPr lang="pt-BR" sz="3200" dirty="0"/>
            </a:br>
            <a:r>
              <a:rPr lang="pt-BR" sz="3200" dirty="0"/>
              <a:t>C) A tradução de requisitos para casos de teste.</a:t>
            </a:r>
            <a:br>
              <a:rPr lang="pt-BR" sz="3200" dirty="0"/>
            </a:br>
            <a:r>
              <a:rPr lang="pt-BR" sz="3200" dirty="0"/>
              <a:t>D) A implementação de funcionalidades no sistema.</a:t>
            </a:r>
          </a:p>
          <a:p>
            <a:endParaRPr lang="pt-BR" sz="3200" dirty="0"/>
          </a:p>
          <a:p>
            <a:r>
              <a:rPr lang="pt-BR" sz="3200" b="1" dirty="0"/>
              <a:t>2. Qual atividade NÃO faz parte do processo de requisitos?</a:t>
            </a:r>
          </a:p>
          <a:p>
            <a:r>
              <a:rPr lang="pt-BR" sz="3200" dirty="0"/>
              <a:t>A) Elicitação.</a:t>
            </a:r>
            <a:br>
              <a:rPr lang="pt-BR" sz="3200" dirty="0"/>
            </a:br>
            <a:r>
              <a:rPr lang="pt-BR" sz="3200" dirty="0"/>
              <a:t>B) Validação.</a:t>
            </a:r>
            <a:br>
              <a:rPr lang="pt-BR" sz="3200" dirty="0"/>
            </a:br>
            <a:r>
              <a:rPr lang="pt-BR" sz="3200" dirty="0"/>
              <a:t>C) Análise e negociação.</a:t>
            </a:r>
            <a:br>
              <a:rPr lang="pt-BR" sz="3200" dirty="0"/>
            </a:br>
            <a:r>
              <a:rPr lang="pt-BR" sz="3200" b="1" dirty="0"/>
              <a:t>D) </a:t>
            </a:r>
            <a:r>
              <a:rPr lang="pt-BR" sz="3200" b="1" dirty="0" err="1"/>
              <a:t>Deploy</a:t>
            </a:r>
            <a:r>
              <a:rPr lang="pt-BR" sz="3200" b="1" dirty="0"/>
              <a:t> do software.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185663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E8C9-73EB-9BF9-DC6E-4773374C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7DA922-A098-416F-9E52-86CF8B2FC33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A2FA8EB8-9000-D993-6806-9D9ABBC4ADF7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1D4FEDD-C492-E393-5E38-57C1F342C53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F50EC3-781A-DF57-32A3-CD6E3108580E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5B28610-B8EE-F4E7-49FF-3680E46B5083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5ECDA93-3CE9-DF6C-0BA4-176E8598C70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6AB8D110-48F1-9A2F-8DE2-6A03C00CD0F3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5A9504D-17F0-85A9-D44B-BBB433F10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405869F-A9F8-2E83-952F-DB4B32FE8878}"/>
              </a:ext>
            </a:extLst>
          </p:cNvPr>
          <p:cNvSpPr txBox="1"/>
          <p:nvPr/>
        </p:nvSpPr>
        <p:spPr>
          <a:xfrm>
            <a:off x="1101881" y="2132390"/>
            <a:ext cx="160430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3. A rastreabilidade de requisitos serve principalmente para:</a:t>
            </a:r>
          </a:p>
          <a:p>
            <a:r>
              <a:rPr lang="pt-BR" sz="3200" dirty="0"/>
              <a:t>A) Automatizar o processo de programação.</a:t>
            </a:r>
            <a:br>
              <a:rPr lang="pt-BR" sz="3200" dirty="0"/>
            </a:br>
            <a:r>
              <a:rPr lang="pt-BR" sz="3200" dirty="0"/>
              <a:t>B) Garantir que todos os requisitos tenham sido testados e permitir análise de impacto.</a:t>
            </a:r>
            <a:br>
              <a:rPr lang="pt-BR" sz="3200" dirty="0"/>
            </a:br>
            <a:r>
              <a:rPr lang="pt-BR" sz="3200" dirty="0"/>
              <a:t>C) Melhorar o desempenho do sistema.</a:t>
            </a:r>
            <a:br>
              <a:rPr lang="pt-BR" sz="3200" dirty="0"/>
            </a:br>
            <a:r>
              <a:rPr lang="pt-BR" sz="3200" dirty="0"/>
              <a:t>D) Reduzir o tamanho do documento de requisitos.</a:t>
            </a:r>
          </a:p>
          <a:p>
            <a:endParaRPr lang="pt-BR" sz="3200" dirty="0"/>
          </a:p>
          <a:p>
            <a:r>
              <a:rPr lang="pt-BR" sz="3200" b="1" dirty="0"/>
              <a:t>4. O que caracteriza um bom requisito segundo normas como ISO/IEC 29148?</a:t>
            </a:r>
          </a:p>
          <a:p>
            <a:r>
              <a:rPr lang="pt-BR" sz="3200" dirty="0"/>
              <a:t>A) Deve ser longo e detalhado ao máximo.</a:t>
            </a:r>
            <a:br>
              <a:rPr lang="pt-BR" sz="3200" dirty="0"/>
            </a:br>
            <a:r>
              <a:rPr lang="pt-BR" sz="3200" dirty="0"/>
              <a:t>B) Deve ser verificável, claro e rastreável.</a:t>
            </a:r>
            <a:br>
              <a:rPr lang="pt-BR" sz="3200" dirty="0"/>
            </a:br>
            <a:r>
              <a:rPr lang="pt-BR" sz="3200" dirty="0"/>
              <a:t>C) Deve ser escrito exclusivamente pelo cliente.</a:t>
            </a:r>
            <a:br>
              <a:rPr lang="pt-BR" sz="3200" dirty="0"/>
            </a:br>
            <a:r>
              <a:rPr lang="pt-BR" sz="3200" dirty="0"/>
              <a:t>D) Deve estar fora de qualquer padrão organizacional.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24100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ACE9-0546-B6CA-CE03-7B9FBCEFD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557901-29AE-B255-7BF7-C59534B256E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508981D-381F-61F9-FB3D-D54F2CC1F36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3EF8F00-3E36-F4BA-4911-D20AE250024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8B59478-5B05-29B7-231A-A9E1B4F4CAF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82235BC-A555-F7EE-C8FC-49656E08092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B58F524-4F46-9A80-81BC-CD0A2E6B1C1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D22FB7C-FC60-E1AA-FA82-1E7CAC3BC002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C4A9A7B-3EF3-0380-EB28-5BF241D9C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AE15715-1B9D-4E57-E29E-8618603C3049}"/>
              </a:ext>
            </a:extLst>
          </p:cNvPr>
          <p:cNvSpPr txBox="1"/>
          <p:nvPr/>
        </p:nvSpPr>
        <p:spPr>
          <a:xfrm>
            <a:off x="1101881" y="2132390"/>
            <a:ext cx="160430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3. A rastreabilidade de requisitos serve principalmente para:</a:t>
            </a:r>
          </a:p>
          <a:p>
            <a:r>
              <a:rPr lang="pt-BR" sz="3200" dirty="0"/>
              <a:t>A) Automatizar o processo de programação.</a:t>
            </a:r>
            <a:br>
              <a:rPr lang="pt-BR" sz="3200" dirty="0"/>
            </a:br>
            <a:r>
              <a:rPr lang="pt-BR" sz="3200" b="1" dirty="0"/>
              <a:t>B) Garantir que todos os requisitos tenham sido testados e permitir análise de impacto</a:t>
            </a:r>
            <a:r>
              <a:rPr lang="pt-BR" sz="3200" dirty="0"/>
              <a:t>.</a:t>
            </a:r>
            <a:br>
              <a:rPr lang="pt-BR" sz="3200" dirty="0"/>
            </a:br>
            <a:r>
              <a:rPr lang="pt-BR" sz="3200" dirty="0"/>
              <a:t>C) Melhorar o desempenho do sistema.</a:t>
            </a:r>
            <a:br>
              <a:rPr lang="pt-BR" sz="3200" dirty="0"/>
            </a:br>
            <a:r>
              <a:rPr lang="pt-BR" sz="3200" dirty="0"/>
              <a:t>D) Reduzir o tamanho do documento de requisitos.</a:t>
            </a:r>
          </a:p>
          <a:p>
            <a:endParaRPr lang="pt-BR" sz="3200" dirty="0"/>
          </a:p>
          <a:p>
            <a:r>
              <a:rPr lang="pt-BR" sz="3200" b="1" dirty="0"/>
              <a:t>4. O que caracteriza um bom requisito segundo normas como ISO/IEC 29148?</a:t>
            </a:r>
          </a:p>
          <a:p>
            <a:r>
              <a:rPr lang="pt-BR" sz="3200" dirty="0"/>
              <a:t>A) Deve ser longo e detalhado ao máximo.</a:t>
            </a:r>
            <a:br>
              <a:rPr lang="pt-BR" sz="3200" dirty="0"/>
            </a:br>
            <a:r>
              <a:rPr lang="pt-BR" sz="3200" b="1" dirty="0"/>
              <a:t>B) Deve ser verificável, claro e rastreável.</a:t>
            </a:r>
            <a:br>
              <a:rPr lang="pt-BR" sz="3200" dirty="0"/>
            </a:br>
            <a:r>
              <a:rPr lang="pt-BR" sz="3200" dirty="0"/>
              <a:t>C) Deve ser escrito exclusivamente pelo cliente.</a:t>
            </a:r>
            <a:br>
              <a:rPr lang="pt-BR" sz="3200" dirty="0"/>
            </a:br>
            <a:r>
              <a:rPr lang="pt-BR" sz="3200" dirty="0"/>
              <a:t>D) Deve estar fora de qualquer padrão organizacional.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434036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E2DE-5787-F184-4B76-68306D1C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D25D446-21B5-459E-2A5E-51E7CC191AB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5B3FDD4-5B72-2FAC-F0AE-A62E688EA5CB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9FA5813-0DFA-1E66-9B9D-CAAEC082BE97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38AF111-F6CC-00FF-E8D7-6F62468AE7EE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7065941-B5DE-66E1-9AE0-49A013732B41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8480BDA-93B7-829C-CDE9-9904797DA2D5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6B17EE8-8797-D759-F466-FF0EFEA075E1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EABE8F6-AD65-7074-9771-EFEADA1A9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8AB5767-C14B-A872-5BF8-A81395C96803}"/>
              </a:ext>
            </a:extLst>
          </p:cNvPr>
          <p:cNvSpPr txBox="1"/>
          <p:nvPr/>
        </p:nvSpPr>
        <p:spPr>
          <a:xfrm>
            <a:off x="1101881" y="2132390"/>
            <a:ext cx="160430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5. No </a:t>
            </a:r>
            <a:r>
              <a:rPr lang="pt-BR" sz="3200" b="1" dirty="0" err="1"/>
              <a:t>MPS.Br</a:t>
            </a:r>
            <a:r>
              <a:rPr lang="pt-BR" sz="3200" b="1" dirty="0"/>
              <a:t>, o processo relacionado à gestão de requisitos é chamado de:</a:t>
            </a:r>
          </a:p>
          <a:p>
            <a:r>
              <a:rPr lang="pt-BR" sz="3200" dirty="0"/>
              <a:t>A) GPR.</a:t>
            </a:r>
            <a:br>
              <a:rPr lang="pt-BR" sz="3200" dirty="0"/>
            </a:br>
            <a:r>
              <a:rPr lang="pt-BR" sz="3200" dirty="0"/>
              <a:t>B) GRE.</a:t>
            </a:r>
            <a:br>
              <a:rPr lang="pt-BR" sz="3200" dirty="0"/>
            </a:br>
            <a:r>
              <a:rPr lang="pt-BR" sz="3200" dirty="0"/>
              <a:t>C) GDE.</a:t>
            </a:r>
            <a:br>
              <a:rPr lang="pt-BR" sz="3200" dirty="0"/>
            </a:br>
            <a:r>
              <a:rPr lang="pt-BR" sz="3200" dirty="0"/>
              <a:t>D) ENG.</a:t>
            </a:r>
          </a:p>
          <a:p>
            <a:endParaRPr lang="pt-BR" sz="3200" dirty="0"/>
          </a:p>
          <a:p>
            <a:r>
              <a:rPr lang="pt-BR" sz="3200" b="1" dirty="0"/>
              <a:t>6. Em métodos ágeis, o artefato que representa a lista priorizada de requisitos é:</a:t>
            </a:r>
          </a:p>
          <a:p>
            <a:r>
              <a:rPr lang="pt-BR" sz="3200" dirty="0"/>
              <a:t>A) Documento de Visão.</a:t>
            </a:r>
            <a:br>
              <a:rPr lang="pt-BR" sz="3200" dirty="0"/>
            </a:br>
            <a:r>
              <a:rPr lang="pt-BR" sz="3200" dirty="0"/>
              <a:t>B) Casos de Uso.</a:t>
            </a:r>
            <a:br>
              <a:rPr lang="pt-BR" sz="3200" dirty="0"/>
            </a:br>
            <a:r>
              <a:rPr lang="pt-BR" sz="3200" dirty="0"/>
              <a:t>C) </a:t>
            </a:r>
            <a:r>
              <a:rPr lang="pt-BR" sz="3200" dirty="0" err="1"/>
              <a:t>Product</a:t>
            </a:r>
            <a:r>
              <a:rPr lang="pt-BR" sz="3200" dirty="0"/>
              <a:t> Backlog.</a:t>
            </a:r>
            <a:br>
              <a:rPr lang="pt-BR" sz="3200" dirty="0"/>
            </a:br>
            <a:r>
              <a:rPr lang="pt-BR" sz="3200" dirty="0"/>
              <a:t>D) Especificação IEEE 29148.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560935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95D7-D616-3F34-73D7-A0407700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936770-3866-8383-A049-2282C7AE925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CEB2758-8457-E43B-16F3-FD9552BAE06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58ABD22-0194-E262-ECD3-D83983CEF2C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340E83E-8EDC-05CE-0519-67C7429FF7D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4B389AF-01D7-40F2-BD97-9BF059309EE1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B4C603-DF40-D423-7034-6E859320989E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AD39832-E6FB-2728-0D17-43CDE4A9DB39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5359AD2-D52D-8A14-300A-4767EC9CE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2835FC1-244B-782D-7A96-2306B70E6EBB}"/>
              </a:ext>
            </a:extLst>
          </p:cNvPr>
          <p:cNvSpPr txBox="1"/>
          <p:nvPr/>
        </p:nvSpPr>
        <p:spPr>
          <a:xfrm>
            <a:off x="1101881" y="2132390"/>
            <a:ext cx="160430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5. No </a:t>
            </a:r>
            <a:r>
              <a:rPr lang="pt-BR" sz="3200" b="1" dirty="0" err="1"/>
              <a:t>MPS.Br</a:t>
            </a:r>
            <a:r>
              <a:rPr lang="pt-BR" sz="3200" b="1" dirty="0"/>
              <a:t>, o processo relacionado à gestão de requisitos é chamado de:</a:t>
            </a:r>
          </a:p>
          <a:p>
            <a:r>
              <a:rPr lang="pt-BR" sz="3200" dirty="0"/>
              <a:t>A) GPR.</a:t>
            </a:r>
            <a:br>
              <a:rPr lang="pt-BR" sz="3200" dirty="0"/>
            </a:br>
            <a:r>
              <a:rPr lang="pt-BR" sz="3200" b="1" dirty="0"/>
              <a:t>B) GRE.</a:t>
            </a:r>
            <a:br>
              <a:rPr lang="pt-BR" sz="3200" dirty="0"/>
            </a:br>
            <a:r>
              <a:rPr lang="pt-BR" sz="3200" dirty="0"/>
              <a:t>C) GDE.</a:t>
            </a:r>
            <a:br>
              <a:rPr lang="pt-BR" sz="3200" dirty="0"/>
            </a:br>
            <a:r>
              <a:rPr lang="pt-BR" sz="3200" dirty="0"/>
              <a:t>D) ENG.</a:t>
            </a:r>
          </a:p>
          <a:p>
            <a:endParaRPr lang="pt-BR" sz="3200" dirty="0"/>
          </a:p>
          <a:p>
            <a:r>
              <a:rPr lang="pt-BR" sz="3200" b="1" dirty="0"/>
              <a:t>6. Em métodos ágeis, o artefato que representa a lista priorizada de requisitos é:</a:t>
            </a:r>
          </a:p>
          <a:p>
            <a:r>
              <a:rPr lang="pt-BR" sz="3200" dirty="0"/>
              <a:t>A) Documento de Visão.</a:t>
            </a:r>
            <a:br>
              <a:rPr lang="pt-BR" sz="3200" dirty="0"/>
            </a:br>
            <a:r>
              <a:rPr lang="pt-BR" sz="3200" dirty="0"/>
              <a:t>B) Casos de Uso.</a:t>
            </a:r>
            <a:br>
              <a:rPr lang="pt-BR" sz="3200" dirty="0"/>
            </a:br>
            <a:r>
              <a:rPr lang="pt-BR" sz="3200" b="1" dirty="0"/>
              <a:t>C) </a:t>
            </a:r>
            <a:r>
              <a:rPr lang="pt-BR" sz="3200" b="1" dirty="0" err="1"/>
              <a:t>Product</a:t>
            </a:r>
            <a:r>
              <a:rPr lang="pt-BR" sz="3200" b="1" dirty="0"/>
              <a:t> Backlog.</a:t>
            </a:r>
            <a:br>
              <a:rPr lang="pt-BR" sz="3200" dirty="0"/>
            </a:br>
            <a:r>
              <a:rPr lang="pt-BR" sz="3200" dirty="0"/>
              <a:t>D) Especificação IEEE 29148.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997449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022F-954D-D974-DDFA-499E3483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141636-A883-BD2C-2E73-DA96756D530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0AE61B24-990E-436F-5D62-ECDFD985E6E5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F1BA33A-D654-4D45-FFBC-0FB76D7CACE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8997DCA-7D47-0242-86F6-415BC4B4A68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4388D24-607B-CD23-D430-04C36B0B6FC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122EE8A-E5A7-6ACB-E662-51574CF043C0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B624740-62AE-CCAD-4623-D83936943B55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3DB242-32DA-8562-8B73-B53A13A0C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34CEE23-8105-2FF9-104A-8CA42872E15A}"/>
              </a:ext>
            </a:extLst>
          </p:cNvPr>
          <p:cNvSpPr txBox="1"/>
          <p:nvPr/>
        </p:nvSpPr>
        <p:spPr>
          <a:xfrm>
            <a:off x="1101881" y="2132390"/>
            <a:ext cx="160430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7. A principal função da atividade de análise de impacto é:</a:t>
            </a:r>
          </a:p>
          <a:p>
            <a:r>
              <a:rPr lang="pt-BR" sz="3200" dirty="0"/>
              <a:t>A) Determinar o custo de implementação de requisitos.</a:t>
            </a:r>
            <a:br>
              <a:rPr lang="pt-BR" sz="3200" dirty="0"/>
            </a:br>
            <a:r>
              <a:rPr lang="pt-BR" sz="3200" dirty="0"/>
              <a:t>B) Avaliar como uma mudança afeta artefatos relacionados.</a:t>
            </a:r>
            <a:br>
              <a:rPr lang="pt-BR" sz="3200" dirty="0"/>
            </a:br>
            <a:r>
              <a:rPr lang="pt-BR" sz="3200" dirty="0"/>
              <a:t>C) Garantir que os requisitos sejam desenvolvidos primeiro.</a:t>
            </a:r>
            <a:br>
              <a:rPr lang="pt-BR" sz="3200" dirty="0"/>
            </a:br>
            <a:r>
              <a:rPr lang="pt-BR" sz="3200" dirty="0"/>
              <a:t>D) Criar diagramas UML.</a:t>
            </a:r>
          </a:p>
          <a:p>
            <a:endParaRPr lang="pt-BR" sz="3200" dirty="0"/>
          </a:p>
          <a:p>
            <a:r>
              <a:rPr lang="pt-BR" sz="3200" b="1" dirty="0"/>
              <a:t>8. No ciclo PDCA aplicado ao processo de requisitos, a etapa “</a:t>
            </a:r>
            <a:r>
              <a:rPr lang="pt-BR" sz="3200" b="1" dirty="0" err="1"/>
              <a:t>Check</a:t>
            </a:r>
            <a:r>
              <a:rPr lang="pt-BR" sz="3200" b="1" dirty="0"/>
              <a:t>” representa:</a:t>
            </a:r>
          </a:p>
          <a:p>
            <a:r>
              <a:rPr lang="pt-BR" sz="3200" dirty="0"/>
              <a:t>A) A execução das atividades.</a:t>
            </a:r>
            <a:br>
              <a:rPr lang="pt-BR" sz="3200" dirty="0"/>
            </a:br>
            <a:r>
              <a:rPr lang="pt-BR" sz="3200" dirty="0"/>
              <a:t>B) A medição e avaliação do processo.</a:t>
            </a:r>
            <a:br>
              <a:rPr lang="pt-BR" sz="3200" dirty="0"/>
            </a:br>
            <a:r>
              <a:rPr lang="pt-BR" sz="3200" dirty="0"/>
              <a:t>C) A definição do plano de trabalho.</a:t>
            </a:r>
            <a:br>
              <a:rPr lang="pt-BR" sz="3200" dirty="0"/>
            </a:br>
            <a:r>
              <a:rPr lang="pt-BR" sz="3200" dirty="0"/>
              <a:t>D) A correção de erros encontrados.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130052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2667-A438-1FBB-E1D0-42D0AE10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D7E394-D573-14B9-FF0D-87B6E17D31E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404591AC-0AC6-E7C3-7A06-AC1DF81661B4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CBBE938-6E6B-C109-2EEE-D7CE8739B54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B2F58A6-69D6-CCE2-1678-CC1A325B7E1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2A3666D-BA02-0C20-D04C-B394AA7CDA3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AF5BB65-1014-AA88-4BB9-701EBD6BA8B2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B2B2C91-128C-4CA0-A0E2-93AD8934CC99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BFCC3DE-03F0-A068-0DC7-68278D7DF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32A17EF-3648-ECEE-0BC3-6296E3953A4E}"/>
              </a:ext>
            </a:extLst>
          </p:cNvPr>
          <p:cNvSpPr txBox="1"/>
          <p:nvPr/>
        </p:nvSpPr>
        <p:spPr>
          <a:xfrm>
            <a:off x="1101881" y="2132390"/>
            <a:ext cx="1604308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7. A principal função da atividade de análise de impacto é:</a:t>
            </a:r>
          </a:p>
          <a:p>
            <a:r>
              <a:rPr lang="pt-BR" sz="3200" dirty="0"/>
              <a:t>A) Determinar o custo de implementação de requisitos.</a:t>
            </a:r>
            <a:br>
              <a:rPr lang="pt-BR" sz="3200" dirty="0"/>
            </a:br>
            <a:r>
              <a:rPr lang="pt-BR" sz="3200" b="1" dirty="0"/>
              <a:t>B) Avaliar como uma mudança afeta artefatos relacionados.</a:t>
            </a:r>
            <a:br>
              <a:rPr lang="pt-BR" sz="3200" b="1" dirty="0"/>
            </a:br>
            <a:r>
              <a:rPr lang="pt-BR" sz="3200" dirty="0"/>
              <a:t>C) Garantir que os requisitos sejam desenvolvidos primeiro.</a:t>
            </a:r>
            <a:br>
              <a:rPr lang="pt-BR" sz="3200" dirty="0"/>
            </a:br>
            <a:r>
              <a:rPr lang="pt-BR" sz="3200" dirty="0"/>
              <a:t>D) Criar diagramas UML.</a:t>
            </a:r>
          </a:p>
          <a:p>
            <a:endParaRPr lang="pt-BR" sz="3200" dirty="0"/>
          </a:p>
          <a:p>
            <a:r>
              <a:rPr lang="pt-BR" sz="3200" b="1" dirty="0"/>
              <a:t>8. No ciclo PDCA aplicado ao processo de requisitos, a etapa “</a:t>
            </a:r>
            <a:r>
              <a:rPr lang="pt-BR" sz="3200" b="1" dirty="0" err="1"/>
              <a:t>Check</a:t>
            </a:r>
            <a:r>
              <a:rPr lang="pt-BR" sz="3200" b="1" dirty="0"/>
              <a:t>” representa:</a:t>
            </a:r>
          </a:p>
          <a:p>
            <a:r>
              <a:rPr lang="pt-BR" sz="3200" dirty="0"/>
              <a:t>A) A execução das atividades.</a:t>
            </a:r>
            <a:br>
              <a:rPr lang="pt-BR" sz="3200" dirty="0"/>
            </a:br>
            <a:r>
              <a:rPr lang="pt-BR" sz="3200" b="1" dirty="0"/>
              <a:t>B) A medição e avaliação do processo.</a:t>
            </a:r>
            <a:br>
              <a:rPr lang="pt-BR" sz="3200" b="1" dirty="0"/>
            </a:br>
            <a:r>
              <a:rPr lang="pt-BR" sz="3200" dirty="0"/>
              <a:t>C) A definição do plano de trabalho.</a:t>
            </a:r>
            <a:br>
              <a:rPr lang="pt-BR" sz="3200" dirty="0"/>
            </a:br>
            <a:r>
              <a:rPr lang="pt-BR" sz="3200" dirty="0"/>
              <a:t>D) A correção de erros encontrados.</a:t>
            </a:r>
          </a:p>
          <a:p>
            <a:endParaRPr lang="pt-BR" sz="32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767235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016D8-D277-11BA-E9B8-920481A2D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8E68D7-1A02-51E3-D71C-BB5308B14D1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E8CA40C-5E67-302B-5A79-4D5A40A8B0B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D3E01D6-B737-4D87-A34C-634D01B7697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F5BB417-323F-7B79-BE55-8AC1A794937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5D64E99-8D30-F5EC-D798-748CE382281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8DB20FB-1000-CFA4-1A76-2511A19D752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A03E9F4-8746-57CB-022F-F36C8F88B1C7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39FCC0A-AEB5-79CB-CCED-8A72AB4D7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97080CE-D6CB-9C7C-3288-322AF87CC60A}"/>
              </a:ext>
            </a:extLst>
          </p:cNvPr>
          <p:cNvSpPr txBox="1"/>
          <p:nvPr/>
        </p:nvSpPr>
        <p:spPr>
          <a:xfrm>
            <a:off x="1101881" y="2132390"/>
            <a:ext cx="160430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9. Em Scrum, quem é o principal responsável por priorizar requisitos?</a:t>
            </a:r>
          </a:p>
          <a:p>
            <a:r>
              <a:rPr lang="pt-BR" sz="3200" dirty="0"/>
              <a:t>A) Scrum Master.</a:t>
            </a:r>
            <a:br>
              <a:rPr lang="pt-BR" sz="3200" dirty="0"/>
            </a:br>
            <a:r>
              <a:rPr lang="pt-BR" sz="3200" dirty="0"/>
              <a:t>B) </a:t>
            </a:r>
            <a:r>
              <a:rPr lang="pt-BR" sz="3200" dirty="0" err="1"/>
              <a:t>Product</a:t>
            </a:r>
            <a:r>
              <a:rPr lang="pt-BR" sz="3200" dirty="0"/>
              <a:t> </a:t>
            </a:r>
            <a:r>
              <a:rPr lang="pt-BR" sz="3200" dirty="0" err="1"/>
              <a:t>Owner</a:t>
            </a:r>
            <a:r>
              <a:rPr lang="pt-BR" sz="3200" dirty="0"/>
              <a:t>.</a:t>
            </a:r>
            <a:br>
              <a:rPr lang="pt-BR" sz="3200" dirty="0"/>
            </a:br>
            <a:r>
              <a:rPr lang="pt-BR" sz="3200" dirty="0"/>
              <a:t>C) Desenvolvedor mais experiente.</a:t>
            </a:r>
            <a:br>
              <a:rPr lang="pt-BR" sz="3200" dirty="0"/>
            </a:br>
            <a:r>
              <a:rPr lang="pt-BR" sz="3200" dirty="0"/>
              <a:t>D) Cliente final.</a:t>
            </a:r>
          </a:p>
          <a:p>
            <a:endParaRPr lang="pt-BR" sz="3200" dirty="0"/>
          </a:p>
          <a:p>
            <a:r>
              <a:rPr lang="pt-BR" sz="3200" b="1" dirty="0"/>
              <a:t>10. Qual das alternativas é um exemplo de métrica para avaliar o processo de requisitos?</a:t>
            </a:r>
          </a:p>
          <a:p>
            <a:r>
              <a:rPr lang="pt-BR" sz="3200" dirty="0"/>
              <a:t>A) Quantidade de código escrito por dia.</a:t>
            </a:r>
            <a:br>
              <a:rPr lang="pt-BR" sz="3200" dirty="0"/>
            </a:br>
            <a:r>
              <a:rPr lang="pt-BR" sz="3200" dirty="0"/>
              <a:t>B) Número de requisitos alterados após validação.</a:t>
            </a:r>
            <a:br>
              <a:rPr lang="pt-BR" sz="3200" b="1" dirty="0"/>
            </a:br>
            <a:r>
              <a:rPr lang="pt-BR" sz="3200" dirty="0"/>
              <a:t>C) Número de </a:t>
            </a:r>
            <a:r>
              <a:rPr lang="pt-BR" sz="3200" i="1" dirty="0" err="1"/>
              <a:t>commits</a:t>
            </a:r>
            <a:r>
              <a:rPr lang="pt-BR" sz="3200" dirty="0"/>
              <a:t> no repositório.</a:t>
            </a:r>
            <a:br>
              <a:rPr lang="pt-BR" sz="3200" dirty="0"/>
            </a:br>
            <a:r>
              <a:rPr lang="pt-BR" sz="3200" dirty="0"/>
              <a:t>D) Velocidade do servidor.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668081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8D0C2-9E50-9B23-00CB-6E2862FF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2666F4-B295-00D1-8B9A-5D7E14F9BD14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01822810-64D9-6E9F-728D-56EDEDD43AEE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ED13897-D39D-67D4-CFDC-B592431B376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A675CE-D8BA-B9FD-9883-245BA2FA419E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B59C45B-6E72-CE5D-82F3-1579DC63F94E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7BCE45D-5612-6055-4518-2276A670F75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5B86358F-2C40-62ED-71E1-0D18984BA8F5}"/>
              </a:ext>
            </a:extLst>
          </p:cNvPr>
          <p:cNvSpPr txBox="1"/>
          <p:nvPr/>
        </p:nvSpPr>
        <p:spPr>
          <a:xfrm>
            <a:off x="2400588" y="1028700"/>
            <a:ext cx="14592012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000" b="1" dirty="0" err="1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0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C18B43C-85AC-FFB3-A49B-47DBDC125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DCF7858-FD3E-C87D-7F3D-18362814D7C2}"/>
              </a:ext>
            </a:extLst>
          </p:cNvPr>
          <p:cNvSpPr txBox="1"/>
          <p:nvPr/>
        </p:nvSpPr>
        <p:spPr>
          <a:xfrm>
            <a:off x="1101881" y="2132390"/>
            <a:ext cx="160430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9. Em Scrum, quem é o principal responsável por priorizar requisitos?</a:t>
            </a:r>
          </a:p>
          <a:p>
            <a:r>
              <a:rPr lang="pt-BR" sz="3200" dirty="0"/>
              <a:t>A) Scrum Master.</a:t>
            </a:r>
            <a:br>
              <a:rPr lang="pt-BR" sz="3200" dirty="0"/>
            </a:br>
            <a:r>
              <a:rPr lang="pt-BR" sz="3200" b="1" dirty="0"/>
              <a:t>B) </a:t>
            </a:r>
            <a:r>
              <a:rPr lang="pt-BR" sz="3200" b="1" dirty="0" err="1"/>
              <a:t>Product</a:t>
            </a:r>
            <a:r>
              <a:rPr lang="pt-BR" sz="3200" b="1" dirty="0"/>
              <a:t> </a:t>
            </a:r>
            <a:r>
              <a:rPr lang="pt-BR" sz="3200" b="1" dirty="0" err="1"/>
              <a:t>Owner</a:t>
            </a:r>
            <a:r>
              <a:rPr lang="pt-BR" sz="3200" b="1" dirty="0"/>
              <a:t>.</a:t>
            </a:r>
            <a:br>
              <a:rPr lang="pt-BR" sz="3200" b="1" dirty="0"/>
            </a:br>
            <a:r>
              <a:rPr lang="pt-BR" sz="3200" dirty="0"/>
              <a:t>C) Desenvolvedor mais experiente.</a:t>
            </a:r>
            <a:br>
              <a:rPr lang="pt-BR" sz="3200" dirty="0"/>
            </a:br>
            <a:r>
              <a:rPr lang="pt-BR" sz="3200" dirty="0"/>
              <a:t>D) Cliente final.</a:t>
            </a:r>
          </a:p>
          <a:p>
            <a:endParaRPr lang="pt-BR" sz="3200" dirty="0"/>
          </a:p>
          <a:p>
            <a:r>
              <a:rPr lang="pt-BR" sz="3200" b="1" dirty="0"/>
              <a:t>10. Qual das alternativas é um exemplo de métrica para avaliar o processo de requisitos?</a:t>
            </a:r>
          </a:p>
          <a:p>
            <a:r>
              <a:rPr lang="pt-BR" sz="3200" dirty="0"/>
              <a:t>A) Quantidade de código escrito por dia.</a:t>
            </a:r>
            <a:br>
              <a:rPr lang="pt-BR" sz="3200" dirty="0"/>
            </a:br>
            <a:r>
              <a:rPr lang="pt-BR" sz="3200" b="1" dirty="0"/>
              <a:t>B) Número de requisitos alterados após validação.</a:t>
            </a:r>
            <a:br>
              <a:rPr lang="pt-BR" sz="3200" b="1" dirty="0"/>
            </a:br>
            <a:r>
              <a:rPr lang="pt-BR" sz="3200" dirty="0"/>
              <a:t>C) Número de </a:t>
            </a:r>
            <a:r>
              <a:rPr lang="pt-BR" sz="3200" i="1" dirty="0" err="1"/>
              <a:t>commits</a:t>
            </a:r>
            <a:r>
              <a:rPr lang="pt-BR" sz="3200" dirty="0"/>
              <a:t> no repositório.</a:t>
            </a:r>
            <a:br>
              <a:rPr lang="pt-BR" sz="3200" dirty="0"/>
            </a:br>
            <a:r>
              <a:rPr lang="pt-BR" sz="3200" dirty="0"/>
              <a:t>D) Velocidade do servidor.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48602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8638" y="1482042"/>
            <a:ext cx="9553178" cy="2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6232"/>
                </a:solidFill>
                <a:ea typeface=" Avenir Next Arabic Bold"/>
                <a:cs typeface=" Avenir Next Arabic Bold"/>
                <a:sym typeface=" Avenir Next Arabic Bold"/>
              </a:rPr>
              <a:t>Profª Mª Chaiene M. da Silva Minella</a:t>
            </a:r>
          </a:p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Engetec</a:t>
            </a:r>
            <a:r>
              <a:rPr lang="en-US" sz="3600" dirty="0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 | Engenharia de Software</a:t>
            </a:r>
          </a:p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ea typeface=" Avenir Next Arabic"/>
                <a:cs typeface=" Avenir Next Arabic"/>
                <a:sym typeface=" Avenir Next Arabic"/>
              </a:rPr>
              <a:t>chaiene.minella@univille.br</a:t>
            </a:r>
          </a:p>
          <a:p>
            <a:pPr algn="l">
              <a:lnSpc>
                <a:spcPts val="4320"/>
              </a:lnSpc>
            </a:pPr>
            <a:endParaRPr lang="en-US" sz="36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96432" y="7171805"/>
            <a:ext cx="4362687" cy="1861867"/>
            <a:chOff x="0" y="0"/>
            <a:chExt cx="5816916" cy="24824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33dd0b0-a9be-4e97-a0c3-b0e677403699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1838</Words>
  <Application>Microsoft Office PowerPoint</Application>
  <PresentationFormat>Personalizar</PresentationFormat>
  <Paragraphs>199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 Avenir Next Arabic</vt:lpstr>
      <vt:lpstr>Arial</vt:lpstr>
      <vt:lpstr> Avenir Next Arabic Bold</vt:lpstr>
      <vt:lpstr>Cambria Math</vt:lpstr>
      <vt:lpstr>Courier New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Template_Univille 60 anos.pptx</dc:title>
  <dc:creator>Chaiene</dc:creator>
  <cp:lastModifiedBy>CHAIENE MERCEDES DA SILVA MINELLA</cp:lastModifiedBy>
  <cp:revision>12</cp:revision>
  <dcterms:created xsi:type="dcterms:W3CDTF">2006-08-16T00:00:00Z</dcterms:created>
  <dcterms:modified xsi:type="dcterms:W3CDTF">2026-09-23T12:09:44Z</dcterms:modified>
  <dc:identifier>DAGtVIDxolU</dc:identifier>
</cp:coreProperties>
</file>