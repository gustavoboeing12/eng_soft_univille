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3" r:id="rId6"/>
    <p:sldId id="265" r:id="rId7"/>
    <p:sldId id="266" r:id="rId8"/>
    <p:sldId id="267" r:id="rId9"/>
    <p:sldId id="268" r:id="rId10"/>
    <p:sldId id="269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58" r:id="rId37"/>
    <p:sldId id="297" r:id="rId38"/>
    <p:sldId id="298" r:id="rId39"/>
    <p:sldId id="299" r:id="rId40"/>
    <p:sldId id="300" r:id="rId41"/>
    <p:sldId id="259" r:id="rId42"/>
  </p:sldIdLst>
  <p:sldSz cx="18288000" cy="10287000"/>
  <p:notesSz cx="6858000" cy="9144000"/>
  <p:embeddedFontLst>
    <p:embeddedFont>
      <p:font typeface=" Avenir Next Arabic" panose="020B0604020202020204" charset="-78"/>
      <p:regular r:id="rId43"/>
    </p:embeddedFont>
    <p:embeddedFont>
      <p:font typeface=" Avenir Next Arabic Bold" panose="020B0604020202020204" charset="-78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ENE MERCEDES DA SILVA MINELLA" userId="03c40756-137a-4d89-92ad-627326a1a7b4" providerId="ADAL" clId="{B70A75BF-988A-4E24-A962-02E599989989}"/>
    <pc:docChg chg="delSld modSld">
      <pc:chgData name="CHAIENE MERCEDES DA SILVA MINELLA" userId="03c40756-137a-4d89-92ad-627326a1a7b4" providerId="ADAL" clId="{B70A75BF-988A-4E24-A962-02E599989989}" dt="2026-08-03T12:54:05.488" v="4" actId="20577"/>
      <pc:docMkLst>
        <pc:docMk/>
      </pc:docMkLst>
      <pc:sldChg chg="modSp mod">
        <pc:chgData name="CHAIENE MERCEDES DA SILVA MINELLA" userId="03c40756-137a-4d89-92ad-627326a1a7b4" providerId="ADAL" clId="{B70A75BF-988A-4E24-A962-02E599989989}" dt="2026-08-03T12:54:05.488" v="4" actId="20577"/>
        <pc:sldMkLst>
          <pc:docMk/>
          <pc:sldMk cId="0" sldId="259"/>
        </pc:sldMkLst>
        <pc:spChg chg="mod">
          <ac:chgData name="CHAIENE MERCEDES DA SILVA MINELLA" userId="03c40756-137a-4d89-92ad-627326a1a7b4" providerId="ADAL" clId="{B70A75BF-988A-4E24-A962-02E599989989}" dt="2026-08-03T12:54:05.488" v="4" actId="20577"/>
          <ac:spMkLst>
            <pc:docMk/>
            <pc:sldMk cId="0" sldId="259"/>
            <ac:spMk id="4" creationId="{00000000-0000-0000-0000-000000000000}"/>
          </ac:spMkLst>
        </pc:spChg>
      </pc:sldChg>
      <pc:sldChg chg="del">
        <pc:chgData name="CHAIENE MERCEDES DA SILVA MINELLA" userId="03c40756-137a-4d89-92ad-627326a1a7b4" providerId="ADAL" clId="{B70A75BF-988A-4E24-A962-02E599989989}" dt="2026-08-03T12:53:00.658" v="0" actId="47"/>
        <pc:sldMkLst>
          <pc:docMk/>
          <pc:sldMk cId="1352735139" sldId="262"/>
        </pc:sldMkLst>
      </pc:sldChg>
      <pc:sldChg chg="del">
        <pc:chgData name="CHAIENE MERCEDES DA SILVA MINELLA" userId="03c40756-137a-4d89-92ad-627326a1a7b4" providerId="ADAL" clId="{B70A75BF-988A-4E24-A962-02E599989989}" dt="2026-08-03T12:53:08.536" v="1" actId="47"/>
        <pc:sldMkLst>
          <pc:docMk/>
          <pc:sldMk cId="3410692613" sldId="264"/>
        </pc:sldMkLst>
      </pc:sldChg>
      <pc:sldChg chg="del">
        <pc:chgData name="CHAIENE MERCEDES DA SILVA MINELLA" userId="03c40756-137a-4d89-92ad-627326a1a7b4" providerId="ADAL" clId="{B70A75BF-988A-4E24-A962-02E599989989}" dt="2026-08-03T12:53:24.963" v="2" actId="47"/>
        <pc:sldMkLst>
          <pc:docMk/>
          <pc:sldMk cId="145294215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723948" y="-89900"/>
            <a:ext cx="8567888" cy="10404268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496432" y="7171805"/>
            <a:ext cx="4362687" cy="1861867"/>
            <a:chOff x="0" y="0"/>
            <a:chExt cx="5816916" cy="24824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757985" y="3234269"/>
            <a:ext cx="1810499" cy="1705490"/>
          </a:xfrm>
          <a:custGeom>
            <a:avLst/>
            <a:gdLst/>
            <a:ahLst/>
            <a:cxnLst/>
            <a:rect l="l" t="t" r="r" b="b"/>
            <a:pathLst>
              <a:path w="1810499" h="1705490">
                <a:moveTo>
                  <a:pt x="0" y="0"/>
                </a:moveTo>
                <a:lnTo>
                  <a:pt x="1810500" y="0"/>
                </a:lnTo>
                <a:lnTo>
                  <a:pt x="1810500" y="1705491"/>
                </a:lnTo>
                <a:lnTo>
                  <a:pt x="0" y="1705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1357784" y="1286719"/>
            <a:ext cx="9553178" cy="5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pt-BR" sz="3000" noProof="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Universidade da Região de Joinville – Univille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68484" y="2906649"/>
            <a:ext cx="10614115" cy="1013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pt-BR" sz="66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68485" y="3959845"/>
            <a:ext cx="9553178" cy="979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pt-BR" sz="3600" noProof="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Engenharia de Software</a:t>
            </a:r>
          </a:p>
          <a:p>
            <a:pPr algn="l">
              <a:lnSpc>
                <a:spcPts val="2879"/>
              </a:lnSpc>
            </a:pPr>
            <a:r>
              <a:rPr lang="pt-BR" sz="2400" noProof="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Profª Mª Chaiene M. da Silva Minella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012EF5C-03B9-F676-B8BB-474C691D3306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FB65B0C-B949-19F9-84BC-3F503A5EC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87DB208-9DBF-5AE3-E392-1611196457B4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pt-BR" noProof="0" dirty="0"/>
              <a:t>A engenharia de requisitos é originariamente uma área de conhecimento da engenharia de software que foca a </a:t>
            </a:r>
            <a:r>
              <a:rPr lang="pt-BR" b="1" noProof="0" dirty="0"/>
              <a:t>descoberta</a:t>
            </a:r>
            <a:r>
              <a:rPr lang="pt-BR" noProof="0" dirty="0"/>
              <a:t>, o </a:t>
            </a:r>
            <a:r>
              <a:rPr lang="pt-BR" b="1" noProof="0" dirty="0"/>
              <a:t>desenvolvimento</a:t>
            </a:r>
            <a:r>
              <a:rPr lang="pt-BR" noProof="0" dirty="0"/>
              <a:t>, a </a:t>
            </a:r>
            <a:r>
              <a:rPr lang="pt-BR" b="1" noProof="0" dirty="0"/>
              <a:t>rastreabilidade</a:t>
            </a:r>
            <a:r>
              <a:rPr lang="pt-BR" noProof="0" dirty="0"/>
              <a:t>, a </a:t>
            </a:r>
            <a:r>
              <a:rPr lang="pt-BR" b="1" noProof="0" dirty="0"/>
              <a:t>análise</a:t>
            </a:r>
            <a:r>
              <a:rPr lang="pt-BR" noProof="0" dirty="0"/>
              <a:t> e a </a:t>
            </a:r>
            <a:r>
              <a:rPr lang="pt-BR" b="1" noProof="0" dirty="0"/>
              <a:t>gestão</a:t>
            </a:r>
            <a:r>
              <a:rPr lang="pt-BR" noProof="0" dirty="0"/>
              <a:t> de requisitos com o objetivo de definir o sistema em diferentes níveis de abstração. </a:t>
            </a:r>
          </a:p>
          <a:p>
            <a:pPr marL="0" indent="0" algn="just">
              <a:lnSpc>
                <a:spcPct val="150000"/>
              </a:lnSpc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pt-BR" noProof="0" dirty="0"/>
              <a:t>Esta área é reconhecida como de primordial importância para a indústria do software e dos sistemas de informação, </a:t>
            </a:r>
            <a:r>
              <a:rPr lang="pt-BR" u="sng" noProof="0" dirty="0"/>
              <a:t>dado o impacto que as suas atividades têm em todo o processo de desenvolvimento</a:t>
            </a:r>
            <a:r>
              <a:rPr lang="pt-BR" noProof="0" dirty="0"/>
              <a:t>.</a:t>
            </a:r>
            <a:endParaRPr lang="pt-BR" sz="36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A3FA-714F-9481-61B3-993FBC89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3C2BD2-275F-1538-B0F3-3F59E1DDB75C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F0ED41AD-7C85-A259-8634-82A7C57C86AA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568CB35-C6E7-0ECD-41F7-4EE1980C311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AF2BCD2-22A0-AE0F-EE9E-F5D5F004478F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5811092-92D1-5C11-B67D-54809C7B60F9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17E9CF4-F0BE-59CA-129A-B6C69AFF27A0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70B92DC-DF40-6178-5856-42EA51175DD3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CC73E7B-C859-800B-E9CA-07DDD387F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0A476BFE-8576-0B36-605C-3203647EE746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A utilização da palavra ‘engenharia’ é feita de forma premeditada e com a clara intenção de </a:t>
            </a:r>
            <a:r>
              <a:rPr lang="pt-BR" b="1" noProof="0" dirty="0"/>
              <a:t>enfatizar a necessidade de se recorrer a técnicas e a métodos sistemáticos para garantir a obtenção de requisitos </a:t>
            </a:r>
            <a:r>
              <a:rPr lang="pt-BR" noProof="0" dirty="0"/>
              <a:t>claros, completos, coerentes, relevantes e mensuráveis. </a:t>
            </a:r>
          </a:p>
        </p:txBody>
      </p:sp>
    </p:spTree>
    <p:extLst>
      <p:ext uri="{BB962C8B-B14F-4D97-AF65-F5344CB8AC3E}">
        <p14:creationId xmlns:p14="http://schemas.microsoft.com/office/powerpoint/2010/main" val="3700605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0C537-F350-D9B8-5BD4-6020DCB1F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671DF19-A402-5BB6-76C1-7882F0346877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F6D6FA4A-A84D-2241-91ED-235CEBDD34BA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8D93768-2904-3A61-BC18-BAF311D4B164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114DF43-69CA-AE7F-D346-5B59F973788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B4E839C-5D75-A783-E3F9-9E9E9652BC6A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0480953-A768-3DCB-B096-EE7C7C5F1EEC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0978D1C8-B2CB-D488-3BFB-9E383C652B30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8F4C3A4-1A76-C879-6723-D80F77154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CAF3823-1F16-156F-68B2-FF8EF10AF1F4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pt-BR" sz="5400" b="1" noProof="0" dirty="0"/>
              <a:t>A engenharia de requisitos consiste no estudo de um </a:t>
            </a:r>
            <a:r>
              <a:rPr lang="pt-BR" sz="5400" b="1" u="sng" noProof="0" dirty="0"/>
              <a:t>problema</a:t>
            </a:r>
            <a:r>
              <a:rPr lang="pt-BR" sz="5400" b="1" noProof="0" dirty="0"/>
              <a:t> que conduz ao desenvolvimento de um sistema antes que se tome qualquer atitude de concepção ou implementação.</a:t>
            </a:r>
          </a:p>
        </p:txBody>
      </p:sp>
    </p:spTree>
    <p:extLst>
      <p:ext uri="{BB962C8B-B14F-4D97-AF65-F5344CB8AC3E}">
        <p14:creationId xmlns:p14="http://schemas.microsoft.com/office/powerpoint/2010/main" val="1283710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97399-4A92-C301-4AED-83A5A2F3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95E79FB-B678-E9CC-3CAE-FEE6E286F1B8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B816F333-D5FA-A2E9-C639-7C7429E96746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3474EB0-FA2A-5E9B-4C17-87F1B35F47FC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4486269-7FB1-4384-2165-4E817642764B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B394E74-C52B-8655-8A9A-BED57B6212A7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83A0062-AC62-76AE-E605-02FFEFA14197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3B16A6E-8A7D-73C0-15B5-1D3897E69732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619143D-5642-2CA4-DFF0-1FB7B7C82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37DB8B5-F53A-1DC7-4395-41412514CB39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 err="1"/>
              <a:t>Sommerville</a:t>
            </a:r>
            <a:r>
              <a:rPr lang="pt-BR" noProof="0" dirty="0"/>
              <a:t> (2011) menciona que engenharia de requisitos é o nome dado ao processo de </a:t>
            </a:r>
            <a:r>
              <a:rPr lang="pt-BR" u="sng" noProof="0" dirty="0"/>
              <a:t>compreensão</a:t>
            </a:r>
            <a:r>
              <a:rPr lang="pt-BR" noProof="0" dirty="0"/>
              <a:t>, </a:t>
            </a:r>
            <a:r>
              <a:rPr lang="pt-BR" u="sng" noProof="0" dirty="0"/>
              <a:t>identificação</a:t>
            </a:r>
            <a:r>
              <a:rPr lang="pt-BR" noProof="0" dirty="0"/>
              <a:t> e </a:t>
            </a:r>
            <a:r>
              <a:rPr lang="pt-BR" u="sng" noProof="0" dirty="0"/>
              <a:t>definição</a:t>
            </a:r>
            <a:r>
              <a:rPr lang="pt-BR" noProof="0" dirty="0"/>
              <a:t> dos serviços e das restrições relativas à operação e ao desenvolvimento dos sistemas de software.</a:t>
            </a:r>
          </a:p>
        </p:txBody>
      </p:sp>
    </p:spTree>
    <p:extLst>
      <p:ext uri="{BB962C8B-B14F-4D97-AF65-F5344CB8AC3E}">
        <p14:creationId xmlns:p14="http://schemas.microsoft.com/office/powerpoint/2010/main" val="38075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5BAF2-C22D-4D79-D517-47B44F9E3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BF943AC-7256-AC9B-7222-B40056169605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6CF1677D-5C9F-3D29-CBF0-D00D41B945D9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1567BC6-BC8C-48D5-8E4E-92F0C8A5C729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03AE884-BDE1-567A-2B54-5CAABB45D2C7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7D27A7D-DABD-6762-F026-58334DEFFE1D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662B893-2B40-D54E-E11E-F892B80DF82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95F824EA-BBEB-B206-4BDC-E11DF8F5FC54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52C257F-B31B-6FFD-D2A1-AF753CD38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93B5A9D-4BF5-DE13-E1EB-3F52B1999F29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O resultado final da engenharia de requisitos consiste em um </a:t>
            </a:r>
            <a:r>
              <a:rPr lang="pt-BR" u="sng" noProof="0" dirty="0"/>
              <a:t>conjunto de artefatos</a:t>
            </a:r>
            <a:r>
              <a:rPr lang="pt-BR" noProof="0" dirty="0"/>
              <a:t> (documentos, modelos, especificações) que permitem </a:t>
            </a:r>
            <a:r>
              <a:rPr lang="pt-BR" u="sng" noProof="0" dirty="0"/>
              <a:t>compreender os aspectos relevantes</a:t>
            </a:r>
            <a:r>
              <a:rPr lang="pt-BR" noProof="0" dirty="0"/>
              <a:t> do sistema e </a:t>
            </a:r>
            <a:r>
              <a:rPr lang="pt-BR" u="sng" noProof="0" dirty="0"/>
              <a:t>manipulá-los</a:t>
            </a:r>
            <a:r>
              <a:rPr lang="pt-BR" noProof="0" dirty="0"/>
              <a:t> (por exemplo, verificação, simulação e animação), de modo a prever o efeito de eventuais alterações.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Esses artefatos permitem ainda comunicar-se, por meio das ideias neles expressas, com as partes interessadas.</a:t>
            </a:r>
          </a:p>
        </p:txBody>
      </p:sp>
    </p:spTree>
    <p:extLst>
      <p:ext uri="{BB962C8B-B14F-4D97-AF65-F5344CB8AC3E}">
        <p14:creationId xmlns:p14="http://schemas.microsoft.com/office/powerpoint/2010/main" val="310817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2C586-FDC6-A475-8AD9-D34A8615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2EEC41E-1565-D0FC-B0A9-7680D0484F5C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F5918056-1A8A-6103-D053-3EF22AB25A3E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E4937E1-90E8-9FE8-F9C3-C57BC77E3776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137C2DE-CBEF-B8C4-4B58-805F3F28E20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31CEFF1-B8EB-DBE3-F197-AE5860C4B168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6324EE8-D766-A2C3-2ACD-1E9FD1F0908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CA4E932A-CE29-7F0F-874D-5BC6F8A4CC08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D4F0547-672D-6589-9A4B-5ABA0C840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011C7A55-654D-1F67-F87C-C695B4CED17B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A engenharia de requisitos, como disciplina, reúne o corpo de conhecimento que tem por finalidade </a:t>
            </a:r>
            <a:r>
              <a:rPr lang="pt-BR" b="1" noProof="0" dirty="0"/>
              <a:t>auxiliar as equipes de desenvolvimento a entender melhor o problema que vão abordar</a:t>
            </a:r>
            <a:r>
              <a:rPr lang="pt-BR" noProof="0" dirty="0"/>
              <a:t>, obtendo o enunciado dos requisitos do sistema a ser desenvolvido para resolver esse problema.</a:t>
            </a:r>
          </a:p>
        </p:txBody>
      </p:sp>
    </p:spTree>
    <p:extLst>
      <p:ext uri="{BB962C8B-B14F-4D97-AF65-F5344CB8AC3E}">
        <p14:creationId xmlns:p14="http://schemas.microsoft.com/office/powerpoint/2010/main" val="3121964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EAC44-F417-BF8F-E578-99C0A4011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A6FC067-02B3-7903-D5EA-903F0E89318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768492"/>
            <a:ext cx="3581400" cy="1518506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FF66E8FE-94BE-E76C-6EC4-802AA447FFCC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FEA35B3-0F2C-D092-2EBD-D97EDA725B4D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4E3571A-2573-BA5A-9C0F-F163F0D329D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6D675E8-B1E2-B763-6337-395EF99B0AE4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BAD464C-7904-330D-1B9F-7AC505A7986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17C8CAD5-F294-FCA3-99FE-ACA5D048DB0B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E5B72BE-BFF1-C0C3-1BD2-B1595582D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DDCA159-2C9B-8FF2-30A2-53A7BDFD6BE0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095500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600" b="1" u="sng" dirty="0"/>
              <a:t>Importância da Engenharia de Requisitos</a:t>
            </a:r>
          </a:p>
          <a:p>
            <a:pPr marL="0" indent="0">
              <a:buNone/>
            </a:pPr>
            <a:endParaRPr lang="pt-BR" sz="3600" dirty="0"/>
          </a:p>
          <a:p>
            <a:pPr marL="0" indent="0" fontAlgn="ctr">
              <a:buNone/>
            </a:pPr>
            <a:r>
              <a:rPr lang="pt-BR" sz="3600" dirty="0"/>
              <a:t>Uma boa engenharia de requisitos é fundamental para o sucesso do desenvolvimento de software. Ela ajuda a: </a:t>
            </a:r>
          </a:p>
          <a:p>
            <a:pPr marL="0" indent="0" fontAlgn="ctr">
              <a:buNone/>
            </a:pPr>
            <a:endParaRPr lang="pt-BR" sz="3600" dirty="0"/>
          </a:p>
          <a:p>
            <a:pPr>
              <a:buFont typeface="Courier New" panose="02070309020205020404" pitchFamily="49" charset="0"/>
              <a:buChar char="o"/>
            </a:pPr>
            <a:r>
              <a:rPr lang="pt-BR" sz="3600" dirty="0"/>
              <a:t>Reduzir riscos de projetos mal definidos;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t-BR" sz="3600" dirty="0"/>
              <a:t>Garantir que o software atenda às necessidades do usuário;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t-BR" sz="3600" dirty="0"/>
              <a:t>Melhorar a comunicação entre desenvolvedores e clientes;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t-BR" sz="3600" dirty="0"/>
              <a:t>Facilitar a manutenção e evolução do software.</a:t>
            </a:r>
          </a:p>
        </p:txBody>
      </p:sp>
    </p:spTree>
    <p:extLst>
      <p:ext uri="{BB962C8B-B14F-4D97-AF65-F5344CB8AC3E}">
        <p14:creationId xmlns:p14="http://schemas.microsoft.com/office/powerpoint/2010/main" val="3135910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3E4F1-7ABE-25DA-A5C3-70065C5BD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D711FDE-7EF5-6907-C3BF-6435B136775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3BAAB18E-F10A-6C68-E0DC-3920D6816426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9DE26A3-4255-1091-38C6-AC9B4736B0D1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0CBD530-1A1E-EB11-2FCD-E14B94AEE3D3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7678CC4-FF2A-C310-C38C-9F3A8ECDFA2D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96A3069-749B-0064-8F84-A842ACE659EA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0B59C9A-9C07-B081-D8CF-8ED00E90C020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C6FD9A0-1B68-284C-AFEB-C25274C51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9F7F9C25-049C-BA43-8680-1D974B6545F4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Para atingir esses objetivos, a engenharia de requisitos debruça-se sobre o estudo do </a:t>
            </a:r>
            <a:r>
              <a:rPr lang="pt-BR" b="1" noProof="0" dirty="0"/>
              <a:t>domínio do problema</a:t>
            </a:r>
            <a:r>
              <a:rPr lang="pt-BR" noProof="0" dirty="0"/>
              <a:t>, conduzindo a uma descrição do sistema, visto como uma “caixa preta”, indicando a </a:t>
            </a:r>
            <a:r>
              <a:rPr lang="pt-BR" b="1" noProof="0" dirty="0"/>
              <a:t>funcionalidade requerida e as características operacionais</a:t>
            </a:r>
            <a:r>
              <a:rPr lang="pt-BR" noProof="0" dirty="0"/>
              <a:t> (por exemplo, confiabilidade, disponibilidade, usabilidade e desempenho), mas </a:t>
            </a:r>
            <a:r>
              <a:rPr lang="pt-BR" b="1" noProof="0" dirty="0"/>
              <a:t>ignorando os aspectos da estrutura interna </a:t>
            </a:r>
            <a:r>
              <a:rPr lang="pt-BR" noProof="0" dirty="0"/>
              <a:t>que permitem concretizar esse comportamento.</a:t>
            </a:r>
          </a:p>
        </p:txBody>
      </p:sp>
    </p:spTree>
    <p:extLst>
      <p:ext uri="{BB962C8B-B14F-4D97-AF65-F5344CB8AC3E}">
        <p14:creationId xmlns:p14="http://schemas.microsoft.com/office/powerpoint/2010/main" val="2501992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A1989-20EF-8363-C0AE-59E2561F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174BA3-6427-2727-E262-D218C3FBD800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14F8B0C6-3914-7DB6-304C-FB5C295C77BD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4E3EC65-EB93-1968-5FE0-5F7E74DF4B2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425305B-3612-07D5-987F-042F6A0C09D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5D083F3-8D23-8C73-E735-8AE73408F8F2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681FEA1-9B07-752A-D290-8428B86600F0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115F3242-506E-E3CF-96FA-DBA8D2BCE716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2A1C1F-7AA9-6156-AA8C-0EFCB5A07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CD63B6C-9875-D923-C9D8-30C9ECA3C61A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Para isso, os engenheiros recorrem a </a:t>
            </a:r>
            <a:r>
              <a:rPr lang="pt-BR" u="sng" noProof="0" dirty="0"/>
              <a:t>questionários</a:t>
            </a:r>
            <a:r>
              <a:rPr lang="pt-BR" noProof="0" dirty="0"/>
              <a:t>, a </a:t>
            </a:r>
            <a:r>
              <a:rPr lang="pt-BR" u="sng" noProof="0" dirty="0"/>
              <a:t>entrevistas</a:t>
            </a:r>
            <a:r>
              <a:rPr lang="pt-BR" noProof="0" dirty="0"/>
              <a:t>, à </a:t>
            </a:r>
            <a:r>
              <a:rPr lang="pt-BR" u="sng" noProof="0" dirty="0"/>
              <a:t>observação</a:t>
            </a:r>
            <a:r>
              <a:rPr lang="pt-BR" noProof="0" dirty="0"/>
              <a:t> das atividades desenvolvidas e à consulta de manuais, relatórios, formulários e outros documentos para recolher as informações de que precisam.</a:t>
            </a:r>
          </a:p>
        </p:txBody>
      </p:sp>
    </p:spTree>
    <p:extLst>
      <p:ext uri="{BB962C8B-B14F-4D97-AF65-F5344CB8AC3E}">
        <p14:creationId xmlns:p14="http://schemas.microsoft.com/office/powerpoint/2010/main" val="2658062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06055-6135-9CD1-1EA9-01319A1B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CCD53E-85D0-6DF8-77C3-8D056D87643A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3F8E70F4-FA78-238B-22D0-56A2A41946F2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CEFF29B-0C33-8D30-B73A-F478D601A8AB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1E0C18E-B279-C643-DF88-EDDD6C661E2B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298423C-BE7B-00C4-A9BA-60EB94811B0B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AAB5453-327D-961A-2889-4481567CF9CC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A56AE4B4-E96A-F610-7B2C-DFEC439155F7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CBCA143-C9EF-59F2-1E01-56CEA040B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7A0BE78-ACE0-2E1D-2BE7-AF40CFB2EC9F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No caso do domínio do software, Robertson e Robertson (2006, p. 262) indicam que </a:t>
            </a:r>
            <a:r>
              <a:rPr lang="pt-BR" b="1" noProof="0" dirty="0"/>
              <a:t>mais da metade dos erros cometidos durante o desenvolvimento é introduzida na fase de análise</a:t>
            </a:r>
            <a:r>
              <a:rPr lang="pt-BR" noProof="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Ainda que a ordem de grandeza da porcentagem indicada possa ser posta em questão, especialmente em outras especialidades da engenharia, parece que não há muitas dúvidas quanto ao </a:t>
            </a:r>
            <a:r>
              <a:rPr lang="pt-BR" u="sng" noProof="0" dirty="0"/>
              <a:t>impacto que a qualidade das tarefas de engenharia de requisitos tem no sucesso de qualquer projeto de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3646553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F6726-6949-BE8A-D5D6-C8926959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2FC6803-87BA-CD93-2FE8-DD7F1A604026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E2E25599-917B-9112-24DB-7DB8548A6D56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4C5D685-84F9-F8A6-FD7C-7CF26AE887BB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BBBE6DB-07E7-72F1-EE14-E99FAFCCACC7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D634945-9E9C-485D-FD49-4D12FD7FC7E1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27F7B3B-D59E-E24B-2D34-D3E8ECA9B9E5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4FA708A0-7A61-7984-82EF-7064E036D567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2A04037-177C-18DB-5551-3EA6DA7E3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1FC82CD8-6C68-087D-D95A-53747BCF9128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b="1" noProof="0" dirty="0"/>
              <a:t>Se um requisito não for corretamente entendido, é provável que as decisões de concepção baseadas nele sejam inadequadas; também a implementação e o teste poderão estar baseados em pressupostos incorretos.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57942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C7024-8931-68C6-7262-DF7CE9131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FC4DC4-DDAB-FCEC-59FA-7DEFEDB9A811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92E5AB4-BC70-1618-B8F2-A592B768B52A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FA7302C-8E0F-3BFC-862D-B03C519F9B1A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5E0117B-D1D1-2DA5-D457-76E65C18BEF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587EC01-C337-28F5-DB5D-E36B92009FAF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1FCC944-F277-8237-C0EA-FBDC12ABE24C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11177EF-EA68-B7AE-636B-32AF1E9F1624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33C8EF3-9BD0-3120-1D31-669125128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5DA0C28-B6C5-D47F-4468-8A0326C1B8D8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É conveniente detectar as alterações que deverão ser </a:t>
            </a:r>
            <a:r>
              <a:rPr lang="pt-BR" b="1" noProof="0" dirty="0"/>
              <a:t>feitas o mais cedo possível, pois os custos associados à sua efetuação aumentam à medida que o desenvolvimento avança</a:t>
            </a:r>
            <a:r>
              <a:rPr lang="pt-BR" noProof="0" dirty="0"/>
              <a:t>, como mostrado na figura.</a:t>
            </a:r>
          </a:p>
        </p:txBody>
      </p:sp>
    </p:spTree>
    <p:extLst>
      <p:ext uri="{BB962C8B-B14F-4D97-AF65-F5344CB8AC3E}">
        <p14:creationId xmlns:p14="http://schemas.microsoft.com/office/powerpoint/2010/main" val="2652271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04833-652A-7609-FEF6-3217B9CC7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8F459F59-BC9C-02D4-81FC-A3C68A2ADFB6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154935E-FE76-A206-FAA2-D4073987FA8C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D81002C-3199-24AC-3005-EA2CAA054B62}"/>
              </a:ext>
            </a:extLst>
          </p:cNvPr>
          <p:cNvGrpSpPr>
            <a:grpSpLocks noChangeAspect="1"/>
          </p:cNvGrpSpPr>
          <p:nvPr/>
        </p:nvGrpSpPr>
        <p:grpSpPr>
          <a:xfrm>
            <a:off x="15667195" y="9055267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E36BAB9-5C7E-1C40-C875-1746AB544419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AB029CF7-D6B3-92D9-352F-28FADDFB2E7F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0FE09AF-A52D-262D-1A86-8EC7E5549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C123CF2-A17C-0DF0-991F-A2CF05432C2E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  <p:pic>
        <p:nvPicPr>
          <p:cNvPr id="7" name="Imagem 2">
            <a:extLst>
              <a:ext uri="{FF2B5EF4-FFF2-40B4-BE49-F238E27FC236}">
                <a16:creationId xmlns:a16="http://schemas.microsoft.com/office/drawing/2014/main" id="{B08CC77C-433D-79A9-D4CC-F6B641201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805" y="2402770"/>
            <a:ext cx="12514037" cy="7465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554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B98F5-F145-7D42-5FD7-A099F1B8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96A5FA-485D-62A4-5D06-121C34262670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1E67C022-B155-8463-3D2D-05B1CCF7063D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BAAA1E2-1338-EB61-B590-54A9FF4F1961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CE22A6C-60F3-C46B-8FC3-0AE701E2187A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77BA0CF-4DC9-72EA-DAC1-5957F3743381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166DE63-92F2-7751-2ABA-5A141CB19DD9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A124A704-0AEB-3FB9-0B14-AFA4AD7A0F27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90374BA-885E-0DDC-7D48-A2F30E8D2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DF13B3A-B6CC-62C8-92A1-58A408F93BAF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A engenharia de requisitos não se resume a um mero conjunto de atividades isoladas de todo o processo de desenvolvimento, sendo permanentemente revisitada, o que implica a necessidade de vários ciclos de realimentação. O processo de engenharia de requisitos, segundo Pressman (2011), inclui sete atividades principais: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AutoNum type="arabicParenBoth"/>
            </a:pPr>
            <a:r>
              <a:rPr lang="pt-BR" noProof="0" dirty="0"/>
              <a:t>iniciação, (2) levantamento, (3) elaboração, (4) negociação;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(5) documentação, (6) validação e (7) gestão.</a:t>
            </a:r>
          </a:p>
        </p:txBody>
      </p:sp>
    </p:spTree>
    <p:extLst>
      <p:ext uri="{BB962C8B-B14F-4D97-AF65-F5344CB8AC3E}">
        <p14:creationId xmlns:p14="http://schemas.microsoft.com/office/powerpoint/2010/main" val="2261778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550EB-909E-7888-CF98-FA7F82EB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5B2DA98-ADA5-7CF0-1041-5836185DB28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8AE132F2-3030-F399-6EB6-566DD30C4F9D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9FE8B46-02F6-6D9F-EB1F-F05014D02FC7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C94C7EE-99CF-3887-B9BC-E0BAC2E842B9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3055273-2E23-90EF-A818-62C667B11B91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ED332E1-D0E2-6417-DF0D-1833050E1ED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FED9CCD0-3B62-04C8-1210-656CA104AE25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304674F-608A-A8EF-D699-2CFB325666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4E02F04-8DC0-9FDA-457A-FF099ED2CCCC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  <p:pic>
        <p:nvPicPr>
          <p:cNvPr id="7" name="Imagem 2">
            <a:extLst>
              <a:ext uri="{FF2B5EF4-FFF2-40B4-BE49-F238E27FC236}">
                <a16:creationId xmlns:a16="http://schemas.microsoft.com/office/drawing/2014/main" id="{01125138-A5D3-2F67-45BA-5E246278E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994943"/>
            <a:ext cx="14009672" cy="475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1803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CD69A-ECB4-8E64-F1CA-E55D3FC12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29851F9-3A2A-F931-7C79-1B76FCFEAF9C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1E742BD-9099-977D-8DBB-92F0FBE913F3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1E423FE-6FCB-9D0C-D25F-1B7C4E8CB421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0BDA232-7A69-B7B5-46AD-55D9CEDB2A3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CBA132F-F804-A149-4DEE-772613FE596D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2B2CB39-9F21-21A9-69E9-5EF6BFB1D877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2647A988-8FB3-25D8-E0BC-8B1EB5DE2567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B77CE97-81DD-F893-392E-5461BC3C7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71C0A6C3-0C7E-9028-2FE4-19AAC774C40D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Os processos tendem a ser </a:t>
            </a:r>
            <a:r>
              <a:rPr lang="pt-BR" b="1" noProof="0" dirty="0"/>
              <a:t>colaborativos</a:t>
            </a:r>
            <a:r>
              <a:rPr lang="pt-BR" noProof="0" dirty="0"/>
              <a:t>, </a:t>
            </a:r>
            <a:r>
              <a:rPr lang="pt-BR" b="1" noProof="0" dirty="0"/>
              <a:t>cooperativos</a:t>
            </a:r>
            <a:r>
              <a:rPr lang="pt-BR" noProof="0" dirty="0"/>
              <a:t>, </a:t>
            </a:r>
            <a:r>
              <a:rPr lang="pt-BR" b="1" noProof="0" dirty="0"/>
              <a:t>iterativos</a:t>
            </a:r>
            <a:r>
              <a:rPr lang="pt-BR" noProof="0" dirty="0"/>
              <a:t> e </a:t>
            </a:r>
            <a:r>
              <a:rPr lang="pt-BR" b="1" noProof="0" dirty="0"/>
              <a:t>incrementais</a:t>
            </a:r>
            <a:r>
              <a:rPr lang="pt-BR" noProof="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Por um lado, a </a:t>
            </a:r>
            <a:r>
              <a:rPr lang="pt-BR" u="sng" noProof="0" dirty="0"/>
              <a:t>cooperação e a colaboração</a:t>
            </a:r>
            <a:r>
              <a:rPr lang="pt-BR" noProof="0" dirty="0"/>
              <a:t> entre os engenheiros de requisitos e entre estes e as partes interessadas pressupõem paralelismo/concorrência na execução de tarefas. Por outro, a natureza </a:t>
            </a:r>
            <a:r>
              <a:rPr lang="pt-BR" u="sng" noProof="0" dirty="0"/>
              <a:t>iterativa e incremental</a:t>
            </a:r>
            <a:r>
              <a:rPr lang="pt-BR" noProof="0" dirty="0"/>
              <a:t> do processo significa que uma tarefa executada anteriormente possa ser executada de novo, o número de vezes que for preciso.</a:t>
            </a:r>
          </a:p>
        </p:txBody>
      </p:sp>
    </p:spTree>
    <p:extLst>
      <p:ext uri="{BB962C8B-B14F-4D97-AF65-F5344CB8AC3E}">
        <p14:creationId xmlns:p14="http://schemas.microsoft.com/office/powerpoint/2010/main" val="2569722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4E1A1-4163-5639-7B1B-B8AB39C4F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D2CD25-16B6-9854-9093-306F4479691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E7BD19C1-3A84-3321-95B3-17886CEF3833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134F08F-7A15-ACAC-AB37-B9E3FDE53054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6FEFC52-C9F3-C754-8CC0-04458DF5CFA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367A5D6-4830-1120-6475-73CD11DACB93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B340066-BE7C-5033-05F2-74AB4AA5CEB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62C8DEDD-1EEE-D69B-EDE1-2B3F72F1BCFF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1436113-364D-8A56-991B-3FF43C31F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121E7DFA-0E36-599B-60D2-B6233D100962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b="1" noProof="0" dirty="0"/>
              <a:t>Iniciação</a:t>
            </a:r>
            <a:r>
              <a:rPr lang="pt-BR" noProof="0" dirty="0"/>
              <a:t>  - Qualquer projeto de desenvolvimento requer algum mecanismo de iniciação. Alguém tem de iniciar o processo com base em alguma necessidade ou expectativa de negócio.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Também pode ocorrer de a iniciação ter a sua origem no estudo da </a:t>
            </a:r>
            <a:r>
              <a:rPr lang="pt-BR" u="sng" noProof="0" dirty="0"/>
              <a:t>documentação do problema</a:t>
            </a:r>
            <a:r>
              <a:rPr lang="pt-BR" noProof="0" dirty="0"/>
              <a:t>, que explicita, entre outros, os requisitos pretendidos.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No final desta atividade, o engenheiro de requisitos tem de ser capaz de descrever qual a </a:t>
            </a:r>
            <a:r>
              <a:rPr lang="pt-BR" u="sng" noProof="0" dirty="0"/>
              <a:t>visão do cliente e o retorno do investimento.</a:t>
            </a: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91499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4441-4453-64E2-B213-E57DB6FEF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42A72E-EC90-67D8-B348-6B4557D18B58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79074A0D-064C-5F31-C5A6-157ECC4C8516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93A6DE1-8564-F260-FFB2-9337154A38B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955FD64-4238-1EE1-FFCA-CA94D5886CA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6299A0F-FCA0-165F-59FA-83D58C2C8C67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BB9A3B3-F6F5-7831-19BF-D80F75DBC905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F8734E9F-2DB9-0136-A80D-3CB17AD4568E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67CA82-49A1-0287-D560-907F76395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097AD62-8B3A-0619-5D0D-166C6777BF61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Como resultado da sua realização devem emergir: </a:t>
            </a:r>
          </a:p>
          <a:p>
            <a:pPr marL="514350" indent="-514350" algn="just">
              <a:lnSpc>
                <a:spcPct val="150000"/>
              </a:lnSpc>
              <a:buAutoNum type="arabicParenBoth"/>
            </a:pPr>
            <a:r>
              <a:rPr lang="pt-BR" noProof="0" dirty="0"/>
              <a:t>uma caracterização do problema;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(2) a definição das soluções alternativas e dos respectivos benefícios 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(3) a identificação dos recursos, dos custos e das datas referentes às alternativas propostas.</a:t>
            </a:r>
          </a:p>
        </p:txBody>
      </p:sp>
    </p:spTree>
    <p:extLst>
      <p:ext uri="{BB962C8B-B14F-4D97-AF65-F5344CB8AC3E}">
        <p14:creationId xmlns:p14="http://schemas.microsoft.com/office/powerpoint/2010/main" val="1307650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A21B-06B8-8E35-E7A2-80B4D7E2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4445542-D437-2141-4740-20F8D3489F3F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3D0C6798-68AA-90ED-7ECE-85A62D982F89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2771A00-2717-FEE5-73E0-E6C42AF27542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C45AC1A-BCE6-2BA8-32F2-4FFD5DFD7F0F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68176C1-E12E-5587-5BBB-AC3AFFB27376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3F23790-0DD6-F360-7C9E-E3D530119B42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CB7647F-4474-9ECC-EA5C-7954A30475FC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D38D6B6-FE37-812B-73F3-08D1BC06D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5AD89DC-711A-CC5D-F042-8FF1F8B2E48A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b="1" noProof="0" dirty="0"/>
              <a:t>Levantamento de requisitos </a:t>
            </a:r>
            <a:r>
              <a:rPr lang="pt-BR" noProof="0" dirty="0"/>
              <a:t>-</a:t>
            </a:r>
            <a:r>
              <a:rPr lang="pt-BR" b="1" noProof="0" dirty="0"/>
              <a:t> </a:t>
            </a:r>
            <a:r>
              <a:rPr lang="pt-BR" noProof="0" dirty="0"/>
              <a:t>Esta atividade trata a forma como devem ser obtidos os requisitos.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As técnicas de levantamento de requisitos devem </a:t>
            </a:r>
            <a:r>
              <a:rPr lang="pt-BR" u="sng" noProof="0" dirty="0"/>
              <a:t>identificar</a:t>
            </a:r>
            <a:r>
              <a:rPr lang="pt-BR" noProof="0" dirty="0"/>
              <a:t> as diversas fontes de requisitos e devem também ajudar as várias partes interessadas a </a:t>
            </a:r>
            <a:r>
              <a:rPr lang="pt-BR" u="sng" noProof="0" dirty="0"/>
              <a:t>descrever corretamente</a:t>
            </a:r>
            <a:r>
              <a:rPr lang="pt-BR" noProof="0" dirty="0"/>
              <a:t> os requisitos.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Esta atividade é inerentemente </a:t>
            </a:r>
            <a:r>
              <a:rPr lang="pt-BR" u="sng" noProof="0" dirty="0"/>
              <a:t>comunicacional</a:t>
            </a:r>
            <a:r>
              <a:rPr lang="pt-BR" noProof="0" dirty="0"/>
              <a:t>, dado que exige uma interação aprofundada com as partes interessadas. É </a:t>
            </a:r>
            <a:r>
              <a:rPr lang="pt-BR" u="sng" noProof="0" dirty="0"/>
              <a:t>impossível automatizar </a:t>
            </a:r>
            <a:r>
              <a:rPr lang="pt-BR" noProof="0" dirty="0"/>
              <a:t>os aspectos essenciais desta atividade.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42004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015E3-22EA-B23E-C36E-03C92032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0413D5-6759-1CED-778F-89B1D41216D7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E4723F8C-F876-B265-FD6A-D8E96A7997D2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9FA1B1E-AD72-A531-A652-4CD194F9CF9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A6E6DCC-3668-6919-31E8-7D6D2241437E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5BFDB0B-2BB3-2ABE-FC0E-7B68BE927BD7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1C27211-81E7-B0B3-D913-F061079D0C5C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8E9642FE-5046-5685-FEB4-4C641AFD16CE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FF0FE5E-781B-43C5-6235-F09180446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3087279-9B2A-B731-70D0-E6B20857CC22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Destacam-se as seguintes </a:t>
            </a:r>
            <a:r>
              <a:rPr lang="pt-BR" u="sng" noProof="0" dirty="0"/>
              <a:t>técnicas de levantamento de requisitos</a:t>
            </a:r>
            <a:r>
              <a:rPr lang="pt-BR" noProof="0" dirty="0"/>
              <a:t>: entrevistas, questionários, etnografia, dinâmica de grupo, trabalho colaborativo, análise de domínio, orientação a objetos, prototipação, cenários, modelagem de objetivos e personas.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06043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673FE-564E-796E-6DE4-B634CE936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600D5733-0B31-EB86-6517-1CD108E61E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F8085FA-5368-DA91-62C4-A865798CB91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52B4ED8-499A-2760-1B2B-BE1CA09E33E9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34132F7-B57F-633C-FC92-5C603A32F92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08BA4489-B489-9EA3-65A1-FA282B1B7C51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8458CDD-DA4E-2173-E94B-9B67E4268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55960B4-978B-E109-C31C-727CE50FA9CA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b="1" noProof="0" dirty="0"/>
              <a:t>Elaboração de requisitos </a:t>
            </a:r>
            <a:r>
              <a:rPr lang="pt-BR" noProof="0" dirty="0"/>
              <a:t>- Esta atividade, que por vezes também é referida por reconciliação, tem o objetivo de </a:t>
            </a:r>
            <a:r>
              <a:rPr lang="pt-BR" u="sng" noProof="0" dirty="0"/>
              <a:t>analisar</a:t>
            </a:r>
            <a:r>
              <a:rPr lang="pt-BR" noProof="0" dirty="0"/>
              <a:t> e </a:t>
            </a:r>
            <a:r>
              <a:rPr lang="pt-BR" u="sng" noProof="0" dirty="0"/>
              <a:t>classificar</a:t>
            </a:r>
            <a:r>
              <a:rPr lang="pt-BR" noProof="0" dirty="0"/>
              <a:t> os requisitos levantados mas ainda não tratados.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Há vários problemas que podem induzir à intervenção do analista, especialmente quando os requisitos: </a:t>
            </a: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noProof="0" dirty="0"/>
              <a:t>não fazem sentido; </a:t>
            </a: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noProof="0" dirty="0"/>
              <a:t>estão em contradição uns com os outros; </a:t>
            </a: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noProof="0" dirty="0"/>
              <a:t>são incoerentes; </a:t>
            </a: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noProof="0" dirty="0"/>
              <a:t>são incompletos; </a:t>
            </a: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noProof="0" dirty="0"/>
              <a:t>são vagos.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34481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470E7-7C43-CF21-F8F6-7A1CA98E8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978B61-2E45-060C-7846-7291BA86E977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A7820478-3BD2-8FC5-C883-10B1F0B87AF7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686F45C-C37F-7CE7-BDE8-E3EC5765B964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7FB22CA-25CD-884A-B82B-51A693AE3E5A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36D7899-E1AE-BCAE-A8C7-C285640E877B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ABE3021-464B-6C7C-7B9D-29FA07BBEC68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685249B-8AC4-6BAB-AF3C-383F447A3D91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E9A5DA8-9246-D06F-F00E-99B2254DA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7DBEE6A-25BA-C6D6-CC6E-B7C52F31A20E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noProof="0" dirty="0"/>
              <a:t>É habitual, nessa atividade, organizarem-se os requisitos de modo a que formem grupos coesos. </a:t>
            </a:r>
          </a:p>
          <a:p>
            <a:pPr marL="0" indent="0" algn="just">
              <a:lnSpc>
                <a:spcPct val="150000"/>
              </a:lnSpc>
              <a:spcBef>
                <a:spcPts val="3000"/>
              </a:spcBef>
              <a:spcAft>
                <a:spcPts val="3000"/>
              </a:spcAft>
              <a:buNone/>
              <a:defRPr/>
            </a:pPr>
            <a:r>
              <a:rPr lang="pt-BR" noProof="0" dirty="0"/>
              <a:t>Um dos critérios que é normalmente usado para proceder a esse agrupamento tem o </a:t>
            </a:r>
            <a:r>
              <a:rPr lang="pt-BR" u="sng" noProof="0" dirty="0"/>
              <a:t>objetivo de facilitar a elaboração de uma primeira arquitetura do sistema</a:t>
            </a:r>
            <a:r>
              <a:rPr lang="pt-BR" noProof="0" dirty="0"/>
              <a:t>, em que se podem identificar os principais componentes (ou subsistemas). 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noProof="0" dirty="0"/>
              <a:t>Esta situação é mais uma prova de que </a:t>
            </a:r>
            <a:r>
              <a:rPr lang="pt-BR" b="1" noProof="0" dirty="0"/>
              <a:t>os processos de desenvolvimento não têm um caráter sequencial</a:t>
            </a:r>
            <a:r>
              <a:rPr lang="pt-BR" noProof="0" dirty="0"/>
              <a:t> e que, na realidade, as atividades que fazem parte das fases se relacionam das mais variadas formas.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06070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149D1-75F3-131E-579F-505812017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2E7D509-57A6-A3E7-870F-CB5A0D697D37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3D7393C2-E2C8-66C7-4088-C59111DABDB6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EEF4259-5956-8E6D-F47A-D3E4A0DB31F1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D30DAFF-4A3B-4A09-B7D1-FE3576FC6B60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48F0A01-34A8-17B3-761D-1CB711BAF124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08755D7-7B1B-AF2B-1BDA-0C078B171CBA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86DB297-C3A7-E8F1-47E0-BD5930153144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3905B09-D93D-C938-117F-F39D2252B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D97A32D-DFA7-B176-7492-F0EAE7C4DA8B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Com essa arquitetura, é possível </a:t>
            </a:r>
            <a:r>
              <a:rPr lang="pt-BR" u="sng" noProof="0" dirty="0"/>
              <a:t>associar requisitos a cada componente</a:t>
            </a:r>
            <a:r>
              <a:rPr lang="pt-BR" noProof="0" dirty="0"/>
              <a:t>, o que facilita a transição para as fases subsequentes do processo de desenvolvimento.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Nessa atividade, definem-se a fronteira do sistema em projeto e a forma como ele interatua com o meio ambiente, por meio de um diagrama de contexto (ou por meio de um </a:t>
            </a:r>
            <a:r>
              <a:rPr lang="pt-BR" b="1" noProof="0" dirty="0"/>
              <a:t>diagrama de casos de uso</a:t>
            </a:r>
            <a:r>
              <a:rPr lang="pt-BR" noProof="0" dirty="0"/>
              <a:t>).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60982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50E3A-1EFC-7493-1CDC-D7274126A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0532A89-CED2-887F-9FEC-F2272914C33C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39E2FBAC-72FD-B128-8B60-CFB3CA9DE134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9AB98F8-F20E-CF8F-A263-40245106AD3C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C6BDF89-ABDB-A0F3-B661-E1D96F80BC8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E569DB3-EA66-3C98-41D4-DC1A7B877DC9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433F10A-2B72-6C24-165A-22709FE5D1FE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B4DA67CD-54D2-85A0-91AB-54D968AD3359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27AF151-96DF-61B4-A88F-04998DF67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98F37A76-323B-5DA7-41D2-4AEA21F67184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b="1" noProof="0" dirty="0"/>
              <a:t>Negociação de requisitos </a:t>
            </a:r>
            <a:r>
              <a:rPr lang="pt-BR" noProof="0" dirty="0"/>
              <a:t>- A engenharia de requisitos é, na sua essência, um intrincado processo de </a:t>
            </a:r>
            <a:r>
              <a:rPr lang="pt-BR" u="sng" noProof="0" dirty="0"/>
              <a:t>comunicação</a:t>
            </a:r>
            <a:r>
              <a:rPr lang="pt-BR" noProof="0" dirty="0"/>
              <a:t> e </a:t>
            </a:r>
            <a:r>
              <a:rPr lang="pt-BR" u="sng" noProof="0" dirty="0"/>
              <a:t>negociação</a:t>
            </a:r>
            <a:r>
              <a:rPr lang="pt-BR" noProof="0" dirty="0"/>
              <a:t> que envolve as várias partes interessadas.</a:t>
            </a:r>
          </a:p>
          <a:p>
            <a:pPr marL="0" indent="0" algn="just">
              <a:lnSpc>
                <a:spcPct val="150000"/>
              </a:lnSpc>
              <a:spcBef>
                <a:spcPts val="3000"/>
              </a:spcBef>
              <a:buNone/>
            </a:pPr>
            <a:r>
              <a:rPr lang="pt-BR" noProof="0" dirty="0"/>
              <a:t>Estas são responsáveis por decidir </a:t>
            </a:r>
            <a:r>
              <a:rPr lang="pt-BR" b="1" noProof="0" dirty="0"/>
              <a:t>o que fazer</a:t>
            </a:r>
            <a:r>
              <a:rPr lang="pt-BR" noProof="0" dirty="0"/>
              <a:t>, </a:t>
            </a:r>
            <a:r>
              <a:rPr lang="pt-BR" b="1" noProof="0" dirty="0"/>
              <a:t>quando fazer</a:t>
            </a:r>
            <a:r>
              <a:rPr lang="pt-BR" noProof="0" dirty="0"/>
              <a:t>, </a:t>
            </a:r>
            <a:r>
              <a:rPr lang="pt-BR" b="1" noProof="0" dirty="0"/>
              <a:t>que tipo de informação é necessário</a:t>
            </a:r>
            <a:r>
              <a:rPr lang="pt-BR" noProof="0" dirty="0"/>
              <a:t> e que </a:t>
            </a:r>
            <a:r>
              <a:rPr lang="pt-BR" b="1" noProof="0" dirty="0"/>
              <a:t>ferramentas</a:t>
            </a:r>
            <a:r>
              <a:rPr lang="pt-BR" noProof="0" dirty="0"/>
              <a:t> devem ser usadas. Em muitos casos, é inevitável que apareçam situações de conflito entre os requisitos considerados, o que implica a necessidade de se promoverem mecanismos de </a:t>
            </a:r>
            <a:r>
              <a:rPr lang="pt-BR" u="sng" noProof="0" dirty="0"/>
              <a:t>negociação</a:t>
            </a:r>
            <a:r>
              <a:rPr lang="pt-BR" noProof="0" dirty="0"/>
              <a:t> entre as partes interessadas.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15965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5CFDB-C79F-6AB7-689A-22DFCFA47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C7A903-5A77-5801-5A9A-312DFE74CF2A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063ACDA6-7E23-3320-A425-946459EC8130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FDEDAA0-0CF7-2543-EE7E-426C1E38C8B2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D1CC183-7FD8-124F-036D-153AA898BF7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CDC040A-2555-B140-FBF7-FC67785A2225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B2758DB-3B23-5ED9-B222-A1DEE73BC617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089D5B6-6D4E-8944-F848-2E7BAA42DC18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1F355C1-0C63-62EE-C892-4AA89B97B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11DA258F-18A9-B0DE-B17C-6BBB4BA95174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Na realidade, essa atividade é realizada em paralelo com as atividades supracitadas e continua até os requisitos serem implementados.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Outra forma de tratar os conflitos consiste na adoção de </a:t>
            </a:r>
            <a:r>
              <a:rPr lang="pt-BR" b="1" noProof="0" dirty="0"/>
              <a:t>técnicas de priorização</a:t>
            </a:r>
            <a:r>
              <a:rPr lang="pt-BR" noProof="0" dirty="0"/>
              <a:t>, para suportar de forma mais sustentada a escolha do subconjunto de requisitos a implementar em cada instante.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18389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07979-E8BA-F3E9-3C64-A163088D7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CFAEB5-F588-9E76-395B-9B8BE6E5537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8842A0C3-9BDB-DC14-3DA1-D576F8C36FF2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B830C32-0E21-3F1A-E2CE-0C5FE7FC7E5A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89F48DD-DD77-3B4B-AB11-2F9537A65370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D39065F-B74C-6A32-A257-6EE80E3992AC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442E4AC-5E75-29C2-42D8-32FA4ACA80DE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477FAB1-952E-36DE-19A9-8497B0189A1A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03663B0-55D6-8386-89F9-F59727681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5D2F68D-6C0E-5DFF-A18F-3EA7DBF0F05B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b="1" noProof="0" dirty="0"/>
              <a:t>Documentação de requisitos </a:t>
            </a:r>
            <a:r>
              <a:rPr lang="pt-BR" noProof="0" dirty="0"/>
              <a:t>- O termo ‘documentação’ pode ser usado para indicar a atividade em que se documenta, mas também para referir o seu resultado, normalmente na </a:t>
            </a:r>
            <a:r>
              <a:rPr lang="pt-BR" u="sng" noProof="0" dirty="0"/>
              <a:t>forma de documento</a:t>
            </a:r>
            <a:r>
              <a:rPr lang="pt-BR" noProof="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u="sng" noProof="0" dirty="0"/>
              <a:t>A importância dos documentos de requisitos advém do fato de estes servirem de referência fundamental às fases subsequentes do processo de desenvolvimento</a:t>
            </a:r>
            <a:r>
              <a:rPr lang="pt-BR" noProof="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74988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E122A-E38E-B154-5DFD-0399D852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6EE3467-A0B5-6769-5B09-6257DA21BDC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63A951A7-669E-FBE4-9C6E-EB14E389B36B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92086FD-DD26-5316-4882-2E423B5EDCE7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82802A4-A796-7FDE-2E25-79677F3AAE96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4196626-3D0A-5518-5C34-2D82B88F3062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D6F0AE1-8FBC-98AF-4C9A-5125803E724E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34B17C2-31C2-27D0-B669-D254490E21A0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ED98225-8600-9FCD-2981-EBAA9D078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AE20572-FA27-C7B3-1AD5-4D95E81C64E4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606674"/>
            <a:ext cx="16084201" cy="590590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noProof="0" dirty="0"/>
              <a:t>Nesta atividade, o documento de requisitos, do ponto de vista da estrutura, da qualidade e da verificabilidade, é normalmente organizado em duas partes distintas: </a:t>
            </a:r>
          </a:p>
          <a:p>
            <a:pPr marL="0" indent="0" algn="just">
              <a:lnSpc>
                <a:spcPct val="150000"/>
              </a:lnSpc>
              <a:defRPr/>
            </a:pPr>
            <a:endParaRPr lang="pt-BR" noProof="0" dirty="0"/>
          </a:p>
          <a:p>
            <a:pPr marL="457200" indent="-457200" algn="just">
              <a:lnSpc>
                <a:spcPct val="150000"/>
              </a:lnSpc>
              <a:buFontTx/>
              <a:buAutoNum type="arabicPeriod"/>
              <a:defRPr/>
            </a:pPr>
            <a:r>
              <a:rPr lang="pt-BR" b="1" noProof="0" dirty="0"/>
              <a:t>definição de requisitos de usuário</a:t>
            </a:r>
            <a:r>
              <a:rPr lang="pt-BR" noProof="0" dirty="0"/>
              <a:t>, que descreve as expectativas e as necessidades dos usuários; </a:t>
            </a:r>
          </a:p>
          <a:p>
            <a:pPr marL="457200" indent="-457200" algn="just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457200" indent="-457200" algn="just">
              <a:lnSpc>
                <a:spcPct val="150000"/>
              </a:lnSpc>
              <a:buFontTx/>
              <a:buAutoNum type="arabicPeriod"/>
              <a:defRPr/>
            </a:pPr>
            <a:r>
              <a:rPr lang="pt-BR" b="1" noProof="0" dirty="0"/>
              <a:t>especificação de requisitos de sistema</a:t>
            </a:r>
            <a:r>
              <a:rPr lang="pt-BR" noProof="0" dirty="0"/>
              <a:t>, que estabelece o acordo entre o cliente e a equipe de desenvolvimento.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69404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FC42A-707C-647A-CFE7-B8000A23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A26C0BD-9A7D-674A-F09A-44355A41376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1A9C78CA-0B3C-AF55-CEE2-0435092DA633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DE1B0AF-0293-CC4C-4AD2-9160CA3D748C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E65DCAA-263F-3708-F6C8-F13BE3B14FA0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2DDB942-0A5F-A5DA-736D-0CF9A34CBADF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42C3307-7ABD-AFEB-87BF-A86D20B329E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2410FF14-5308-EB31-ABD6-3BDD97A4830C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7E0E293-2DF6-D5BE-DC2B-47D5A65A6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D77D011F-A5FB-7A84-9C99-5CF47BD8A8F9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247900"/>
            <a:ext cx="16084201" cy="62646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b="1" noProof="0" dirty="0"/>
              <a:t>Validação de requisitos </a:t>
            </a:r>
            <a:r>
              <a:rPr lang="pt-BR" noProof="0" dirty="0"/>
              <a:t>- O objetivo desta atividade é garantir que os requisitos definam o sistema que o cliente deseja. </a:t>
            </a:r>
          </a:p>
          <a:p>
            <a:pPr marL="0" indent="0" algn="just">
              <a:lnSpc>
                <a:spcPct val="150000"/>
              </a:lnSpc>
              <a:spcBef>
                <a:spcPts val="3000"/>
              </a:spcBef>
              <a:spcAft>
                <a:spcPts val="3000"/>
              </a:spcAft>
              <a:buNone/>
              <a:defRPr/>
            </a:pPr>
            <a:r>
              <a:rPr lang="pt-BR" noProof="0" dirty="0"/>
              <a:t>Para isso, deve-se examinar o documento de requisitos para avaliar se descreve o sistema pretendido, à custa, por exemplo, de inspeções ou revisões técnicas das especificações. 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noProof="0" dirty="0"/>
              <a:t>Esta atividade é muito relevante, já que a propagação de falhas existentes nos requisitos para as fases seguintes do processo de desenvolvimento envolve normalmente alterações que implicam custos bastante elevados.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52137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EB8B-5E9F-2F22-B505-33A64851F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E9B2E1-6002-8292-E758-73C6EFBC3AD5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3158D3B8-2125-B5F9-55CE-5F871D9C9CA9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0747254-7862-2A16-2C3A-B233E0FEC065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84352CA-721D-5AAE-3C06-AF64D03FD93C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B84A437-5C00-6E67-0CA3-9ECD4BA6B801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E2705AA-E4D4-3E4A-442B-295CD679C549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B428AED-CAB1-5C2F-8450-4D7F75CE9140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877259F-0E49-0770-080A-479F7DDD6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306362E-1D91-A043-F3B4-A271AE9E4C0B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247900"/>
            <a:ext cx="16084201" cy="62646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É discutível se essa atividade faz parte da engenharia de requisitos ou do teste.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De acordo com uma avaliação de um ponto de vista filosófico, a validação é uma atividade de teste, mas, se estende por todo o ciclo de desenvolvimento.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Contudo a mensagem importante a deixar aqui é que, </a:t>
            </a:r>
            <a:r>
              <a:rPr lang="pt-BR" b="1" noProof="0" dirty="0"/>
              <a:t>enquanto decorrem as atividades de engenharia de requisitos, é necessário proceder a tarefas que permitam verificar e validar os requisitos.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920261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62B65-F767-C7A6-F3FE-8AA65E75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7EA97DB-2B01-7998-73C6-0D8F6FA89DD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054A9CCD-B775-666C-12A7-43AC14F314A5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E2C1708-1EC7-9C76-C63B-F9A75E88DDB6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8439A1-9275-9016-ACFA-FA240FA268C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9E466EF-9CD9-8916-C107-13C9A62A605B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9BD498B-B2BD-57B7-3A71-DBDD57E43AD0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233CD266-CBDF-9362-73E9-3FCBA35194BF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893EA38-472A-0E57-9BF1-EE813EF9D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1624CED-1DB9-41DC-5177-CF63C074D2B1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247900"/>
            <a:ext cx="16084201" cy="62646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b="1" noProof="0" dirty="0"/>
              <a:t>Gestão de requisitos </a:t>
            </a:r>
            <a:r>
              <a:rPr lang="pt-BR" noProof="0" dirty="0"/>
              <a:t>- Durante todo o ciclo de vida de um sistema, o conjunto dos requisitos está em constante mudança. São necessários mecanismos que permitam gerir esse contexto de instabilidade, de forma a avaliar o impacto que as alterações dos requisitos podem ter no projeto. Nem todos os pedidos de mudança devem ser aceitos.</a:t>
            </a:r>
            <a:endParaRPr lang="pt-BR" b="1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18348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A615F-110A-871F-2AA8-092D0AE5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84DDF23-7990-DFDE-93E5-2E73B18D64A9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B0C1BFE4-9BDC-90A7-3AC5-3715637B99F1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1AF0DAF-0BB5-6771-221A-571995A20A30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4375F18-2C62-9494-B89C-0E0440CAA1F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B74ADAA-6D79-4BDC-4520-4CE85688E349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A3519E9-A923-A3A6-20C8-BDDA8B4AFEB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25507962-A50F-60EE-6DB4-7E03AE359BD9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CA9200B-C338-DB78-F817-D25F8D3F5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3BE32F9-90D2-4162-DD08-1C37104DFB20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247900"/>
            <a:ext cx="16084201" cy="62646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Em princípio, devem ser </a:t>
            </a:r>
            <a:r>
              <a:rPr lang="pt-BR" u="sng" noProof="0" dirty="0"/>
              <a:t>rejeitadas</a:t>
            </a:r>
            <a:r>
              <a:rPr lang="pt-BR" noProof="0" dirty="0"/>
              <a:t> alterações que impliquem um </a:t>
            </a:r>
            <a:r>
              <a:rPr lang="pt-BR" b="1" noProof="0" dirty="0"/>
              <a:t>aumento significativo do custo</a:t>
            </a:r>
            <a:r>
              <a:rPr lang="pt-BR" noProof="0" dirty="0"/>
              <a:t>, um </a:t>
            </a:r>
            <a:r>
              <a:rPr lang="pt-BR" b="1" noProof="0" dirty="0"/>
              <a:t>adiamento da entrega final do projeto</a:t>
            </a:r>
            <a:r>
              <a:rPr lang="pt-BR" noProof="0" dirty="0"/>
              <a:t>, ou que </a:t>
            </a:r>
            <a:r>
              <a:rPr lang="pt-BR" b="1" noProof="0" dirty="0"/>
              <a:t>não aumentem o valor do sistema para o usuário</a:t>
            </a:r>
            <a:r>
              <a:rPr lang="pt-BR" noProof="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A atividade de gestão de requisitos procura ajudar a equipe de desenvolvimento a </a:t>
            </a:r>
            <a:r>
              <a:rPr lang="pt-BR" u="sng" noProof="0" dirty="0"/>
              <a:t>identificar</a:t>
            </a:r>
            <a:r>
              <a:rPr lang="pt-BR" noProof="0" dirty="0"/>
              <a:t>, </a:t>
            </a:r>
            <a:r>
              <a:rPr lang="pt-BR" u="sng" noProof="0" dirty="0"/>
              <a:t>controlar</a:t>
            </a:r>
            <a:r>
              <a:rPr lang="pt-BR" noProof="0" dirty="0"/>
              <a:t> e </a:t>
            </a:r>
            <a:r>
              <a:rPr lang="pt-BR" u="sng" noProof="0" dirty="0"/>
              <a:t>rastrear</a:t>
            </a:r>
            <a:r>
              <a:rPr lang="pt-BR" noProof="0" dirty="0"/>
              <a:t> os requisitos e as suas modificações.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205518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0414B-1226-910D-C8FE-B7D25946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6921316-3C23-AAFE-814A-C6097DC1635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C2A9BB33-02C2-37C1-FC95-2086F6CA8E1E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D4185D1-CAA4-2F6D-8EB3-E741C5079D51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C035E28-64EF-D095-CBC8-070D81274C0C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9EAB9C3-8F46-4E97-7C90-96573030AFE5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A173471-248F-ADB5-43CC-2DF509247E1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FB83B23A-371E-91E0-A9E6-B4A41CB066ED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7EB5490-96C5-5A33-5EA1-1AE91479E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943C699-E4AA-CC4C-7FDF-1E2DD4821B8D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247900"/>
            <a:ext cx="16084201" cy="62646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Essa atividade dá </a:t>
            </a:r>
            <a:r>
              <a:rPr lang="pt-BR" u="sng" noProof="0" dirty="0"/>
              <a:t>suporte a todas as outras atividades do processo de requisitos</a:t>
            </a:r>
            <a:r>
              <a:rPr lang="pt-BR" noProof="0" dirty="0"/>
              <a:t> (e mesmo do processo de desenvolvimento), sendo executada em paralelo com essas atividades.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A gestão de requisitos tem de ser executada mesmo após a conclusão da primeira versão do documento de requisitos, pois as mudanças nos requisitos ocorrem ao longo de todo o processo de desenvolvimento.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345650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96331-0CC7-62C2-18BB-ACD092A58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9CCDE8B-33FF-019C-F8AB-626B333FDA83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59A74872-4990-4A9C-6350-F8360E64C2B2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293181C-78DC-396B-4118-B93048F0402D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8ABE03-F119-338C-2587-539B41E88E0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CA258D2-4B0B-CBCF-1199-973313A3587C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41BB21E-22F1-6331-CE3D-CA54C10EA313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5FBD5AE2-FE4D-88AE-37CE-31CF3847F74E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1E9948C-AA77-9355-8EE3-CF4DBDC6C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91499486-B9F5-D3B1-B728-0E86ED39B982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247900"/>
            <a:ext cx="16084201" cy="62646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No contexto da gestão de requisitos, a criação de várias </a:t>
            </a:r>
            <a:r>
              <a:rPr lang="pt-BR" u="sng" noProof="0" dirty="0"/>
              <a:t>tabelas de rastreamento</a:t>
            </a:r>
            <a:r>
              <a:rPr lang="pt-BR" noProof="0" dirty="0"/>
              <a:t> possibilita à equipe de desenvolvimento relacionar os requisitos com vários dos seus aspectos.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b="1" noProof="0" dirty="0"/>
              <a:t>A rastreabilidade nos requisitos permite registrar e seguir o ciclo de vida dos requisitos.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515209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1876-988A-8644-D0D8-791C89E5C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0F591E-8CF7-F46F-0962-7BACCD4D89E4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DB596272-E9BA-B920-6373-FFDEFF0F0A53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56CBD9A-71FC-2AF1-0DA0-51CE94C3FC73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2D76FB2-D3F2-AE8E-ECE3-195AE843AC89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463B468-C27B-0633-8E6C-6D66DD47DE3A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7190CA1-EE6D-F0E1-15F7-97E4E8A80228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4DE5F30F-BF72-56BA-13FE-87C841E3885B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Requisitos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0580309-B082-FF2C-1242-36B868B81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9112080C-7390-18DD-DD16-54B23439699E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247900"/>
            <a:ext cx="16084201" cy="62646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Independentemente do momento do ciclo de vida do sistema em que surja a necessidade de efetuar alterações nos requisitos, a </a:t>
            </a:r>
            <a:r>
              <a:rPr lang="pt-BR" b="1" noProof="0" dirty="0"/>
              <a:t>análise de impacto</a:t>
            </a:r>
            <a:r>
              <a:rPr lang="pt-BR" noProof="0" dirty="0"/>
              <a:t> é um mecanismo de gestão que tem por propósito estimar as consequências dessas alterações.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/>
              <a:t>O </a:t>
            </a:r>
            <a:r>
              <a:rPr lang="pt-BR" b="1" noProof="0" dirty="0"/>
              <a:t>cálculo do custo</a:t>
            </a:r>
            <a:r>
              <a:rPr lang="pt-BR" noProof="0" dirty="0"/>
              <a:t> associado às alterações deve ser usado para decidir se são ou não concretizadas, em função, por exemplo, da relação custo-benefício.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881759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" y="8510024"/>
            <a:ext cx="4191000" cy="1776976"/>
            <a:chOff x="0" y="0"/>
            <a:chExt cx="6937514" cy="2941492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6937502" cy="2941447"/>
            </a:xfrm>
            <a:custGeom>
              <a:avLst/>
              <a:gdLst/>
              <a:ahLst/>
              <a:cxnLst/>
              <a:rect l="l" t="t" r="r" b="b"/>
              <a:pathLst>
                <a:path w="6937502" h="2941447">
                  <a:moveTo>
                    <a:pt x="0" y="0"/>
                  </a:moveTo>
                  <a:lnTo>
                    <a:pt x="6937502" y="0"/>
                  </a:lnTo>
                  <a:lnTo>
                    <a:pt x="6937502" y="2941447"/>
                  </a:lnTo>
                  <a:lnTo>
                    <a:pt x="0" y="2941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2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885" y="2424050"/>
            <a:ext cx="16084230" cy="52450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5257800" y="3502463"/>
            <a:ext cx="8304441" cy="5040829"/>
            <a:chOff x="0" y="0"/>
            <a:chExt cx="7343774" cy="4457700"/>
          </a:xfrm>
        </p:grpSpPr>
        <p:sp>
          <p:nvSpPr>
            <p:cNvPr id="13" name="Freeform 13" descr="Resultado de imagem para DÃVIDAS"/>
            <p:cNvSpPr/>
            <p:nvPr/>
          </p:nvSpPr>
          <p:spPr>
            <a:xfrm>
              <a:off x="0" y="0"/>
              <a:ext cx="7343775" cy="4457700"/>
            </a:xfrm>
            <a:custGeom>
              <a:avLst/>
              <a:gdLst/>
              <a:ahLst/>
              <a:cxnLst/>
              <a:rect l="l" t="t" r="r" b="b"/>
              <a:pathLst>
                <a:path w="7343775" h="4457700">
                  <a:moveTo>
                    <a:pt x="0" y="0"/>
                  </a:moveTo>
                  <a:lnTo>
                    <a:pt x="7343775" y="0"/>
                  </a:lnTo>
                  <a:lnTo>
                    <a:pt x="7343775" y="4457700"/>
                  </a:lnTo>
                  <a:lnTo>
                    <a:pt x="0" y="445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56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8" name="Freeform 18"/>
          <p:cNvSpPr/>
          <p:nvPr/>
        </p:nvSpPr>
        <p:spPr>
          <a:xfrm>
            <a:off x="838200" y="342900"/>
            <a:ext cx="1325617" cy="3067967"/>
          </a:xfrm>
          <a:custGeom>
            <a:avLst/>
            <a:gdLst/>
            <a:ahLst/>
            <a:cxnLst/>
            <a:rect l="l" t="t" r="r" b="b"/>
            <a:pathLst>
              <a:path w="1325617" h="3067967">
                <a:moveTo>
                  <a:pt x="0" y="0"/>
                </a:moveTo>
                <a:lnTo>
                  <a:pt x="1325617" y="0"/>
                </a:lnTo>
                <a:lnTo>
                  <a:pt x="1325617" y="3067966"/>
                </a:lnTo>
                <a:lnTo>
                  <a:pt x="0" y="30679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Box 20"/>
          <p:cNvSpPr txBox="1"/>
          <p:nvPr/>
        </p:nvSpPr>
        <p:spPr>
          <a:xfrm>
            <a:off x="2370830" y="1596065"/>
            <a:ext cx="9553178" cy="77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pt-BR" sz="48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Dúvidas ???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0CABF-583F-37B9-5428-0F4ABA2E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B7F877B-8359-C588-13A9-FB2C26B9A611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33766A49-F81F-01D9-B6BB-BFFA869FDCF6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E92230E-1D6F-19BB-D919-2B0994B23873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4F6578D-7A05-2D51-5ECE-BDF3267A58D6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5A46FD7-724C-F72C-F615-1CF5A78A6090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F0B2926-2DFD-9FB8-180E-609DAC05DFF9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94D3859-E96B-0365-7EDD-A8A6B9A35544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6398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Referências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85E117E-781A-D200-6037-0C4BF87112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D5E22D1A-9110-7447-0580-005558C90B4E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247900"/>
            <a:ext cx="16084201" cy="62646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Courier New" panose="02070309020205020404" pitchFamily="49" charset="0"/>
              <a:buChar char="o"/>
            </a:pPr>
            <a:r>
              <a:rPr lang="pt-BR" noProof="0" dirty="0"/>
              <a:t>Fernandes, João M.; Machado, Ricardo J.. Requisitos em projetos de software e de sistemas de informação (p. 110). </a:t>
            </a:r>
            <a:r>
              <a:rPr lang="pt-BR" noProof="0" dirty="0" err="1"/>
              <a:t>Novatec</a:t>
            </a:r>
            <a:r>
              <a:rPr lang="pt-BR" noProof="0" dirty="0"/>
              <a:t> Editora. Edição do Kindle. </a:t>
            </a:r>
          </a:p>
          <a:p>
            <a:pPr marL="0" indent="0" algn="just">
              <a:buNone/>
            </a:pPr>
            <a:endParaRPr lang="pt-BR" noProof="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pt-BR" dirty="0"/>
              <a:t>PRESSMAN, R. S. Engenharia de software. Uma abordagem profissional. 7. ed. Porto Alegre: AMGH, 2011. 780p. ISBN 978-85-63308-33-7. </a:t>
            </a:r>
          </a:p>
          <a:p>
            <a:pPr marL="0" indent="0" algn="just">
              <a:buNone/>
            </a:pPr>
            <a:endParaRPr lang="pt-BR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dirty="0"/>
              <a:t>ROBERTSON, S. ROBERTSON, J. Mastering the Requirements Process, Second Edition. </a:t>
            </a:r>
            <a:r>
              <a:rPr lang="en-US" dirty="0" err="1"/>
              <a:t>Addision</a:t>
            </a:r>
            <a:r>
              <a:rPr lang="en-US" dirty="0"/>
              <a:t> Wesley Professional, </a:t>
            </a:r>
            <a:r>
              <a:rPr lang="en-US" dirty="0" err="1"/>
              <a:t>Março</a:t>
            </a:r>
            <a:r>
              <a:rPr lang="en-US" dirty="0"/>
              <a:t> 17, 2006</a:t>
            </a:r>
          </a:p>
          <a:p>
            <a:pPr marL="0" indent="0" algn="just">
              <a:buNone/>
            </a:pPr>
            <a:endParaRPr lang="pt-BR" dirty="0"/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dirty="0"/>
              <a:t>SOMMERVILLE, Ian. Engenharia de software. 9. ed. São Paulo: Pearson Prentice Hall, 2011. </a:t>
            </a: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07145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9DBB9-F8E6-B2DD-EDE2-E304A5BEC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FC1112B3-DCB0-BC67-B671-1D96DF69CCCA}"/>
              </a:ext>
            </a:extLst>
          </p:cNvPr>
          <p:cNvGrpSpPr>
            <a:grpSpLocks noChangeAspect="1"/>
          </p:cNvGrpSpPr>
          <p:nvPr/>
        </p:nvGrpSpPr>
        <p:grpSpPr>
          <a:xfrm>
            <a:off x="297674" y="1970782"/>
            <a:ext cx="17692653" cy="57695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800BBE0-D9D2-F5E4-B1BA-60255C7EBE4F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0A18325A-33A5-9808-0516-833AE72E692F}"/>
              </a:ext>
            </a:extLst>
          </p:cNvPr>
          <p:cNvSpPr txBox="1"/>
          <p:nvPr/>
        </p:nvSpPr>
        <p:spPr>
          <a:xfrm>
            <a:off x="2400588" y="1028700"/>
            <a:ext cx="12734254" cy="925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48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Vamos praticar !!!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29342C3-BD6D-8C1B-006A-B192A9FB6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5DD6E78-750C-590A-BCFB-8715629E927D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247900"/>
            <a:ext cx="16084201" cy="62646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  <p:sp>
        <p:nvSpPr>
          <p:cNvPr id="7" name="Espaço Reservado para Conteúdo 1">
            <a:extLst>
              <a:ext uri="{FF2B5EF4-FFF2-40B4-BE49-F238E27FC236}">
                <a16:creationId xmlns:a16="http://schemas.microsoft.com/office/drawing/2014/main" id="{493B8470-EE54-53B9-8E34-A069AB65752D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2272090"/>
            <a:ext cx="17373600" cy="625039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pt-BR" sz="4800" b="1" noProof="0" dirty="0"/>
              <a:t>Que requisitos vocês conseguem identificar na imagem deste site?</a:t>
            </a:r>
          </a:p>
        </p:txBody>
      </p:sp>
      <p:pic>
        <p:nvPicPr>
          <p:cNvPr id="8" name="Imagem 2">
            <a:extLst>
              <a:ext uri="{FF2B5EF4-FFF2-40B4-BE49-F238E27FC236}">
                <a16:creationId xmlns:a16="http://schemas.microsoft.com/office/drawing/2014/main" id="{2106F0DC-FCC6-897A-187F-BC0B0D3ED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506" y="3121394"/>
            <a:ext cx="14032957" cy="705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26549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2D710-10DD-3FB4-8FAE-5CB233162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1262E23D-952A-080A-2191-C186F22142E4}"/>
              </a:ext>
            </a:extLst>
          </p:cNvPr>
          <p:cNvGrpSpPr>
            <a:grpSpLocks noChangeAspect="1"/>
          </p:cNvGrpSpPr>
          <p:nvPr/>
        </p:nvGrpSpPr>
        <p:grpSpPr>
          <a:xfrm>
            <a:off x="297674" y="1970782"/>
            <a:ext cx="17692653" cy="57695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7DF2640-791F-12B5-B92B-9FAFB23D0090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9F6CB13-088E-E78F-93CF-7DC5B6198643}"/>
              </a:ext>
            </a:extLst>
          </p:cNvPr>
          <p:cNvSpPr txBox="1"/>
          <p:nvPr/>
        </p:nvSpPr>
        <p:spPr>
          <a:xfrm>
            <a:off x="2400588" y="1028700"/>
            <a:ext cx="12734254" cy="925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48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Vamos praticar !!!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B386CAE-0E59-00E7-F793-9BFE99BE8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DDCD6E2-258A-AC31-636B-3E67B951AFAB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247900"/>
            <a:ext cx="16084201" cy="62646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  <p:sp>
        <p:nvSpPr>
          <p:cNvPr id="7" name="Espaço Reservado para Conteúdo 1">
            <a:extLst>
              <a:ext uri="{FF2B5EF4-FFF2-40B4-BE49-F238E27FC236}">
                <a16:creationId xmlns:a16="http://schemas.microsoft.com/office/drawing/2014/main" id="{CC5E8B51-4736-2CE4-4403-EB76FBEBEAAD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2272090"/>
            <a:ext cx="17373600" cy="625039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pt-BR" sz="4800" b="1" noProof="0" dirty="0"/>
              <a:t>Que requisitos vocês conseguem identificar na imagem deste site?</a:t>
            </a:r>
          </a:p>
        </p:txBody>
      </p:sp>
      <p:pic>
        <p:nvPicPr>
          <p:cNvPr id="2" name="Imagem 2">
            <a:extLst>
              <a:ext uri="{FF2B5EF4-FFF2-40B4-BE49-F238E27FC236}">
                <a16:creationId xmlns:a16="http://schemas.microsoft.com/office/drawing/2014/main" id="{59294767-C3F1-19CC-5A0E-998DE5BD9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049" y="3238500"/>
            <a:ext cx="15411902" cy="690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064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9EE4F-5CC8-604A-15D8-759DB0F4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4529FEF0-A1E4-73D6-7829-AB208FF2BA08}"/>
              </a:ext>
            </a:extLst>
          </p:cNvPr>
          <p:cNvGrpSpPr>
            <a:grpSpLocks noChangeAspect="1"/>
          </p:cNvGrpSpPr>
          <p:nvPr/>
        </p:nvGrpSpPr>
        <p:grpSpPr>
          <a:xfrm>
            <a:off x="297674" y="1970782"/>
            <a:ext cx="17692653" cy="57695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2F0A2C1-9E99-644B-F288-DE461A3A38E7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02F1540-1FFE-D2E8-EEA1-2C3B1196F4C1}"/>
              </a:ext>
            </a:extLst>
          </p:cNvPr>
          <p:cNvSpPr txBox="1"/>
          <p:nvPr/>
        </p:nvSpPr>
        <p:spPr>
          <a:xfrm>
            <a:off x="2400588" y="1028700"/>
            <a:ext cx="12734254" cy="925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pt-BR" sz="48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Vamos praticar !!!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535D97A-0C97-65EB-BFE1-8DA4FFBD1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1AA475F6-7B66-E99D-8F5F-25D434FAA4AD}"/>
              </a:ext>
            </a:extLst>
          </p:cNvPr>
          <p:cNvSpPr txBox="1">
            <a:spLocks noChangeArrowheads="1"/>
          </p:cNvSpPr>
          <p:nvPr/>
        </p:nvSpPr>
        <p:spPr>
          <a:xfrm>
            <a:off x="1101885" y="2247900"/>
            <a:ext cx="16084201" cy="62646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  <a:p>
            <a:pPr marL="0" indent="0" algn="just">
              <a:lnSpc>
                <a:spcPct val="150000"/>
              </a:lnSpc>
              <a:buNone/>
            </a:pPr>
            <a:endParaRPr lang="pt-BR" noProof="0" dirty="0"/>
          </a:p>
        </p:txBody>
      </p:sp>
      <p:sp>
        <p:nvSpPr>
          <p:cNvPr id="7" name="Espaço Reservado para Conteúdo 1">
            <a:extLst>
              <a:ext uri="{FF2B5EF4-FFF2-40B4-BE49-F238E27FC236}">
                <a16:creationId xmlns:a16="http://schemas.microsoft.com/office/drawing/2014/main" id="{75C2D131-1012-A9B2-59B7-179EC977EAC3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2272090"/>
            <a:ext cx="17373600" cy="625039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pt-BR" sz="4800" b="1" noProof="0" dirty="0"/>
              <a:t>Listem requisitos para este cenário.</a:t>
            </a:r>
            <a:endParaRPr lang="pt-BR" sz="4000" b="1" dirty="0"/>
          </a:p>
          <a:p>
            <a:pPr marL="0" indent="0" algn="just">
              <a:buNone/>
            </a:pPr>
            <a:r>
              <a:rPr lang="pt-BR" altLang="pt-BR" sz="4000" dirty="0"/>
              <a:t>Sebastian é um analista de requisitos que deverá fazer o levantamento de requisitos para uma rede de joalheria, atualmente a rede conta com mais de 100 lojas no Brasil e 35 lojas distribuídas por toda a américa latina. Além das lojas a rede também desenvolve joias personalizadas, na qual conta com um serviço de atendimento ao cliente </a:t>
            </a:r>
            <a:r>
              <a:rPr lang="pt-BR" altLang="pt-BR" sz="4000" i="1" dirty="0"/>
              <a:t>in loco</a:t>
            </a:r>
            <a:r>
              <a:rPr lang="pt-BR" altLang="pt-BR" sz="4000" dirty="0"/>
              <a:t>, isto é, um designer realiza uma visita ao cliente e inicia todo o processo de criação de uma nova joia personalizada. Nas visitas o designer leva um tablet, no qual acessa um sistema onde informa os dados do cliente, além de poder demonstrar através de fotos e vídeos possibilidades de desenhos para joias.</a:t>
            </a:r>
          </a:p>
          <a:p>
            <a:pPr marL="0" indent="0" algn="just">
              <a:buNone/>
            </a:pPr>
            <a:r>
              <a:rPr lang="pt-BR" altLang="pt-BR" sz="4000" dirty="0"/>
              <a:t>Esta rede de joalherias está descontente com o atual sistema, e deseja desenvolver um sistema novo, integrado, mais seguro e ágil.</a:t>
            </a:r>
          </a:p>
          <a:p>
            <a:pPr marL="0" indent="0" algn="ctr">
              <a:buFont typeface="Arial" pitchFamily="34" charset="0"/>
              <a:buNone/>
            </a:pPr>
            <a:endParaRPr lang="pt-BR" sz="4800" b="1" noProof="0" dirty="0"/>
          </a:p>
        </p:txBody>
      </p:sp>
    </p:spTree>
    <p:extLst>
      <p:ext uri="{BB962C8B-B14F-4D97-AF65-F5344CB8AC3E}">
        <p14:creationId xmlns:p14="http://schemas.microsoft.com/office/powerpoint/2010/main" val="26005129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723948" y="-89900"/>
            <a:ext cx="8567888" cy="10404268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38638" y="1482042"/>
            <a:ext cx="9553178" cy="227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pt-BR" sz="36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Profª Mª Chaiene M. da Silva Minella</a:t>
            </a:r>
          </a:p>
          <a:p>
            <a:pPr algn="l">
              <a:lnSpc>
                <a:spcPts val="4320"/>
              </a:lnSpc>
            </a:pPr>
            <a:r>
              <a:rPr lang="pt-BR" sz="3600" noProof="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Engetec | Engenharia de Software</a:t>
            </a:r>
          </a:p>
          <a:p>
            <a:pPr algn="l">
              <a:lnSpc>
                <a:spcPts val="4320"/>
              </a:lnSpc>
            </a:pPr>
            <a:r>
              <a:rPr lang="pt-BR" sz="3600" noProof="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chaiene.minella@univille.br</a:t>
            </a:r>
          </a:p>
          <a:p>
            <a:pPr algn="l">
              <a:lnSpc>
                <a:spcPts val="4320"/>
              </a:lnSpc>
            </a:pPr>
            <a:endParaRPr lang="pt-BR" sz="3600" noProof="0" dirty="0">
              <a:solidFill>
                <a:srgbClr val="006232"/>
              </a:solidFill>
              <a:latin typeface=" Avenir Next Arabic"/>
              <a:ea typeface=" Avenir Next Arabic"/>
              <a:cs typeface=" Avenir Next Arabic"/>
              <a:sym typeface=" Avenir Next Arabic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96432" y="7171805"/>
            <a:ext cx="4362687" cy="1861867"/>
            <a:chOff x="0" y="0"/>
            <a:chExt cx="5816916" cy="24824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7fe0ac9-f7f7-4580-8b30-5aa7f0ac8e3b}" enabled="0" method="" siteId="{57fe0ac9-f7f7-4580-8b30-5aa7f0ac8e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2382</Words>
  <Application>Microsoft Office PowerPoint</Application>
  <PresentationFormat>Personalizar</PresentationFormat>
  <Paragraphs>153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7" baseType="lpstr">
      <vt:lpstr> Avenir Next Arabic</vt:lpstr>
      <vt:lpstr>Courier New</vt:lpstr>
      <vt:lpstr> Avenir Next Arabic Bold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Template_Univille 60 anos.pptx</dc:title>
  <dc:creator>Chaiene</dc:creator>
  <cp:lastModifiedBy>CHAIENE MERCEDES DA SILVA MINELLA</cp:lastModifiedBy>
  <cp:revision>2</cp:revision>
  <dcterms:created xsi:type="dcterms:W3CDTF">2006-08-16T00:00:00Z</dcterms:created>
  <dcterms:modified xsi:type="dcterms:W3CDTF">2026-08-03T12:54:07Z</dcterms:modified>
  <dc:identifier>DAGtVIDxolU</dc:identifier>
</cp:coreProperties>
</file>