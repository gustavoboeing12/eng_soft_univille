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99" r:id="rId6"/>
    <p:sldId id="366" r:id="rId7"/>
    <p:sldId id="367" r:id="rId8"/>
    <p:sldId id="368" r:id="rId9"/>
    <p:sldId id="369" r:id="rId10"/>
    <p:sldId id="370" r:id="rId11"/>
    <p:sldId id="371" r:id="rId12"/>
    <p:sldId id="372" r:id="rId13"/>
    <p:sldId id="376" r:id="rId14"/>
    <p:sldId id="373" r:id="rId15"/>
    <p:sldId id="374" r:id="rId16"/>
    <p:sldId id="375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65" r:id="rId27"/>
    <p:sldId id="386" r:id="rId28"/>
    <p:sldId id="294" r:id="rId29"/>
    <p:sldId id="318" r:id="rId30"/>
    <p:sldId id="258" r:id="rId3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25C16914-1BBD-4E98-B0EE-4E589FD8704C}">
          <p14:sldIdLst>
            <p14:sldId id="256"/>
            <p14:sldId id="299"/>
            <p14:sldId id="366"/>
            <p14:sldId id="367"/>
            <p14:sldId id="368"/>
            <p14:sldId id="369"/>
            <p14:sldId id="370"/>
            <p14:sldId id="371"/>
            <p14:sldId id="372"/>
            <p14:sldId id="376"/>
            <p14:sldId id="373"/>
            <p14:sldId id="374"/>
            <p14:sldId id="375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65"/>
            <p14:sldId id="386"/>
            <p14:sldId id="294"/>
            <p14:sldId id="318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IENE MERCEDES DA SILVA MINELLA" initials="CM" lastIdx="1" clrIdx="0">
    <p:extLst>
      <p:ext uri="{19B8F6BF-5375-455C-9EA6-DF929625EA0E}">
        <p15:presenceInfo xmlns:p15="http://schemas.microsoft.com/office/powerpoint/2012/main" userId="S::chaiene.minella@univille.br::03c40756-137a-4d89-92ad-627326a1a7b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63" d="100"/>
          <a:sy n="63" d="100"/>
        </p:scale>
        <p:origin x="6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hyperlink" Target="https://www.youtube.com/watch?v=-dMeosr4eI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nivillebr-my.sharepoint.com/personal/chaiene_minella_univille_br/Documents/2024/2&#186;%20semestre/Requisitos%20I/2%20bimestre/Aula%2004/T&#233;cnica%20MoSCoW%20-%20metodologia%20de%20prioriza&#231;&#227;o.pdf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nivillebr-my.sharepoint.com/personal/chaiene_minella_univille_br/Documents/2024/2&#186;%20semestre/Requisitos%20I/2%20bimestre/Aula%2004/T&#233;cnica%20MoSCoW%20-%20metodologia%20de%20prioriza&#231;&#227;o.pdf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gif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D9C21255-832C-0C97-CDB6-FEDA35FCEE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68" b="4073"/>
          <a:stretch/>
        </p:blipFill>
        <p:spPr>
          <a:xfrm>
            <a:off x="6482632" y="-59933"/>
            <a:ext cx="5711925" cy="693617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E45FD73-4524-6DDC-9022-1AE8D1B31D56}"/>
              </a:ext>
            </a:extLst>
          </p:cNvPr>
          <p:cNvSpPr txBox="1"/>
          <p:nvPr/>
        </p:nvSpPr>
        <p:spPr>
          <a:xfrm>
            <a:off x="844229" y="833683"/>
            <a:ext cx="64907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062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/>
                <a:ea typeface="Calibri"/>
                <a:cs typeface="Calibri"/>
              </a:rPr>
              <a:t>Engenharia de Software – Univille</a:t>
            </a:r>
            <a:endParaRPr lang="pt-BR" sz="2400" dirty="0">
              <a:solidFill>
                <a:srgbClr val="00623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8889E4C-4AA4-1FF5-58D9-B3FC5A215783}"/>
              </a:ext>
            </a:extLst>
          </p:cNvPr>
          <p:cNvSpPr txBox="1"/>
          <p:nvPr/>
        </p:nvSpPr>
        <p:spPr>
          <a:xfrm>
            <a:off x="844229" y="1793122"/>
            <a:ext cx="805129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BE1C8A9-5FC8-F58D-EDE5-270C56DC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20" y="4405971"/>
            <a:ext cx="3787695" cy="161647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0B08757-A853-AEC5-7B90-B66967D948D2}"/>
              </a:ext>
            </a:extLst>
          </p:cNvPr>
          <p:cNvSpPr txBox="1"/>
          <p:nvPr/>
        </p:nvSpPr>
        <p:spPr>
          <a:xfrm>
            <a:off x="824351" y="3614642"/>
            <a:ext cx="64907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de Software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649E1A2-7D89-7CBC-8D2D-6002CD61BF6B}"/>
              </a:ext>
            </a:extLst>
          </p:cNvPr>
          <p:cNvSpPr txBox="1"/>
          <p:nvPr/>
        </p:nvSpPr>
        <p:spPr>
          <a:xfrm>
            <a:off x="844229" y="4046487"/>
            <a:ext cx="649070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Prof.ª Chaiene M. da Silva Minella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No projeto de um sistema, é necessário estabelecer qual é o conjunto de </a:t>
            </a:r>
            <a:r>
              <a:rPr lang="pt-BR" altLang="pt-BR" sz="2400" b="1" dirty="0"/>
              <a:t>requisitos candidatos</a:t>
            </a:r>
            <a:r>
              <a:rPr lang="pt-BR" altLang="pt-BR" sz="2400" dirty="0"/>
              <a:t>, passíveis de ser incorporados no sistema, por ser a princípio considerados </a:t>
            </a:r>
            <a:r>
              <a:rPr lang="pt-BR" altLang="pt-BR" sz="2400" u="sng" dirty="0"/>
              <a:t>relevantes</a:t>
            </a:r>
            <a:r>
              <a:rPr lang="pt-BR" altLang="pt-BR" sz="2400" dirty="0"/>
              <a:t>.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Com base nesse conjunto, deve-se proceder a uma seleção do subconjunto que inclua os </a:t>
            </a:r>
            <a:r>
              <a:rPr lang="pt-BR" altLang="pt-BR" sz="2400" u="sng" dirty="0"/>
              <a:t>requisitos mais importantes</a:t>
            </a:r>
            <a:r>
              <a:rPr lang="pt-BR" altLang="pt-BR" sz="2400" dirty="0"/>
              <a:t>.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4975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A5979-B09E-9E39-0661-EF42C59C0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7490857A-03FA-7AE1-85CB-F4B25324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D4220F1-D735-0638-C0D3-245F72D1C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6A5C4A9-0331-708A-5DF4-9D12A0C51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C417B27-DFA5-F711-1A6D-328BA51DF37E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83F52C6-12AB-12C7-94DC-6866F67E4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30D327E-2082-6DD1-D212-8A0515AE8956}"/>
              </a:ext>
            </a:extLst>
          </p:cNvPr>
          <p:cNvSpPr txBox="1"/>
          <p:nvPr/>
        </p:nvSpPr>
        <p:spPr>
          <a:xfrm>
            <a:off x="734590" y="1742321"/>
            <a:ext cx="1072282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A </a:t>
            </a:r>
            <a:r>
              <a:rPr lang="pt-BR" altLang="pt-BR" sz="2400" b="1" dirty="0"/>
              <a:t>priorização</a:t>
            </a:r>
            <a:r>
              <a:rPr lang="pt-BR" altLang="pt-BR" sz="2400" dirty="0"/>
              <a:t> (também denominada atribuição de prioridades) de requisitos é uma </a:t>
            </a:r>
            <a:r>
              <a:rPr lang="pt-BR" altLang="pt-BR" sz="2400" u="sng" dirty="0"/>
              <a:t>técnica</a:t>
            </a:r>
            <a:r>
              <a:rPr lang="pt-BR" altLang="pt-BR" sz="2400" dirty="0"/>
              <a:t> que ajuda na identificação desses requisitos fundamentais e pode ser vista como um </a:t>
            </a:r>
            <a:r>
              <a:rPr lang="pt-BR" altLang="pt-BR" sz="2400" b="1" dirty="0"/>
              <a:t>processo que ordena, segundo um ou vários critérios, um conjunto de requisitos</a:t>
            </a:r>
            <a:r>
              <a:rPr lang="pt-BR" altLang="pt-BR" sz="2400" dirty="0"/>
              <a:t>.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92175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7B126-2A5C-ECC4-E0A8-F9BA9622A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CBE3193C-21BC-6428-B876-4A9CD12F5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F2961EF-C8CF-CBFB-AD15-1D80B9BC7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15FE5F3-57F1-8D11-4F09-87C97B23C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2D85CE4-9D25-E7E8-0125-D251745E9F07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5266795-30D8-2421-8387-243902791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84E3F7F-45FD-A063-CF74-633B2FEFC478}"/>
              </a:ext>
            </a:extLst>
          </p:cNvPr>
          <p:cNvSpPr txBox="1"/>
          <p:nvPr/>
        </p:nvSpPr>
        <p:spPr>
          <a:xfrm>
            <a:off x="734590" y="1742321"/>
            <a:ext cx="10722820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Alguns usuários acham inútil a necessidade da priorização, dado que assumem que todos os requisitos candidatos serão incorporados.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Porém </a:t>
            </a:r>
            <a:r>
              <a:rPr lang="pt-BR" altLang="pt-BR" sz="2400" u="sng" dirty="0"/>
              <a:t>se a equipe de desenvolvimento não pode entregar todos os requisitos no prazo inicialmente combinado</a:t>
            </a:r>
            <a:r>
              <a:rPr lang="pt-BR" altLang="pt-BR" sz="2400" dirty="0"/>
              <a:t>, as partes interessadas devem concordar em relação a qual subconjunto devem implementar em primeiro lugar.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82916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90FD1-4C04-D422-DF0E-3E096145B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FB7C7312-55B5-3FE1-3A49-C54CAE453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57FB8F3-7FEE-A4BA-36D6-7DA988887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7C7A8EC-D271-8BDA-2EBB-E26F0F473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B5EE40E-609A-F1A3-DF1E-3D71DC773B21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6796BAD-3F4D-C722-CCBD-DFF5ED12C6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7CF2B18-1F1C-F454-D2B7-A0BE5397B123}"/>
              </a:ext>
            </a:extLst>
          </p:cNvPr>
          <p:cNvSpPr txBox="1"/>
          <p:nvPr/>
        </p:nvSpPr>
        <p:spPr>
          <a:xfrm>
            <a:off x="734590" y="1742321"/>
            <a:ext cx="10722820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Em produtos de software, é muito comum a </a:t>
            </a:r>
            <a:r>
              <a:rPr lang="pt-BR" altLang="pt-BR" sz="2400" u="sng" dirty="0"/>
              <a:t>pressão do mercado</a:t>
            </a:r>
            <a:r>
              <a:rPr lang="pt-BR" altLang="pt-BR" sz="2400" dirty="0"/>
              <a:t> implicar estratégias comerciais muito agressivas que fazem com que os </a:t>
            </a:r>
            <a:r>
              <a:rPr lang="pt-BR" altLang="pt-BR" sz="2400" b="1" dirty="0"/>
              <a:t>produtos sejam lançados, o mais cedo possível</a:t>
            </a:r>
            <a:r>
              <a:rPr lang="pt-BR" altLang="pt-BR" sz="2400" dirty="0"/>
              <a:t>.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90003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754D3-18DA-F41B-FFED-AFA2DEB3E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B884C6E9-EA51-D54A-BB36-0ECA35846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213563A-6C6E-3535-F152-2DB5EE1A5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F8F47DA-73A5-C2EC-E50C-3A8A2F999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A1D7AC6-055A-D9C7-1E90-C6E30CADF304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C6F569D-1B8B-96DF-ED2F-715E24AB4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F489DE7-858D-EC04-3133-1208F35F4838}"/>
              </a:ext>
            </a:extLst>
          </p:cNvPr>
          <p:cNvSpPr txBox="1"/>
          <p:nvPr/>
        </p:nvSpPr>
        <p:spPr>
          <a:xfrm>
            <a:off x="734590" y="1742321"/>
            <a:ext cx="10722820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Muitas startups tecnológicas adotam a estratégia do </a:t>
            </a:r>
            <a:r>
              <a:rPr lang="pt-BR" altLang="pt-BR" sz="2400" b="1" dirty="0"/>
              <a:t>produto mínimo viável</a:t>
            </a:r>
            <a:r>
              <a:rPr lang="pt-BR" altLang="pt-BR" sz="2400" dirty="0"/>
              <a:t>, que sugere o lançamento para o mercado de produtos com o conjunto de </a:t>
            </a:r>
            <a:r>
              <a:rPr lang="pt-BR" altLang="pt-BR" sz="2400" u="sng" dirty="0"/>
              <a:t>requisitos fundamentais</a:t>
            </a:r>
            <a:r>
              <a:rPr lang="pt-BR" altLang="pt-BR" sz="2400" dirty="0"/>
              <a:t>.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036828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6ACD1-D3CB-37B3-90A5-E3EFE1793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46608385-B835-04B7-79B5-EEA9EDC54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75C47F6-0146-E509-0492-BE36ED625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AF2EDE2-0C5F-359D-0A40-34D89ED45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0681BE1-620B-1CFA-C70D-C309164F21E9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9AFE0E6-137E-1E6B-341E-9933A6C3F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85F3D7A-1494-0D78-5031-08AA144A0648}"/>
              </a:ext>
            </a:extLst>
          </p:cNvPr>
          <p:cNvSpPr txBox="1"/>
          <p:nvPr/>
        </p:nvSpPr>
        <p:spPr>
          <a:xfrm>
            <a:off x="734590" y="1742321"/>
            <a:ext cx="10722820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Nestes casos, </a:t>
            </a:r>
            <a:r>
              <a:rPr lang="pt-BR" altLang="pt-BR" sz="2400" u="sng" dirty="0"/>
              <a:t>o produto não inclui obviamente todos os requisitos candidatos</a:t>
            </a:r>
            <a:r>
              <a:rPr lang="pt-BR" altLang="pt-BR" sz="2400" dirty="0"/>
              <a:t>, razão pela qual é necessário recorrer a </a:t>
            </a:r>
            <a:r>
              <a:rPr lang="pt-BR" altLang="pt-BR" sz="2400" b="1" dirty="0"/>
              <a:t>técnicas de priorização </a:t>
            </a:r>
            <a:r>
              <a:rPr lang="pt-BR" altLang="pt-BR" sz="2400" dirty="0"/>
              <a:t>para distinguir os requisitos mais valiosos dos que têm menos interesse. 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5703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36243-6FC8-02F5-80B5-C4511FEC0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0BD2F2C0-9FA6-4202-3BEB-DB9DF25FC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5F96828-5CE7-1A76-5E5E-439D89FD5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8575B3-B4FB-5BBA-D133-0AE86FE88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78F820B-E2C2-1E5E-313C-383B9A82BA61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4A2BDD8-72AE-FB9E-D7ED-BC5F4C82F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88E4DEE-29DD-8B82-5B41-429FBA350EB0}"/>
              </a:ext>
            </a:extLst>
          </p:cNvPr>
          <p:cNvSpPr txBox="1"/>
          <p:nvPr/>
        </p:nvSpPr>
        <p:spPr>
          <a:xfrm>
            <a:off x="734590" y="1742321"/>
            <a:ext cx="1072282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O </a:t>
            </a:r>
            <a:r>
              <a:rPr lang="pt-BR" altLang="pt-BR" sz="2400" b="1" dirty="0"/>
              <a:t>processo de atribuição de prioridades </a:t>
            </a:r>
            <a:r>
              <a:rPr lang="pt-BR" altLang="pt-BR" sz="2400" dirty="0"/>
              <a:t>dá suporte às seguintes tarefas: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altLang="pt-BR" sz="2400" dirty="0"/>
              <a:t>decidir sobre os requisitos fundamentais para o sistema; 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altLang="pt-BR" sz="2400" dirty="0"/>
              <a:t>estabelecer uma ordem para os requisitos a implementar; 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altLang="pt-BR" sz="2400" dirty="0"/>
              <a:t>implementar apenas uma parte dos requisitos e conseguir ainda assim um produto que satisfaça os usuários; 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altLang="pt-BR" sz="2400" dirty="0"/>
              <a:t>comparar o benefício de cada requisito com o custo; 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altLang="pt-BR" sz="2400" dirty="0"/>
              <a:t>estimar a satisfação do cliente em relação ao produto; 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altLang="pt-BR" sz="2400" dirty="0"/>
              <a:t>tratar requisitos contraditórios e negociá-los com as partes interessadas.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733147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AB050-A9E4-289C-EFC3-E3AE53628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6098CCFF-52A2-CE1E-0B4F-DBC0F0C25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3BF6014-46A9-4712-455C-E8D2ABF38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9898ED4-5D2D-71A6-D595-075819B75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A7836EA-0121-41E8-2060-ADC815C1F9A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5EDBCFB-7E0A-DB96-5ED7-4F8C0BC9E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DC16864-DDAD-4D8F-627B-610A1818D80D}"/>
              </a:ext>
            </a:extLst>
          </p:cNvPr>
          <p:cNvSpPr txBox="1"/>
          <p:nvPr/>
        </p:nvSpPr>
        <p:spPr>
          <a:xfrm>
            <a:off x="734590" y="1742321"/>
            <a:ext cx="10722820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Quando as expectativas do cliente são elevadas, os prazos são curtos e os recursos, reduzidos, é necessário </a:t>
            </a:r>
            <a:r>
              <a:rPr lang="pt-BR" altLang="pt-BR" sz="2400" b="1" dirty="0"/>
              <a:t>garantir que o sistema inclua as funcionalidades mais essenciais</a:t>
            </a:r>
            <a:r>
              <a:rPr lang="pt-BR" altLang="pt-BR" sz="2400" dirty="0"/>
              <a:t>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400" u="sng" dirty="0"/>
              <a:t>Definir a importância (relativa) de cada funcionalidade</a:t>
            </a:r>
            <a:r>
              <a:rPr lang="pt-BR" altLang="pt-BR" sz="2400" dirty="0"/>
              <a:t> permite sequenciar o desenvolvimento do sistema para obter o maior valor ao menor custo.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15524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0D662-9900-AE86-AFB6-07A31EF34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FA1EFE78-5B8B-E60C-BE9A-88B8B9320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E7E7215-459F-AC5A-0D91-102B70E16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563F9CE-5745-B2F9-4ACD-FA6EAD0C8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A99D58A-A2CE-3E09-6CC8-370B9608E7E0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C0F1EFB-D89B-6D74-8B62-012D0560CB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1FB812C-011B-A39A-C96C-A02C30213496}"/>
              </a:ext>
            </a:extLst>
          </p:cNvPr>
          <p:cNvSpPr txBox="1"/>
          <p:nvPr/>
        </p:nvSpPr>
        <p:spPr>
          <a:xfrm>
            <a:off x="734590" y="1742321"/>
            <a:ext cx="10722820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Os usuários e a equipe de desenvolvimento devem cooperar na priorização de requisitos.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400" b="1" dirty="0"/>
              <a:t>A equipe nem sempre sabe quais características são mais valorizadas pelos clientes</a:t>
            </a:r>
            <a:r>
              <a:rPr lang="pt-BR" altLang="pt-BR" sz="2400" dirty="0"/>
              <a:t>, e estes normalmente não conseguem avaliar o </a:t>
            </a:r>
            <a:r>
              <a:rPr lang="pt-BR" altLang="pt-BR" sz="2400" u="sng" dirty="0"/>
              <a:t>custo</a:t>
            </a:r>
            <a:r>
              <a:rPr lang="pt-BR" altLang="pt-BR" sz="2400" dirty="0"/>
              <a:t> e a </a:t>
            </a:r>
            <a:r>
              <a:rPr lang="pt-BR" altLang="pt-BR" sz="2400" u="sng" dirty="0"/>
              <a:t>dificuldade técnica</a:t>
            </a:r>
            <a:r>
              <a:rPr lang="pt-BR" altLang="pt-BR" sz="2400" dirty="0"/>
              <a:t> associados a cada um dos requisitos.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923828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7F79B-7907-8480-DD17-58CE87391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6129C729-509A-C5F1-389F-2A170E04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D00392D-C787-E4B5-6B98-66C49C468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D399CA4-FD56-620C-5205-37F2BF2A4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A0DE6C6-B9E9-B605-CE0B-6462E2731BCB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2B189C4-B168-78D7-905C-5977D79BE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pic>
        <p:nvPicPr>
          <p:cNvPr id="4" name="Imagem 2">
            <a:extLst>
              <a:ext uri="{FF2B5EF4-FFF2-40B4-BE49-F238E27FC236}">
                <a16:creationId xmlns:a16="http://schemas.microsoft.com/office/drawing/2014/main" id="{972A7914-DF25-A840-7781-0A3AB0546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989" y="2942534"/>
            <a:ext cx="5291138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4575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4FE8D-9554-537F-82DE-8B3A02AA5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2D78B675-0B24-E6FA-CD3C-1A7288DE1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690A784-45E0-7AB0-02ED-35838A803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6FB79EA-0CBF-07C2-9496-485432679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578B4CE-4957-1FC1-F848-C3420C0BB1AB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24A0A57-C4CB-2E6A-B941-43A546CCD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D229D45-66B3-D38F-F7E4-6E80D18BE0B8}"/>
              </a:ext>
            </a:extLst>
          </p:cNvPr>
          <p:cNvSpPr txBox="1"/>
          <p:nvPr/>
        </p:nvSpPr>
        <p:spPr>
          <a:xfrm>
            <a:off x="734590" y="1742321"/>
            <a:ext cx="1072282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Segundo </a:t>
            </a:r>
            <a:r>
              <a:rPr lang="pt-BR" altLang="pt-BR" sz="2400" dirty="0" err="1"/>
              <a:t>Karlsson</a:t>
            </a:r>
            <a:r>
              <a:rPr lang="pt-BR" altLang="pt-BR" sz="2400" dirty="0"/>
              <a:t> et al. (1998), o processo de priorização, consiste em três passos: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• </a:t>
            </a:r>
            <a:r>
              <a:rPr lang="pt-BR" altLang="pt-BR" sz="2400" b="1" dirty="0"/>
              <a:t>Preparação</a:t>
            </a:r>
            <a:r>
              <a:rPr lang="pt-BR" altLang="pt-BR" sz="2400" dirty="0"/>
              <a:t> – É o passo em que os requisitos são estruturados de acordo com os princípios da técnica de priorização a ser utilizada.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O conjunto de partes interessadas é escolhido, sendo-lhes fornecida toda a informação necessária, quer sobre os requisitos, quer sobre a técnica de priorização.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60244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5E1D7-6505-BE4F-7AF9-5B8D00497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F36DB552-7AA1-41BC-D5CA-1858E8719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7A697D4-700F-B2E3-F60F-DA9F91CFD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820123A-0497-E7F8-60F1-34919EB55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F0BE620-0C29-C347-D311-F0810FFF0B70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F1ACD15-5F92-602A-27A7-9BF0A37F8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1FDBDC3-DC50-E43F-D0B5-2D71CCE771E3}"/>
              </a:ext>
            </a:extLst>
          </p:cNvPr>
          <p:cNvSpPr txBox="1"/>
          <p:nvPr/>
        </p:nvSpPr>
        <p:spPr>
          <a:xfrm>
            <a:off x="734590" y="1742321"/>
            <a:ext cx="1072282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• </a:t>
            </a:r>
            <a:r>
              <a:rPr lang="pt-BR" altLang="pt-BR" sz="2400" b="1" dirty="0"/>
              <a:t>Execução</a:t>
            </a:r>
            <a:r>
              <a:rPr lang="pt-BR" altLang="pt-BR" sz="2400" dirty="0"/>
              <a:t> – Neste passo, as partes interessadas determinam a prioridade dos requisitos usando a informação que lhes foi anteriormente fornecida.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400" u="sng" dirty="0"/>
              <a:t>Os critérios devem ser acordados antes de se iniciar a priorização</a:t>
            </a:r>
            <a:r>
              <a:rPr lang="pt-BR" altLang="pt-BR" sz="2400" dirty="0"/>
              <a:t>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51442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377FE-23F3-22C0-C1FE-8265AA04F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52674678-55C0-7996-AC88-45AACC2B9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6E675F3-EB55-2E30-A91C-4C193CEDA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185D26B-345C-8FF7-AFA8-5136FBC98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D2147BC-6BBA-4691-1824-CD046BCF327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A7F422B-415A-1C24-2859-FD1DCABE4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63AFAA9-6DF1-731D-519F-0B6DB5AAE548}"/>
              </a:ext>
            </a:extLst>
          </p:cNvPr>
          <p:cNvSpPr txBox="1"/>
          <p:nvPr/>
        </p:nvSpPr>
        <p:spPr>
          <a:xfrm>
            <a:off x="734590" y="1742321"/>
            <a:ext cx="1072282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• </a:t>
            </a:r>
            <a:r>
              <a:rPr lang="pt-BR" altLang="pt-BR" sz="2400" b="1" dirty="0"/>
              <a:t>Apresentação</a:t>
            </a:r>
            <a:r>
              <a:rPr lang="pt-BR" altLang="pt-BR" sz="2400" dirty="0"/>
              <a:t> – É o passo em que os resultados são apresentados às partes interessadas envolvidas no processo. Algumas técnicas de priorização envolvem cálculos que devem ser realizados antes de os resultados serem apresentados.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90561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8F760-F4C7-D9C1-CF44-D5BEAEAF4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05E2CEF3-4B32-6F04-7B21-4BDFDB5A2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662FE7E-CFE5-17F0-F18F-0EA809B3E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2A82E12-10D4-E12E-D27D-EB764730A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9F31CF5-E0FB-CABA-60A6-19616A2E6E31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1356827-3D54-4A75-62D6-DA5178981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1FCD4F3-7CE6-66FD-C34D-40718C1102AA}"/>
              </a:ext>
            </a:extLst>
          </p:cNvPr>
          <p:cNvSpPr txBox="1"/>
          <p:nvPr/>
        </p:nvSpPr>
        <p:spPr>
          <a:xfrm>
            <a:off x="734590" y="1742321"/>
            <a:ext cx="1072282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O desafio na execução de um processo de atribuição de prioridades consiste em </a:t>
            </a:r>
            <a:r>
              <a:rPr lang="pt-BR" altLang="pt-BR" sz="2400" u="sng" dirty="0"/>
              <a:t>selecionar</a:t>
            </a:r>
            <a:r>
              <a:rPr lang="pt-BR" altLang="pt-BR" sz="2400" dirty="0"/>
              <a:t>, de um dado conjunto de requisitos candidatos, aqueles que garantem que têm todos os interesses principais, todas as restrições e todas as preferências das diferentes partes interessadas e que maximizam o valor de mercado do sistema.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30735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8B408-5E1F-EB14-92D3-7CA2970BD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388E18D-C5DE-F0C5-275C-9019A856A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5DE4BED-0042-0577-52EC-DBC4192B5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A1362E-462E-2373-3F5D-801D0C901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7C83EDB-407E-82B5-32FC-B52CFAB12BBB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8370983-C1D8-A006-FEF2-5545E84EA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863589D-6464-9083-6E13-85BFDCBF6409}"/>
              </a:ext>
            </a:extLst>
          </p:cNvPr>
          <p:cNvSpPr txBox="1"/>
          <p:nvPr/>
        </p:nvSpPr>
        <p:spPr>
          <a:xfrm>
            <a:off x="734590" y="1742321"/>
            <a:ext cx="1072282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Considerando que o conhecimento que os analistas adquirem sobre os requisitos varia durante o processo, </a:t>
            </a:r>
            <a:r>
              <a:rPr lang="pt-BR" altLang="pt-BR" sz="2400" b="1" dirty="0"/>
              <a:t>a atribuição de prioridades deve ser realizada de forma iterativa</a:t>
            </a:r>
            <a:r>
              <a:rPr lang="pt-BR" altLang="pt-BR" sz="2400" dirty="0"/>
              <a:t>, com níveis variáveis de abstração e com base em informações distintas, durante as diferentes fases do ciclo de vida de um sistema.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592151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BD9D7-C481-E876-42BA-C2C7A7463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86DA0D09-D014-9472-120F-9476A72DF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7F26B18-EEB1-9A4D-6FA7-0154557CF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08C7C96-CCE8-C7BA-C8A2-B701BF606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2D5985F-0560-9C33-2B6C-9486F5B7F420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AC30A9B-2169-3445-3048-D931E5DAC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24DE366-911B-5382-AEF5-96EF12B0CBA6}"/>
              </a:ext>
            </a:extLst>
          </p:cNvPr>
          <p:cNvSpPr txBox="1"/>
          <p:nvPr/>
        </p:nvSpPr>
        <p:spPr>
          <a:xfrm>
            <a:off x="734590" y="1742321"/>
            <a:ext cx="1072282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Em domínios dinâmicos e sujeitos a grande concorrência, onde existem constantes mudanças de contexto, </a:t>
            </a:r>
            <a:r>
              <a:rPr lang="pt-BR" altLang="pt-BR" sz="2400" b="1" dirty="0"/>
              <a:t>a priorização e a negociação dos requisitos têm de ser frequentemente repetidas</a:t>
            </a:r>
            <a:r>
              <a:rPr lang="pt-BR" altLang="pt-BR" sz="2400" dirty="0"/>
              <a:t>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Os </a:t>
            </a:r>
            <a:r>
              <a:rPr lang="pt-BR" altLang="pt-BR" sz="2400" b="1" dirty="0"/>
              <a:t>métodos ágeis</a:t>
            </a:r>
            <a:r>
              <a:rPr lang="pt-BR" altLang="pt-BR" sz="2400" dirty="0"/>
              <a:t>, mostram-se adequados para produção de software nesse tipo de contexto e naturalmente </a:t>
            </a:r>
            <a:r>
              <a:rPr lang="pt-BR" altLang="pt-BR" sz="2400" u="sng" dirty="0"/>
              <a:t>atribuem grande importância à priorização</a:t>
            </a:r>
            <a:r>
              <a:rPr lang="pt-BR" altLang="pt-BR" sz="2400" dirty="0"/>
              <a:t>, tarefa que é repetida a cada ciclo de desenvolvimento.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90847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AAE53-314C-9050-0A10-F4DE41102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FCEB4B62-0DDD-D4B2-F82A-DC04742B5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ED5A209-B622-6712-692C-F6F2BC867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AEB297F-A8EB-EE3B-98C2-4D525DF662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1197D32-6A9E-4FFC-1D81-9175A60BCF16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4E56980-A409-905A-0797-7561B410E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384BBBE-582A-2C23-30B8-BEC7E0CDAFA3}"/>
              </a:ext>
            </a:extLst>
          </p:cNvPr>
          <p:cNvSpPr txBox="1"/>
          <p:nvPr/>
        </p:nvSpPr>
        <p:spPr>
          <a:xfrm>
            <a:off x="734590" y="1742321"/>
            <a:ext cx="10722820" cy="5759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3200" b="1" dirty="0"/>
              <a:t>Critérios de priorização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Podem-se atribuir prioridades aos requisitos segundo diferentes critérios. Quando se usa um único critério para atribuir prioridades aos requisitos, é fácil ordená-los completamente.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Se for usado mais do que um critério, a dificuldade de ordenação aumentará, pois é preciso, nesses casos, ponderar esses vários critérios.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75218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50913-74AF-1E03-0417-82E29CAE6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A5A36501-B8AE-4D08-EC0D-28E41C660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CC19999-0EF0-E15D-6319-677FC2181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FB9B2C4-3164-B7C3-B6D8-18410299A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35878A7-5CBC-EA2A-89A2-D12D012F444D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75FF929-B056-BC2E-836B-33677987EC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098D634-7B7A-31C4-EB23-8B3BD0D90148}"/>
              </a:ext>
            </a:extLst>
          </p:cNvPr>
          <p:cNvSpPr txBox="1"/>
          <p:nvPr/>
        </p:nvSpPr>
        <p:spPr>
          <a:xfrm>
            <a:off x="734590" y="1742321"/>
            <a:ext cx="10722820" cy="4097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3200" b="1" dirty="0"/>
              <a:t>Critérios de priorização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Nem sempre é evidente a forma de fazer essa ordenação.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Em particular, é sabido que a introdução do </a:t>
            </a:r>
            <a:r>
              <a:rPr lang="pt-BR" altLang="pt-BR" sz="2400" u="sng" dirty="0"/>
              <a:t>custo</a:t>
            </a:r>
            <a:r>
              <a:rPr lang="pt-BR" altLang="pt-BR" sz="2400" dirty="0"/>
              <a:t>, como um critério a ser considerado, implica tipicamente a alteração da prioridade de alguns requisitos para um nível mais baixo se a sua inclusão no sistema se revelar custosa. </a:t>
            </a:r>
          </a:p>
        </p:txBody>
      </p:sp>
    </p:spTree>
    <p:extLst>
      <p:ext uri="{BB962C8B-B14F-4D97-AF65-F5344CB8AC3E}">
        <p14:creationId xmlns:p14="http://schemas.microsoft.com/office/powerpoint/2010/main" val="967287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6422A-F817-9B05-2C11-07D86209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8AE8CA38-6BFA-CA53-156F-1D493D57A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068F4F0-0E80-7312-2E42-55F630454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292DBCE-04E1-2AFB-09F3-26C63ECAB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8C69A26-14FA-4200-0837-5188EDC567E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C40729B-0902-BE28-07A9-0E6A26AB9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0CB6CC4-27CB-BA21-7DD8-A36CF75712E7}"/>
              </a:ext>
            </a:extLst>
          </p:cNvPr>
          <p:cNvSpPr txBox="1"/>
          <p:nvPr/>
        </p:nvSpPr>
        <p:spPr>
          <a:xfrm>
            <a:off x="734590" y="1742321"/>
            <a:ext cx="10722820" cy="4097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3200" b="1" dirty="0"/>
              <a:t>Critérios de priorização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Vários critérios podem ser considerados na priorização: importância, urgência, utilidade, penalização, (in)satisfação, tempo, custo, volatilidade e risco.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Contudo </a:t>
            </a:r>
            <a:r>
              <a:rPr lang="pt-BR" altLang="pt-BR" sz="2400" u="sng" dirty="0"/>
              <a:t>não é prático</a:t>
            </a:r>
            <a:r>
              <a:rPr lang="pt-BR" altLang="pt-BR" sz="2400" dirty="0"/>
              <a:t> considerar um número muito elevado de critérios.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</p:txBody>
      </p:sp>
    </p:spTree>
    <p:extLst>
      <p:ext uri="{BB962C8B-B14F-4D97-AF65-F5344CB8AC3E}">
        <p14:creationId xmlns:p14="http://schemas.microsoft.com/office/powerpoint/2010/main" val="3824398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FED2E-081E-E1B6-CA79-F16046949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0D283C89-B227-5335-A391-C0B615BB5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5F6B1AF-FA38-B2A4-EAE1-AEAE0EBF0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FFB9DF1-1AC4-A4FA-FF09-BC24E40ED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0F333FD-9A80-5A90-CAAA-1CB4A0A1ABF6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F391F73-94DF-4EE8-0C67-EE6D194DF2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CDB68CF-8C38-AC78-E55D-C7E81041D078}"/>
              </a:ext>
            </a:extLst>
          </p:cNvPr>
          <p:cNvSpPr txBox="1"/>
          <p:nvPr/>
        </p:nvSpPr>
        <p:spPr>
          <a:xfrm>
            <a:off x="734590" y="1742321"/>
            <a:ext cx="10722820" cy="4651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3200" b="1" dirty="0"/>
              <a:t>Critérios de priorização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Aqueles que devem efetivamente ser considerados em um determinado projeto devem ser </a:t>
            </a:r>
            <a:r>
              <a:rPr lang="pt-BR" altLang="pt-BR" sz="2400" u="sng" dirty="0"/>
              <a:t>escolhidos de acordo com a situação</a:t>
            </a:r>
            <a:r>
              <a:rPr lang="pt-BR" altLang="pt-BR" sz="2400" dirty="0"/>
              <a:t>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As prioridades segundo um dado critério podem ser atribuídas com diferentes medidas e escalas.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</p:txBody>
      </p:sp>
    </p:spTree>
    <p:extLst>
      <p:ext uri="{BB962C8B-B14F-4D97-AF65-F5344CB8AC3E}">
        <p14:creationId xmlns:p14="http://schemas.microsoft.com/office/powerpoint/2010/main" val="3911745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263D5-5EB1-4498-34B6-AC6BE129E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D597CE7-11C9-20A5-ADD0-A1C86E4C7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DCE4E30-EF00-218D-7B2A-E22F7BF71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0046515-62C9-6EC5-7FF8-0AD7E4CE3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644A1F1-7593-8EA1-B2A8-6417A48B7E8A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Priorização de 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FFB2D1B-2B75-9663-6919-555D41DF7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AC041AA-E4B5-3E7E-73AA-568BADE5376E}"/>
              </a:ext>
            </a:extLst>
          </p:cNvPr>
          <p:cNvSpPr txBox="1"/>
          <p:nvPr/>
        </p:nvSpPr>
        <p:spPr>
          <a:xfrm>
            <a:off x="734590" y="2576029"/>
            <a:ext cx="10722820" cy="206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</a:pPr>
            <a:r>
              <a:rPr lang="pt-BR" altLang="pt-BR" sz="3200" dirty="0"/>
              <a:t>Priorizar requisitos é um processo </a:t>
            </a:r>
            <a:r>
              <a:rPr lang="pt-BR" altLang="pt-BR" sz="3200" b="1" dirty="0"/>
              <a:t>iterativo</a:t>
            </a:r>
            <a:r>
              <a:rPr lang="pt-BR" altLang="pt-BR" sz="3200" dirty="0"/>
              <a:t> que demanda </a:t>
            </a:r>
            <a:r>
              <a:rPr lang="pt-BR" altLang="pt-BR" sz="3200" b="1" dirty="0"/>
              <a:t>planejamento</a:t>
            </a:r>
            <a:r>
              <a:rPr lang="pt-BR" altLang="pt-BR" sz="3200" dirty="0"/>
              <a:t> e escolha de </a:t>
            </a:r>
            <a:r>
              <a:rPr lang="pt-BR" altLang="pt-BR" sz="3200" b="1" dirty="0"/>
              <a:t>critérios</a:t>
            </a:r>
            <a:r>
              <a:rPr lang="pt-BR" altLang="pt-BR" sz="3200" dirty="0"/>
              <a:t> adequados.</a:t>
            </a:r>
            <a:endParaRPr lang="pt-BR" altLang="pt-BR" sz="2400" dirty="0"/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</p:txBody>
      </p:sp>
    </p:spTree>
    <p:extLst>
      <p:ext uri="{BB962C8B-B14F-4D97-AF65-F5344CB8AC3E}">
        <p14:creationId xmlns:p14="http://schemas.microsoft.com/office/powerpoint/2010/main" val="3151030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Técnica de priorização (</a:t>
            </a:r>
            <a:r>
              <a:rPr lang="pt-BR" sz="3200" b="1" dirty="0" err="1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MoSCow</a:t>
            </a:r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623053"/>
            <a:ext cx="107228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2400" b="1" dirty="0">
              <a:hlinkClick r:id="rId6"/>
            </a:endParaRPr>
          </a:p>
          <a:p>
            <a:r>
              <a:rPr lang="pt-BR" sz="2400" b="1" dirty="0"/>
              <a:t>Técnica </a:t>
            </a:r>
            <a:r>
              <a:rPr lang="pt-BR" sz="2400" b="1" dirty="0" err="1"/>
              <a:t>MoSCoW</a:t>
            </a:r>
            <a:r>
              <a:rPr lang="pt-BR" sz="2400" b="1" dirty="0"/>
              <a:t> </a:t>
            </a:r>
          </a:p>
          <a:p>
            <a:endParaRPr lang="pt-BR" sz="2400" b="1" dirty="0"/>
          </a:p>
          <a:p>
            <a:r>
              <a:rPr lang="pt-BR" sz="2400" b="1" dirty="0">
                <a:hlinkClick r:id="rId7"/>
              </a:rPr>
              <a:t>https://www.youtube.com/watch?v=-dMeosr4eIM</a:t>
            </a:r>
            <a:endParaRPr lang="pt-BR" sz="2400" b="1" dirty="0"/>
          </a:p>
          <a:p>
            <a:endParaRPr lang="pt-BR" sz="2400" b="1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Zoom de Slide 9">
                <a:extLst>
                  <a:ext uri="{FF2B5EF4-FFF2-40B4-BE49-F238E27FC236}">
                    <a16:creationId xmlns:a16="http://schemas.microsoft.com/office/drawing/2014/main" id="{48557ED1-9319-AE63-232D-7059B78883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65183810"/>
                  </p:ext>
                </p:extLst>
              </p:nvPr>
            </p:nvGraphicFramePr>
            <p:xfrm>
              <a:off x="8409410" y="1770479"/>
              <a:ext cx="3048000" cy="1714500"/>
            </p:xfrm>
            <a:graphic>
              <a:graphicData uri="http://schemas.microsoft.com/office/powerpoint/2016/slidezoom">
                <pslz:sldZm>
                  <pslz:sldZmObj sldId="386" cId="3225916472">
                    <pslz:zmPr id="{54270637-A185-4BF4-8882-B82C0F2949B3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Zoom de Slide 9">
                <a:extLst>
                  <a:ext uri="{FF2B5EF4-FFF2-40B4-BE49-F238E27FC236}">
                    <a16:creationId xmlns:a16="http://schemas.microsoft.com/office/drawing/2014/main" id="{48557ED1-9319-AE63-232D-7059B78883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09410" y="1770479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600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A432-9C84-697D-5403-4A2ED7E7C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81B38A18-B0A9-FEC6-12C1-0964D71EC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7AEE98C-02A9-7F6A-4169-AA6738ECA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77ED8C8-B17C-BB19-6D5A-94D8BA3F0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7479319-4281-E5B5-BCA5-E822A4096411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Técnica de priorização (</a:t>
            </a:r>
            <a:r>
              <a:rPr lang="pt-BR" sz="3200" b="1" dirty="0" err="1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MoSCow</a:t>
            </a:r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75922A7-B15B-721F-1AF5-36477B9AD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F4C2015-DCE5-E954-CD4F-838966304048}"/>
              </a:ext>
            </a:extLst>
          </p:cNvPr>
          <p:cNvSpPr txBox="1"/>
          <p:nvPr/>
        </p:nvSpPr>
        <p:spPr>
          <a:xfrm>
            <a:off x="734590" y="1623053"/>
            <a:ext cx="107228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2400" b="1" dirty="0">
              <a:hlinkClick r:id="rId6"/>
            </a:endParaRPr>
          </a:p>
          <a:p>
            <a:endParaRPr lang="pt-BR" sz="24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4CE8241-5109-C102-1865-16DA00E573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874" y="1808344"/>
            <a:ext cx="6119352" cy="366665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4B2C286-CEE7-DBE1-FB99-D93AACBD69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9825" y="2523537"/>
            <a:ext cx="5720301" cy="223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16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89775" y="690456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Dúvidas ???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pic>
        <p:nvPicPr>
          <p:cNvPr id="4" name="Picture 4" descr="a cartoon pug dog with a question mark above its head">
            <a:extLst>
              <a:ext uri="{FF2B5EF4-FFF2-40B4-BE49-F238E27FC236}">
                <a16:creationId xmlns:a16="http://schemas.microsoft.com/office/drawing/2014/main" id="{C1F1CFF8-B374-2A77-89F3-2D5919237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714" y="2355572"/>
            <a:ext cx="3977665" cy="397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13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Referência bibliográfica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623053"/>
            <a:ext cx="1072282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000" dirty="0"/>
              <a:t>Fernandes, João M.; Machado, Ricardo J.. Requisitos em projetos de software e de sistemas de informação (p. 178). </a:t>
            </a:r>
            <a:r>
              <a:rPr lang="pt-BR" altLang="pt-BR" sz="2000" dirty="0" err="1"/>
              <a:t>Novatec</a:t>
            </a:r>
            <a:r>
              <a:rPr lang="pt-BR" altLang="pt-BR" sz="2000" dirty="0"/>
              <a:t> Editora. Edição do Kindle. </a:t>
            </a:r>
          </a:p>
        </p:txBody>
      </p:sp>
    </p:spTree>
    <p:extLst>
      <p:ext uri="{BB962C8B-B14F-4D97-AF65-F5344CB8AC3E}">
        <p14:creationId xmlns:p14="http://schemas.microsoft.com/office/powerpoint/2010/main" val="1044964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D9C21255-832C-0C97-CDB6-FEDA35FCEE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68" b="4073"/>
          <a:stretch/>
        </p:blipFill>
        <p:spPr>
          <a:xfrm>
            <a:off x="6482632" y="-59933"/>
            <a:ext cx="5711925" cy="693617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E45FD73-4524-6DDC-9022-1AE8D1B31D56}"/>
              </a:ext>
            </a:extLst>
          </p:cNvPr>
          <p:cNvSpPr txBox="1"/>
          <p:nvPr/>
        </p:nvSpPr>
        <p:spPr>
          <a:xfrm>
            <a:off x="964799" y="963898"/>
            <a:ext cx="649070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Profª. Chaiene M. da Silva Minella, MSc.</a:t>
            </a:r>
          </a:p>
          <a:p>
            <a:r>
              <a:rPr lang="pt-BR" sz="2400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Engetec | Engenharia de Software</a:t>
            </a:r>
          </a:p>
          <a:p>
            <a:r>
              <a:rPr lang="pt-BR" sz="2400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chaiene.minella@univille.br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BE1C8A9-5FC8-F58D-EDE5-270C56DC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20" y="4405971"/>
            <a:ext cx="3787695" cy="16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763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9B7C91391FBB4790D15430585BD576" ma:contentTypeVersion="24" ma:contentTypeDescription="Crie um novo documento." ma:contentTypeScope="" ma:versionID="352ad4e336e23d8ae6c3cbead189ee20">
  <xsd:schema xmlns:xsd="http://www.w3.org/2001/XMLSchema" xmlns:xs="http://www.w3.org/2001/XMLSchema" xmlns:p="http://schemas.microsoft.com/office/2006/metadata/properties" xmlns:ns1="http://schemas.microsoft.com/sharepoint/v3" xmlns:ns2="d24842f8-7ef1-496c-81d4-96339beddf31" xmlns:ns3="c449436b-c177-4fc4-b4b5-7bced3aa4339" targetNamespace="http://schemas.microsoft.com/office/2006/metadata/properties" ma:root="true" ma:fieldsID="8fed7937480412d05220b1982a8ea47f" ns1:_="" ns2:_="" ns3:_="">
    <xsd:import namespace="http://schemas.microsoft.com/sharepoint/v3"/>
    <xsd:import namespace="d24842f8-7ef1-496c-81d4-96339beddf31"/>
    <xsd:import namespace="c449436b-c177-4fc4-b4b5-7bced3aa43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N_x00fa_mero" minOccurs="0"/>
                <xsd:element ref="ns2:Data" minOccurs="0"/>
                <xsd:element ref="ns2:DataeHora" minOccurs="0"/>
                <xsd:element ref="ns2:MediaServiceSearchProperties" minOccurs="0"/>
                <xsd:element ref="ns2:_Flow_SignoffStatu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4842f8-7ef1-496c-81d4-96339beddf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Marcações de imagem" ma:readOnly="false" ma:fieldId="{5cf76f15-5ced-4ddc-b409-7134ff3c332f}" ma:taxonomyMulti="true" ma:sspId="6abd3df3-db9b-46ca-b07f-13c267e856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N_x00fa_mero" ma:index="26" nillable="true" ma:displayName="Número" ma:format="Dropdown" ma:internalName="N_x00fa_mero" ma:percentage="FALSE">
      <xsd:simpleType>
        <xsd:restriction base="dms:Number"/>
      </xsd:simpleType>
    </xsd:element>
    <xsd:element name="Data" ma:index="27" nillable="true" ma:displayName="Data" ma:format="DateTime" ma:internalName="Data">
      <xsd:simpleType>
        <xsd:restriction base="dms:DateTime"/>
      </xsd:simpleType>
    </xsd:element>
    <xsd:element name="DataeHora" ma:index="28" nillable="true" ma:displayName="Data e Hora" ma:format="DateTime" ma:internalName="DataeHora">
      <xsd:simpleType>
        <xsd:restriction base="dms:DateTime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30" nillable="true" ma:displayName="Status de liberação" ma:internalName="Status_x0020_de_x0020_libera_x00e7__x00e3_o">
      <xsd:simpleType>
        <xsd:restriction base="dms:Text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49436b-c177-4fc4-b4b5-7bced3aa433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001397b2-60c4-4a6e-b399-fdccb5dd0c2d}" ma:internalName="TaxCatchAll" ma:showField="CatchAllData" ma:web="c449436b-c177-4fc4-b4b5-7bced3aa43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4842f8-7ef1-496c-81d4-96339beddf31">
      <Terms xmlns="http://schemas.microsoft.com/office/infopath/2007/PartnerControls"/>
    </lcf76f155ced4ddcb4097134ff3c332f>
    <_ip_UnifiedCompliancePolicyUIAction xmlns="http://schemas.microsoft.com/sharepoint/v3" xsi:nil="true"/>
    <N_x00fa_mero xmlns="d24842f8-7ef1-496c-81d4-96339beddf31" xsi:nil="true"/>
    <Data xmlns="d24842f8-7ef1-496c-81d4-96339beddf31" xsi:nil="true"/>
    <DataeHora xmlns="d24842f8-7ef1-496c-81d4-96339beddf31" xsi:nil="true"/>
    <_ip_UnifiedCompliancePolicyProperties xmlns="http://schemas.microsoft.com/sharepoint/v3" xsi:nil="true"/>
    <TaxCatchAll xmlns="c449436b-c177-4fc4-b4b5-7bced3aa4339" xsi:nil="true"/>
    <_Flow_SignoffStatus xmlns="d24842f8-7ef1-496c-81d4-96339beddf31" xsi:nil="true"/>
  </documentManagement>
</p:properties>
</file>

<file path=customXml/itemProps1.xml><?xml version="1.0" encoding="utf-8"?>
<ds:datastoreItem xmlns:ds="http://schemas.openxmlformats.org/officeDocument/2006/customXml" ds:itemID="{48E6E203-6BAE-46D0-9474-0FAA28088B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24842f8-7ef1-496c-81d4-96339beddf31"/>
    <ds:schemaRef ds:uri="c449436b-c177-4fc4-b4b5-7bced3aa43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3FD91B-4437-4986-B7C6-7FE5E9555C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374677-D8F3-4450-81AC-53128A12B2B0}">
  <ds:schemaRefs>
    <ds:schemaRef ds:uri="http://schemas.microsoft.com/office/2006/metadata/properties"/>
    <ds:schemaRef ds:uri="http://schemas.microsoft.com/office/infopath/2007/PartnerControls"/>
    <ds:schemaRef ds:uri="d24842f8-7ef1-496c-81d4-96339beddf31"/>
    <ds:schemaRef ds:uri="http://schemas.microsoft.com/sharepoint/v3"/>
    <ds:schemaRef ds:uri="c449436b-c177-4fc4-b4b5-7bced3aa4339"/>
  </ds:schemaRefs>
</ds:datastoreItem>
</file>

<file path=docMetadata/LabelInfo.xml><?xml version="1.0" encoding="utf-8"?>
<clbl:labelList xmlns:clbl="http://schemas.microsoft.com/office/2020/mipLabelMetadata">
  <clbl:label id="{a33dd0b0-a9be-4e97-a0c3-b0e677403699}" enabled="1" method="Privileged" siteId="{57fe0ac9-f7f7-4580-8b30-5aa7f0ac8e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1099</Words>
  <Application>Microsoft Office PowerPoint</Application>
  <PresentationFormat>Widescreen</PresentationFormat>
  <Paragraphs>96</Paragraphs>
  <Slides>27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28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>CHAIENE MERCEDES DA SILVA MINELLA</cp:lastModifiedBy>
  <cp:revision>99</cp:revision>
  <dcterms:created xsi:type="dcterms:W3CDTF">2024-02-21T18:56:16Z</dcterms:created>
  <dcterms:modified xsi:type="dcterms:W3CDTF">2026-09-10T10:49:43Z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0x010100449B7C91391FBB4790D15430585BD576</vt:lpwstr>
  </property>
  <property fmtid="{D5CDD505-2E9C-101B-9397-08002B2CF9AE}" pid="3" name="MediaServiceImageTags">
    <vt:lpwstr/>
  </property>
</Properties>
</file>