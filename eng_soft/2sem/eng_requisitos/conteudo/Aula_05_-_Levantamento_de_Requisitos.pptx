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58" r:id="rId38"/>
    <p:sldId id="259" r:id="rId39"/>
  </p:sldIdLst>
  <p:sldSz cx="18288000" cy="10287000"/>
  <p:notesSz cx="6858000" cy="9144000"/>
  <p:embeddedFontLst>
    <p:embeddedFont>
      <p:font typeface=" Avenir Next Arabic"/>
      <p:regular r:id="rId40"/>
    </p:embeddedFont>
    <p:embeddedFont>
      <p:font typeface=" Avenir Next Arabic Bold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FC15C-E794-40C5-93CF-9F10ED80818E}" v="2" dt="2026-08-31T19:13:22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modSld">
      <pc:chgData name="CHAIENE MERCEDES DA SILVA MINELLA" userId="03c40756-137a-4d89-92ad-627326a1a7b4" providerId="ADAL" clId="{B70A75BF-988A-4E24-A962-02E599989989}" dt="2026-08-31T19:13:59.763" v="2" actId="6549"/>
      <pc:docMkLst>
        <pc:docMk/>
      </pc:docMkLst>
      <pc:sldChg chg="modSp mod">
        <pc:chgData name="CHAIENE MERCEDES DA SILVA MINELLA" userId="03c40756-137a-4d89-92ad-627326a1a7b4" providerId="ADAL" clId="{B70A75BF-988A-4E24-A962-02E599989989}" dt="2026-08-31T19:13:59.763" v="2" actId="6549"/>
        <pc:sldMkLst>
          <pc:docMk/>
          <pc:sldMk cId="0" sldId="259"/>
        </pc:sldMkLst>
        <pc:spChg chg="mod">
          <ac:chgData name="CHAIENE MERCEDES DA SILVA MINELLA" userId="03c40756-137a-4d89-92ad-627326a1a7b4" providerId="ADAL" clId="{B70A75BF-988A-4E24-A962-02E599989989}" dt="2026-08-31T19:13:59.763" v="2" actId="6549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CHAIENE MERCEDES DA SILVA MINELLA" userId="03c40756-137a-4d89-92ad-627326a1a7b4" providerId="ADAL" clId="{B70A75BF-988A-4E24-A962-02E599989989}" dt="2026-08-31T19:13:22.605" v="1" actId="20577"/>
        <pc:sldMkLst>
          <pc:docMk/>
          <pc:sldMk cId="2530206110" sldId="294"/>
        </pc:sldMkLst>
        <pc:spChg chg="mod">
          <ac:chgData name="CHAIENE MERCEDES DA SILVA MINELLA" userId="03c40756-137a-4d89-92ad-627326a1a7b4" providerId="ADAL" clId="{B70A75BF-988A-4E24-A962-02E599989989}" dt="2026-08-31T19:13:22.605" v="1" actId="20577"/>
          <ac:spMkLst>
            <pc:docMk/>
            <pc:sldMk cId="2530206110" sldId="294"/>
            <ac:spMk id="7" creationId="{192C6610-7E66-A07C-09AE-2E175ACB37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vistas.fucamp.edu.br/index.php/getec/article/view/3398" TargetMode="External"/><Relationship Id="rId5" Type="http://schemas.openxmlformats.org/officeDocument/2006/relationships/hyperlink" Target="https://ric.cps.sp.gov.br/bitstream/123456789/13619/1/ads_2023_1_fernandoguerrierocardosodasilva_levantamentoderequisitos.pdf" TargetMode="Externa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81100" y="7670548"/>
            <a:ext cx="3276600" cy="1398357"/>
            <a:chOff x="0" y="0"/>
            <a:chExt cx="5816916" cy="2482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757985" y="3234269"/>
            <a:ext cx="1810499" cy="1705490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828800" y="1138163"/>
            <a:ext cx="111252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UNIVILLE -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da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Região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de Joinville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19400" y="3233430"/>
            <a:ext cx="9553178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54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54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54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54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19400" y="4286626"/>
            <a:ext cx="9553178" cy="55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Requisitos</a:t>
            </a:r>
            <a:endParaRPr lang="en-US" sz="24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A1EDE0-6D2C-DAEF-5AE3-D24B32778432}"/>
              </a:ext>
            </a:extLst>
          </p:cNvPr>
          <p:cNvSpPr txBox="1"/>
          <p:nvPr/>
        </p:nvSpPr>
        <p:spPr>
          <a:xfrm>
            <a:off x="1066800" y="9182100"/>
            <a:ext cx="914400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8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 - Profª Mª Chaiene M. da Silva Minella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6890A32-DA8E-B150-A1EA-9E13736E8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024968"/>
            <a:ext cx="552599" cy="500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0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60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60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60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A510F28-032F-2BBF-B816-170FB0134715}"/>
              </a:ext>
            </a:extLst>
          </p:cNvPr>
          <p:cNvSpPr txBox="1"/>
          <p:nvPr/>
        </p:nvSpPr>
        <p:spPr>
          <a:xfrm>
            <a:off x="1143000" y="2604343"/>
            <a:ext cx="160430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tarefa de obter requisitos é uma atividade relevante dentro da engenharia de requisitos.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Para que isso ocorra, inúmeras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técnicas de levantamento de requisitos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são utilizadas para 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facilitação da aquisição dos requisitos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Elas auxiliam na </a:t>
            </a:r>
            <a:r>
              <a:rPr lang="pt-BR" altLang="pt-BR" sz="3600" b="1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comunicação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entre os clientes e o time de desenvolvimento de software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oferecendo meios adequados para obter requisitos diferentes e resolver problemas de requisitos divergentes.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79FE-8507-A5F6-6A22-9C15353F7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2776E9-B687-5101-C054-7C82B853A74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7AAE66BB-043E-5EDC-7F1D-E03B65C13F8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9EC95BB-3AE1-DAD0-FFC4-39BF253263BB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3AEC71-DCC9-5225-5738-50CC993F510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E33C8AB-E377-2266-9471-1965747A9B7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ADDAEDE-756C-28B3-9FE9-A659DCC7E98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285FAED-8AAE-C8E0-6126-F1D308A5F3F5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0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60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60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60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1594725-0DB3-0A25-F49D-D81151869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825D6CD-20D0-7423-BFB8-103263608031}"/>
              </a:ext>
            </a:extLst>
          </p:cNvPr>
          <p:cNvSpPr txBox="1"/>
          <p:nvPr/>
        </p:nvSpPr>
        <p:spPr>
          <a:xfrm>
            <a:off x="1143000" y="2604343"/>
            <a:ext cx="160430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Cada técnica tenta explorar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características específicas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do problema, mas podem existir diversos problemas com distintas características, então se faz necessário o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uso de vários métodos para cada tipo de problema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Esta fase leva em consideração principalmente o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contexto social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diferente da fase de implementação, por exemplo, que é puramente tecnológica. Isso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valida a necessidade de usar diversas maneiras para obter e resolver os problemas da aquisição de requisitos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800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638F-B017-9505-2120-DC89BD59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45E82F-FE2D-74FB-A04D-6BCBA2D04D4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346D96A-E314-3031-65B0-540D74CDC02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A379DC3-392E-A77D-CC6B-234777CDD7C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928C4FF-178D-B19D-8216-A55EEE4ACD4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41A34E3-F011-7E57-83E4-5CA372661C3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FFD30E2-76D9-ECC5-12A4-8BD2FC5D8FD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361CCDD-E86C-452A-89BD-C84EDB33DB86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20B64E6-15E0-9EB5-51B2-E1CE672AE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98D1D18-0826-B918-0600-A96F10F68908}"/>
              </a:ext>
            </a:extLst>
          </p:cNvPr>
          <p:cNvSpPr txBox="1"/>
          <p:nvPr/>
        </p:nvSpPr>
        <p:spPr>
          <a:xfrm>
            <a:off x="990600" y="4702394"/>
            <a:ext cx="160430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altLang="pt-BR" sz="4800" b="1" u="sng" dirty="0">
                <a:solidFill>
                  <a:srgbClr val="005F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sym typeface="Arial" panose="020B0604020202020204" pitchFamily="34" charset="0"/>
              </a:rPr>
              <a:t>Técnicas</a:t>
            </a:r>
            <a:r>
              <a:rPr lang="pt-BR" altLang="pt-BR" sz="48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utilizadas para levantamento de requisitos</a:t>
            </a:r>
            <a:endParaRPr lang="pt-BR" altLang="pt-BR" sz="6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62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D9DD-3E19-7192-562B-68C8C56D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F82F18D-2EE4-0F70-D025-17472CA222B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7556648-7D8C-A0AC-8ACE-423BFAD3249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A22F39A-0D5C-0B4F-CF44-09D21FA5463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9ADF2D-48F0-B1E3-829F-23ED0CC277F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E5FC212-1E6C-296F-26CC-37F247D15AC6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85A346D-2D73-7741-9FA5-85AF9B1F45D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B4571CC-A75F-BEFA-D472-386540355765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784E0FC-A136-F9EE-9F6D-727C04CB8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BC687F-4491-2FB1-3439-01F0FEFE5E7D}"/>
              </a:ext>
            </a:extLst>
          </p:cNvPr>
          <p:cNvSpPr txBox="1"/>
          <p:nvPr/>
        </p:nvSpPr>
        <p:spPr>
          <a:xfrm>
            <a:off x="1143000" y="2604343"/>
            <a:ext cx="160430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PONTOS DE VISTA </a:t>
            </a:r>
          </a:p>
          <a:p>
            <a:pPr algn="just">
              <a:buFontTx/>
              <a:buChar char="•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abordagens orientadas a pontos de vista levam em consideração 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percepções de cada stakeholder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interessado no sistema que está sendo desenvolvido.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 engenheiro de requisitos tem a função de criar e organizar uma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lista com os diferentes pontos de vista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fornecidos de cada interessado à medida que for surgindo os requisitos do sistema.</a:t>
            </a:r>
            <a:endParaRPr lang="pt-BR" altLang="pt-BR" sz="4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75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543D-8669-85FD-F020-6C032A51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78D7FF-C6B2-C9AA-CB07-740CC1DD001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9C627200-5770-684E-4671-1D0B6B98D400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B26A8B3-F28D-3A40-4B6A-F6D6BB7CE5A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29D624A-8425-5FAE-9493-61A8E7D74FA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FB65BF7-42BD-7849-5AB1-15A1ABC2ABE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14DE9CA-238D-1E9C-E3C0-3FA2A55FE26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D398DF9-8398-C5C5-8DE9-4D61773EFE20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4B9B52B-4F0B-8BF9-D101-F42739F02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0CF2097-6A8A-A698-100A-9AA5F5C07D34}"/>
              </a:ext>
            </a:extLst>
          </p:cNvPr>
          <p:cNvSpPr txBox="1"/>
          <p:nvPr/>
        </p:nvSpPr>
        <p:spPr>
          <a:xfrm>
            <a:off x="1143000" y="2604343"/>
            <a:ext cx="160430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PONTOS DE VISTA </a:t>
            </a:r>
          </a:p>
          <a:p>
            <a:pPr algn="just">
              <a:buFontTx/>
              <a:buChar char="•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Sommerville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(2007) acrescenta que os pontos de vista podem ser divididos em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três tipos genéricos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: </a:t>
            </a:r>
          </a:p>
          <a:p>
            <a:pPr algn="just"/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pontos de vista de interação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(são pessoas ou sistemas que interagem com o sistema);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pontos de vista indiretos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(stakeholders que não utilizam o sistema diretamente, mas tem influencia sobre os requisitos do sistema) e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pontos de vista de domínio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(são características e restrições que afetam os requisitos de sistema).</a:t>
            </a:r>
            <a:endParaRPr lang="pt-BR" altLang="pt-BR" sz="5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4D33-88FB-56D6-791C-E7F2704E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D45565-2083-FD67-02EB-958674B4607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8D436B3-13FC-8758-5613-1D2A1B36F28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A019392-4337-14FD-FB97-93C7C2821CB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3FF22B-998B-81DD-BB4D-84C31903EEC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69AF0AE-6D76-E25C-302E-C7620D9003D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BE04FC8-783E-7E8E-4FF1-AE1CAFDA63C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7172A52-23BD-398A-A355-25B101A87E95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9288D0E-050A-23E3-A267-36AF96BD6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9A39976-B7DF-CFE2-FF7B-875568AB2D2E}"/>
              </a:ext>
            </a:extLst>
          </p:cNvPr>
          <p:cNvSpPr txBox="1"/>
          <p:nvPr/>
        </p:nvSpPr>
        <p:spPr>
          <a:xfrm>
            <a:off x="1143000" y="2604343"/>
            <a:ext cx="160430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ENTREVISTA</a:t>
            </a:r>
            <a:endParaRPr lang="pt-BR" altLang="pt-BR" sz="3200" b="1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endParaRPr lang="pt-BR" altLang="pt-BR" sz="32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entrevista é uma das técnicas de levantamento de requisitos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mais utilizada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Isso pode ser notado quando o engenheiro de requisitos discute com os usuários e/ou clientes no intuito de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encontrar os requisitos ideais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para o sistema a ser desenvolvido.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Para isso, usa de questões, as quais, depois de uma filtragem, poderão se tornar em possíveis requisitos do sistema.</a:t>
            </a:r>
            <a:endParaRPr lang="pt-BR" altLang="pt-BR" sz="4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952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A821-401F-4023-2FBA-0601C4103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948C1D-6BBB-7F7D-63E4-0BC2A178F23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78CD4CAE-FEBE-FF29-AD08-61A4B7C1881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8E20951-FEC1-58C5-7654-653C5580D9F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87E36A-2485-BD69-129E-B9D444B7D47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50A7C6F-58BF-C3E8-1214-D4A484F3F35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50751CC-279F-5C4D-6C51-B5394CABA0D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C116E7A-A098-158F-3F4B-D7A8A7C8A2AD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5B102E6-2ED9-4CA8-D9FA-B872EC764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4BA92C9-1859-47AC-7EA2-3E735A63D607}"/>
              </a:ext>
            </a:extLst>
          </p:cNvPr>
          <p:cNvSpPr txBox="1"/>
          <p:nvPr/>
        </p:nvSpPr>
        <p:spPr>
          <a:xfrm>
            <a:off x="1143000" y="2604343"/>
            <a:ext cx="160430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ENTREVISTA</a:t>
            </a:r>
            <a:endParaRPr lang="pt-BR" altLang="pt-BR" sz="3200" b="1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endParaRPr lang="pt-BR" altLang="pt-BR" sz="32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Existem dois tipos de entrevistas (</a:t>
            </a: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Sommerville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2007): </a:t>
            </a:r>
          </a:p>
          <a:p>
            <a:pPr algn="just"/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Entrevistas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fechadas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perguntas são definidas previamente e o stakeholder irá respondê-la dá forma que foi concebida; e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Entrevistas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abertas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em que não há um roteiro predefinido de questões, o engenheiro de requisitos explora diversos assuntos com a finalidade de obter uma maior compreensão sobre as necessidades do stakeholder. </a:t>
            </a:r>
            <a:endParaRPr lang="pt-BR" altLang="pt-BR" sz="5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98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3131-4213-11D1-19FC-D6A91E03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9A5D76B-28A2-B2D7-844F-1766EB3A242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7F2313B-FC8B-09A7-04B8-8A142D6A5C8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C0C6AE3-5BDF-AD6D-FD90-1EC4DEDFFEF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6A6C873-7306-9899-7369-668205E9768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933F999-F80B-427C-6D7E-A42322362418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1489C56-4E62-7E3E-8B84-5CB31B008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CF0CB26-0F27-AB75-5E93-51333F5DA72F}"/>
              </a:ext>
            </a:extLst>
          </p:cNvPr>
          <p:cNvSpPr txBox="1"/>
          <p:nvPr/>
        </p:nvSpPr>
        <p:spPr>
          <a:xfrm>
            <a:off x="1143000" y="2604343"/>
            <a:ext cx="160430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ENTREVISTA</a:t>
            </a:r>
            <a:endParaRPr lang="pt-BR" altLang="pt-BR" sz="3200" b="1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endParaRPr lang="pt-BR" altLang="pt-BR" sz="32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vantagens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da utilização dessa técnica é que ela é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mais flexível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 tem o objetivo de adquirir informações de caráter subjetivo. Além disso, aproxima o engenheiro de requisitos do usuário do sistema, fazendo com que o usuário se sinta atuante do desenvolvimento do sistema.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desvantagens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seriam o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custo de tempo e esforço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caso precise o engenheiro de requisitos entrevistar inúmeros usuários do sistema. Isso resultaria em uma maior dificuldade para tabular todos os dados obtidos (MARTINS, 2001). </a:t>
            </a:r>
            <a:endParaRPr lang="pt-BR" altLang="pt-BR" sz="6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69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FC36-AC6E-F160-41C4-712BABC1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5521FDA-45F9-47A5-3D1F-C8A947CB0CE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AD20E7E-F885-8A01-A08A-7E66F974DED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1EF911B-635F-1BC1-4E88-315D28C6E90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9FFF4C-E2BD-9A01-C527-F8FC659E28D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B727021-B3AA-1C2F-7748-87A406BDA37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CD88C8-2EDB-18A6-390C-279ACFC972FD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38CAFD5-8C4C-155A-F453-32686EBA44FF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DB5409D-CB99-A4B7-66C0-E71014A5C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2CB9B1E-DC87-BC26-56F5-4687B70083CA}"/>
              </a:ext>
            </a:extLst>
          </p:cNvPr>
          <p:cNvSpPr txBox="1"/>
          <p:nvPr/>
        </p:nvSpPr>
        <p:spPr>
          <a:xfrm>
            <a:off x="1143000" y="2604343"/>
            <a:ext cx="1604308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QUESTIONÁRIO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das técnicas de elicitação de requisitos que pode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abranger um grande de número de pessoas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é o questionário. O seu uso é essencial quando se deseja obter informações de inúmeras pessoas.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Justifica-se a sua aplicabilidade quando há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indisponibilidade física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dispersão das pessoas envolvidas no projeto ou, até mesmo, quando há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necessidade de um levantamento estatístico das pessoas que utilizaram o sistema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</a:t>
            </a:r>
            <a:endParaRPr lang="pt-BR" altLang="pt-BR" sz="8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704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6965-A64F-627E-C9B5-A7CECE4B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1831E1C-0B67-4216-938F-F273B8AE97F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5DC2676-EA44-751F-C7B0-29D2336135F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876DE1F-09D2-AD63-74B9-BE22EA7CF76D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A8954BF-B3A7-C4B8-B774-F6D995543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1608815-71DF-8BAE-5CD1-ECE93B1A9F54}"/>
              </a:ext>
            </a:extLst>
          </p:cNvPr>
          <p:cNvSpPr txBox="1"/>
          <p:nvPr/>
        </p:nvSpPr>
        <p:spPr>
          <a:xfrm>
            <a:off x="1101881" y="2132390"/>
            <a:ext cx="16043086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QUESTIONÁRIO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 processo de criação do questionário não é tão simples como pode aparentar. É preciso usar uma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metodologia para a formulação das questões, de acordo com o perfil de usuários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que irão responder o questionário.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planejamento adequado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sobre o conteúdo, formato, ordem, clareza e não ambiguidade das questões são fatores relevantes na construção do questionário.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Outros itens a levar em consideração é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prever antecipadamente dúvidas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que podem surgir e evitar que ele seja muito extenso (BRAGA, 2008).</a:t>
            </a:r>
            <a:endParaRPr lang="pt-BR" altLang="pt-BR" sz="88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77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B65E-5DA7-3574-EB61-4F4B08F4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1E30E0-4F5D-8209-0FE0-A499F7C2669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0AB414E9-812F-A2EF-1599-B68BF9425B8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28269A9-7308-C5C2-DA43-697018144C2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EA12146-F9EE-CC00-4FB8-BF75E5E1B41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EEA7436-3FC2-C570-4379-B0E6B7EF470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0CCC822-6475-642C-C0F3-A47A834AAF8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79A451A-CEAC-FFBC-C333-5885A57E1939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8919203-F396-BB4C-089C-897949740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CF17C0-42E6-1CA4-049D-5B314FEC2AE3}"/>
              </a:ext>
            </a:extLst>
          </p:cNvPr>
          <p:cNvSpPr txBox="1"/>
          <p:nvPr/>
        </p:nvSpPr>
        <p:spPr>
          <a:xfrm>
            <a:off x="1143000" y="2604343"/>
            <a:ext cx="160430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QUESTIONÁRIO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Apesar de esta técnica ser de extrema utilidade, ela possui uma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desvantagem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inflexibilidade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pois impossibilita a análise de questões subjetivas, as quais podem ser de grande importância para o entendimento do problema analisado (MARTINS, 2001). </a:t>
            </a:r>
            <a:endParaRPr lang="pt-BR" altLang="pt-BR" sz="88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39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9EBE-ABCD-E309-6F58-6178F1DE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F56556-00AA-272F-F2BE-F209C163498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FCBF027-D733-15CF-352A-C3E61200087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BCBBF91-FF77-F172-605D-B74B315FA50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806D3DC-07E3-DE43-3B1F-B2061DD9E44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17C76BE-1F58-C369-92A9-2D188DEA36AE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2087454-3228-21AB-D9EB-D331C1B8837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51452FA-5B09-A07E-4111-35B1DF40434C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7CA6E7D-D359-B226-0054-9E072080B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773E60A-DA86-E91A-FCB0-F423C64F3CA4}"/>
              </a:ext>
            </a:extLst>
          </p:cNvPr>
          <p:cNvSpPr txBox="1"/>
          <p:nvPr/>
        </p:nvSpPr>
        <p:spPr>
          <a:xfrm>
            <a:off x="1143000" y="2604343"/>
            <a:ext cx="160430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OBSERVAÇÃO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observação é uma técnica de grande utilidade para aquisição de requisitos.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Ela possibilita 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inserção do desenvolvedor no ambiente de trabalho em que o usuário ou grupo de usuários trabalham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o qual observa as tarefas executadas pelo usuário,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sem interferir no ambiente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O intuito é obter requisitos através da análise das tarefas realizadas pelo usuário.</a:t>
            </a:r>
            <a:endParaRPr lang="pt-BR" altLang="pt-BR" sz="16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28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5159-CD1C-32D3-26DB-159A33FF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24CFE5-A207-A3D0-0DCE-F2CF879C23E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8D04593-2191-ADAF-B04E-D4C57230DCF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0E69639-71F2-5E2F-C1F0-CAB8CA9A83D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D9BF1FE-2D52-8AD0-B0D3-E8F6A288695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DCBDF78-D821-615C-513F-7F92E4FED7C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F116DC6-AAAE-C51B-9433-FDEB0E33D63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428FC02-D544-7F51-1D3C-809BB9A70AF2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B018C01-7633-776B-46D4-E9DC7FA5A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3319A40-1F53-52E9-7F6E-A0279D4B6010}"/>
              </a:ext>
            </a:extLst>
          </p:cNvPr>
          <p:cNvSpPr txBox="1"/>
          <p:nvPr/>
        </p:nvSpPr>
        <p:spPr>
          <a:xfrm>
            <a:off x="1143000" y="2604343"/>
            <a:ext cx="1604308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OBSERVAÇÃO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das técnicas de observação utilizadas para elicitação de requisitos, muito empregada na área das ciências sociais, é a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etnografia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Sommerville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(2007) define como uma técnica de observação que pode ser usada para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compreender os requisitos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sociais e organizacionais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implícitos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de um sistema. Ou seja, o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desenvolvedor observa o dia-a-dia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com a finalidade de anotar as tarefas reais dos usuários envolvidos.</a:t>
            </a:r>
            <a:endParaRPr lang="pt-BR" altLang="pt-BR" sz="23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157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D168-61C4-C119-BBE9-E513F5BD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B31593-9311-F14F-4D16-6D8C61EFF43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9B5E246-12DF-3862-28C5-DD7FBE67EB4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1093F81-050C-4E97-DD9C-4C6E35DCBCE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4BD6AEC-6593-0475-A0BD-3362601E345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024FA2C-B3FC-C48B-7F79-86CA3C5EA55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1F16093-FF44-9A00-2939-AA1A4F2E6DB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8B9E8381-258E-89BD-081A-8DB80DE38B9B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E1BE340-D652-6C47-3570-D69FA1D72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A21A1FB-1E79-7FC8-500C-77BD50B1BB90}"/>
              </a:ext>
            </a:extLst>
          </p:cNvPr>
          <p:cNvSpPr txBox="1"/>
          <p:nvPr/>
        </p:nvSpPr>
        <p:spPr>
          <a:xfrm>
            <a:off x="1143000" y="2604343"/>
            <a:ext cx="1604308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JOIN APPLICATION DEVELOPMENT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Nos anos 70 a IBM desenvolveu uma técnica para a elicitação de requisitos chamada Joint </a:t>
            </a: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Application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Development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(JAD).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Ela visa criar sessões de trabalho estruturadas, através de uma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dinâmica de grupo e recursos visuais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em que os stakeholders envolvidos trabalham no intuito de encontrar os requisitos básicos até o layout de telas e relatórios do sistema a ser desenvolvido (CARVALHO, 2003).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Além disso, a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JAD promove a cooperação e o entendimento entre os desenvolvedores e usuários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(ELLWANGER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2005). </a:t>
            </a:r>
            <a:endParaRPr lang="pt-BR" altLang="pt-BR" sz="398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22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01A30-C883-DA57-9771-D17BC5BF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9779F1-B482-20EE-00F6-874EEB9C46B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C54664DE-C49F-EA57-6761-4B8931EFE62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D3BA1B5-4C56-8D22-724C-64F004C4440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203EDA6-E184-2055-BE73-BA032FAC4D7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0EF8798-4D5B-2D21-6219-EEAA369E657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80B1178-3EC1-E4F6-8972-837F939A4E2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DD9BC34-83CA-4541-2183-C99C3CAD63E7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A541550-C176-8E01-E775-09E18EA37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3C6E224-28C4-876B-C207-190A335B65F3}"/>
              </a:ext>
            </a:extLst>
          </p:cNvPr>
          <p:cNvSpPr txBox="1"/>
          <p:nvPr/>
        </p:nvSpPr>
        <p:spPr>
          <a:xfrm>
            <a:off x="1143000" y="2604343"/>
            <a:ext cx="1604308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JOIN APPLICATION DEVELOPMENT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Essa técnica se baseia em quatro princípios básicos: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dinâmica de grupo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a qual possui um facilitador para estimular a capacidade dos indivíduos envolvidos;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técnicas audiovisuais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visa aumentar a comunicação e o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entendimento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entre os participantes;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manutenção do processo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organizado e racional e a documentação padrão em que os participantes da reunião preenchem e assinam (CARVALHO, 2003). </a:t>
            </a:r>
            <a:endParaRPr lang="pt-BR" altLang="pt-BR" sz="478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16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DD2BE-7DCC-AD60-4D60-BA7309FA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5F3622-E0B9-0F87-C866-75EF93DAF54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3C136E5-E5C6-D0FB-9E58-DAA8F12F416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75A1F6F-0A1E-B2AD-4E65-A2DF360E8DF3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3B2613-EC6C-2DDF-DC84-47EAD1CF4DC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F9D67EF-74AE-6DAC-581E-4E38CCED270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E24363-D8CC-B63D-E741-A14356B0A6C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5863CE62-252E-0FB3-323E-F70E1FEFB126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EC834F1-E72B-06A9-7B82-ABC43425E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726BA68-02BB-55B5-668B-799FB83FA428}"/>
              </a:ext>
            </a:extLst>
          </p:cNvPr>
          <p:cNvSpPr txBox="1"/>
          <p:nvPr/>
        </p:nvSpPr>
        <p:spPr>
          <a:xfrm>
            <a:off x="1143000" y="2604343"/>
            <a:ext cx="1604308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JOIN APPLICATION DEVELOPMENT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metodologia JAD possui duas grandes etapas: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planejamento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cuja finalidade é levantar e especificar requisitos; e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projeto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em que se lida com o projeto do software.</a:t>
            </a:r>
            <a:endParaRPr lang="pt-BR" altLang="pt-BR" sz="688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53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E5E8-FAEB-78EC-E609-9838B7B2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48367F-4F9C-0A28-7A7E-F61A2449AF5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7BEED2A-06B0-A718-0F7D-753C461C854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1ECD529-D4F6-02A4-FFF3-FDC30B84742F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8EDA4E0-FD79-74C6-0F72-11AB5FDBEE7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EC5CEB-A8B9-60D2-4215-A031A0DC1AA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E3FFB8D-CEF4-B21B-E2E3-ADE57A1EB0E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1DE28E7-0DCB-7139-746A-3A17008C72D9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22EF2C7-4B52-2542-C477-C5C4EE2D2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AB1CDC7-C2D4-53C6-8D25-17342AA52545}"/>
              </a:ext>
            </a:extLst>
          </p:cNvPr>
          <p:cNvSpPr txBox="1"/>
          <p:nvPr/>
        </p:nvSpPr>
        <p:spPr>
          <a:xfrm>
            <a:off x="1143000" y="2604343"/>
            <a:ext cx="160430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JOIN APPLICATION DEVELOPMENT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experiências com a metodologia JAD que resultaram em sucesso mostraram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poucas mudanças de requisitos e uma redução de tempo e esforço gastos no levantamento de requisitos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 Isso torna essa técnica relevante para o processo de aquisição de requisitos (BRAGA, 2008).</a:t>
            </a:r>
            <a:endParaRPr lang="pt-BR" altLang="pt-BR" sz="992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782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E240-6E3B-9F77-8FCA-3197D313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00FD62-9760-DAFC-FC13-FD87F6CEC50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9EC67D4-9351-578D-6F34-1A600BAEB2D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EE8DB29-93AE-942F-4452-61D976A145A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8A7555B-E257-F5CD-DBC9-5D40FB0AFA4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6881626-08CC-C6FE-6123-58FA5D30674B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4F7BCF5-5E60-8F60-E25C-86517518B99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51E9F5A-0EC7-385D-2B75-049BA76EFB75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6EF37B1-63EE-BA51-59FA-69CFB59B7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98A2132-868D-45AC-7AF8-443B9D843B99}"/>
              </a:ext>
            </a:extLst>
          </p:cNvPr>
          <p:cNvSpPr txBox="1"/>
          <p:nvPr/>
        </p:nvSpPr>
        <p:spPr>
          <a:xfrm>
            <a:off x="1143000" y="2604343"/>
            <a:ext cx="160430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PROTOTIPAÇÃO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prototipação é uma técnica que visa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construir um protótipo inicial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do sistema proposto. É uma versão inicial do sistema de software usado para demonstrar conceitos, experimentar opções de projeto, conhecer mais sobre o problema e suas possíveis soluções.</a:t>
            </a:r>
            <a:endParaRPr lang="pt-BR" altLang="pt-BR" sz="1428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02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2DF0-90ED-4841-368B-4D76C8B0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C066576-8A55-E4B4-03EF-466A7ECD5D7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9A6EBF00-E37D-2298-C5C9-CD5CCC5336F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2C6F6FC-1D2D-37E1-41C1-D715A233628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83B448-CC9B-1677-4022-C0995395F3E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45A7744-D5D9-D614-C861-8405BE714AF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D1AB33E-A4AA-F945-6D46-5DE38FBD7AA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285C490-7F20-68C4-9981-2FC7CD6D693C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D2FF7C1-7F97-5444-9D4A-463ECDD3B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C2B63B5-D042-DE08-034B-3AC3C4AB2AE6}"/>
              </a:ext>
            </a:extLst>
          </p:cNvPr>
          <p:cNvSpPr txBox="1"/>
          <p:nvPr/>
        </p:nvSpPr>
        <p:spPr>
          <a:xfrm>
            <a:off x="1143000" y="2604343"/>
            <a:ext cx="160430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PROTOTIPAÇÃO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Os protótipos permitem que os usuários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experimentem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o software, podendo eles, usuários, verificarem como o protótipo auxilia no seu trabalho. Além disso, durante o seu uso, podem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revelar erros e omissões nos requisitos propostos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podendo os usuários apresentar novos requisitos para o sistema.</a:t>
            </a:r>
          </a:p>
        </p:txBody>
      </p:sp>
    </p:spTree>
    <p:extLst>
      <p:ext uri="{BB962C8B-B14F-4D97-AF65-F5344CB8AC3E}">
        <p14:creationId xmlns:p14="http://schemas.microsoft.com/office/powerpoint/2010/main" val="723189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AA71-5A72-DF8D-F198-5C5FA851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342883-5AA7-CC12-3975-80BBED38BE5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29F1092-538E-A7F1-60BF-B570345D16D0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491184F-B0FF-0E15-7F72-29D514D1CC4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8F095C-1B0C-B4D9-248C-B8B68A46CE1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C0107A9-C9EC-EA41-4C8F-77F50C1297D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1A2BEB-E5DA-AF3D-E43B-1F17F1780D1F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6CC355F-3317-E658-5EEE-0D4BBC89E33A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0B9A7A0-D64E-19D3-C5A7-298970ED4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AA99EBE-77D7-2038-CDDB-5B0030278B61}"/>
              </a:ext>
            </a:extLst>
          </p:cNvPr>
          <p:cNvSpPr txBox="1"/>
          <p:nvPr/>
        </p:nvSpPr>
        <p:spPr>
          <a:xfrm>
            <a:off x="1143000" y="2604343"/>
            <a:ext cx="160430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PROTOTIPAÇÃO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Outros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benefícios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dos protótipos são a possibilidade de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validação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dos requisitos encontrados e a verificação da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viabilidade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do projeto proposto (é um meio que os stakeholders encontram para saber se o desenvolvimento do sistema completo será muito custoso, acarretando na inviabilidade do projeto). </a:t>
            </a:r>
          </a:p>
        </p:txBody>
      </p:sp>
    </p:spTree>
    <p:extLst>
      <p:ext uri="{BB962C8B-B14F-4D97-AF65-F5344CB8AC3E}">
        <p14:creationId xmlns:p14="http://schemas.microsoft.com/office/powerpoint/2010/main" val="1250006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EAA9-05EB-2724-A103-5650D913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A273B5-C774-AB1A-F1AD-4DEF7C51C7F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405C1664-8233-6AD5-944C-26AC372361F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2F1F54E-89A8-BDD0-9C26-0910A0420BC6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9444A6-6B17-69DB-7C75-CC6260B5E55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E3239EC-35AC-E51D-98B3-C25E5C6EC4F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D34A519-B04B-499F-0B1B-B0CD45C462A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B2405964-36C5-3591-6E59-8F4C84466F40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CE49AE8-8792-1571-F933-06B40F1AC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2CABF25-0242-62ED-4053-563352DB3364}"/>
              </a:ext>
            </a:extLst>
          </p:cNvPr>
          <p:cNvSpPr txBox="1"/>
          <p:nvPr/>
        </p:nvSpPr>
        <p:spPr>
          <a:xfrm>
            <a:off x="1143000" y="2604343"/>
            <a:ext cx="1604308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PROTOTIPAÇÃO</a:t>
            </a:r>
            <a:r>
              <a:rPr lang="pt-BR" altLang="pt-BR" sz="40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Existem algumas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desvantagens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da utilização da prototipagem, dentre elas, está o risco de usar a estrutura do protótipo para a implementação da primeira versão do sistema (MARTINS, 2001) e quando o cliente é notificado que o protótipo precisa ser refeito para que os altos níveis de qualidade possam ser garantidos, o qual aparentemente estaria funcionando corretamente (PRESSMAN, 2006). </a:t>
            </a:r>
          </a:p>
        </p:txBody>
      </p:sp>
    </p:spTree>
    <p:extLst>
      <p:ext uri="{BB962C8B-B14F-4D97-AF65-F5344CB8AC3E}">
        <p14:creationId xmlns:p14="http://schemas.microsoft.com/office/powerpoint/2010/main" val="46063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8DA5-7DF7-A8EA-5197-791EA386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B2CD03B-E285-D8BF-D918-FC5A0FE4071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04C5AFA-F216-38F5-2183-7DC8A2D5445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68222D2-F3CE-E5D9-7863-DCE711861FC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FD7E5D3-AC28-A047-C546-748AA5F6499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C1D9588-0A21-760E-E811-72F322069AE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C67AE70-2B64-7E5C-5842-60DC0A6BEBA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387A50C-B941-0228-EF9C-0BC4A47A58BF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329FB2D-C56C-CBDD-BF86-9965D8984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B8FAE3-ECCA-2881-BF3C-B4FC5BFD79FA}"/>
              </a:ext>
            </a:extLst>
          </p:cNvPr>
          <p:cNvSpPr txBox="1"/>
          <p:nvPr/>
        </p:nvSpPr>
        <p:spPr>
          <a:xfrm>
            <a:off x="1143000" y="2604343"/>
            <a:ext cx="1604308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CASOS DE USO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modelagem baseada em casos de uso possui uma notação gráfica simples e uma descrição em linguagem natural o que facilita a comunicação entre o desenvolvedor e o usuário.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Foi incorporada pela Linguagem de Modelagem Unificada (UML) que é representada pelo diagrama de casos de uso.</a:t>
            </a:r>
          </a:p>
        </p:txBody>
      </p:sp>
    </p:spTree>
    <p:extLst>
      <p:ext uri="{BB962C8B-B14F-4D97-AF65-F5344CB8AC3E}">
        <p14:creationId xmlns:p14="http://schemas.microsoft.com/office/powerpoint/2010/main" val="3153328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F5D04-CC2F-A5BC-E45A-6D164B69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20B5DC-9A38-7B84-25E0-8A50CC9D43F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C57B5A2E-E74B-90D2-B2D7-5C4F85456ABE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B56B93C-864D-174E-CC96-C5F6F60CBAA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457D188-4510-6125-0316-7F35920006DD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E88C77E-23A9-F080-7AAF-6AFE6579EA4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342BFB8-45AE-E501-B077-2CAE9DA2A44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E0E643A-2C3C-CC38-5AD3-A89A51D9A0B2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BADEAD6-BDE1-72C2-A9FA-13E56AA7E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471ABF6-A9E7-780C-8A8F-B4F0FE3BCA8A}"/>
              </a:ext>
            </a:extLst>
          </p:cNvPr>
          <p:cNvSpPr txBox="1"/>
          <p:nvPr/>
        </p:nvSpPr>
        <p:spPr>
          <a:xfrm>
            <a:off x="1143000" y="2604343"/>
            <a:ext cx="1604308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CASOS DE USO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das características mais importantes dos casos de uso é que independentemente de sua forma, um caso de uso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descreve o software ou o sistema do ponto de vista do usuário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</a:t>
            </a:r>
            <a:endParaRPr lang="pt-BR" altLang="pt-BR" sz="4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179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3CCC-586C-6D9E-2FB8-D871CA88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F5B2D2-112C-96C5-2E84-F0710BA0A4A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6A99F45-C0BA-68F3-586C-98835926412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4DB026-EF48-4C2C-1BED-B417675130B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57729A-D272-3463-9B6F-41DBDC0B448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541A95F-9FA5-B1BF-30E5-EC3C3DF1151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0211191-7A84-6E85-4AA6-56327920743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B2BE349-3853-E51E-260C-CA04ADD6E7B0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1EBE372-9E9D-BACA-8C3A-85F762D92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10D7A24-B0CD-C216-ED35-6821BF78C4AB}"/>
              </a:ext>
            </a:extLst>
          </p:cNvPr>
          <p:cNvSpPr txBox="1"/>
          <p:nvPr/>
        </p:nvSpPr>
        <p:spPr>
          <a:xfrm>
            <a:off x="1143000" y="2604343"/>
            <a:ext cx="160430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CASOS DE USO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vantagens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do uso dessa técnica, dentro da engenharia de requisitos, são de grande relevância para a obtenção de requisitos de um software. Ela possibilita um meio mais adequado de interação com o usuário, facilitando a comunicação. </a:t>
            </a:r>
            <a:endParaRPr lang="pt-BR" altLang="pt-BR" sz="5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427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6F2B-01FE-4F94-D44D-EEE156EF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0E9CCD-BDC3-7D83-EBB5-AE4E20DED49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3B15BB5-339F-000F-E1B2-6D89546CC94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CAA0CFB-4A8A-4793-B8FF-689489FDB97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2F60199-2725-0938-6ACC-89E9F55B369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6C835B2-2A43-0101-1633-21358E30891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A269C8A-3AC8-E5CB-931A-9B28EA53F1F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31613E1-CE6F-2E79-7E7B-4BC1D5AD4324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702E3CC-33AC-285B-FAB0-5158562F0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CAC37E7-2B2B-D7F6-A223-AAF5BF9F1276}"/>
              </a:ext>
            </a:extLst>
          </p:cNvPr>
          <p:cNvSpPr txBox="1"/>
          <p:nvPr/>
        </p:nvSpPr>
        <p:spPr>
          <a:xfrm>
            <a:off x="1143000" y="2604343"/>
            <a:ext cx="1604308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CENÁRIOS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Essa técnica corresponde a uma descrição parcial do comportamento da aplicação.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Ela pode ocorrer em um dado momento e em uma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situação específica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Utiliza-se de uma coleção de narrativas de situações no domínio para levantar informações, identificar problemas e, com isso, resolver problemas antecipadamente.</a:t>
            </a:r>
            <a:endParaRPr lang="pt-BR" altLang="pt-BR" sz="6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198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C33A-9F9B-54B9-2942-04F905A5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55F6B52-1D25-291E-CD60-1ED4D62BF1B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47A5A83-9CBE-59C0-F360-A0A305B7019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0BE70B0-2B70-52E9-1AE5-E5D70C9D154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6B1542-184B-43DB-8A88-4E7F31994D4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279C9F8-A6CB-71BD-0726-5DC1976F7E9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B6AAF80-8616-1F36-E727-1A96F88282B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63E6EFF-4FF6-3AE4-27CA-66A790463308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E6405C2-8689-A42C-EF11-99915E6CC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01B5D30-6A18-027E-7425-10B2C5C5CC20}"/>
              </a:ext>
            </a:extLst>
          </p:cNvPr>
          <p:cNvSpPr txBox="1"/>
          <p:nvPr/>
        </p:nvSpPr>
        <p:spPr>
          <a:xfrm>
            <a:off x="1143000" y="2604343"/>
            <a:ext cx="1604308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CENÁRIOS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Os cenários devem ser elaborados durante as reuniões entre os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987860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4FB99-4BF7-25AB-8384-E8309AB7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EB24AE8-311A-9F57-C5B2-77E75E36CEA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26369AF-0493-5633-D327-8EEFA08CA6A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7406162-E59D-FEE7-132D-43645EBBCFD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8D299F-F585-6232-BB02-E6FADEED4D4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6257706-0363-E138-0249-6BC8A0C6D17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E163AC8-6F66-20D1-11B2-495BC4CAB26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4268F83-0E90-B77D-C6A3-FC121117266B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FE778BE-0EE3-3173-3D65-732C05D2E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A61747B-5925-AF01-4A71-6C510D0D5365}"/>
              </a:ext>
            </a:extLst>
          </p:cNvPr>
          <p:cNvSpPr txBox="1"/>
          <p:nvPr/>
        </p:nvSpPr>
        <p:spPr>
          <a:xfrm>
            <a:off x="1143000" y="2604343"/>
            <a:ext cx="160430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CENÁRIOS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 cenário deve possuir: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descrição do que os usuários esperam do sistema no início do cenário;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descrição do fluxo normal de eventos no cenário;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descrição do que pode ocasionar em erro e como isso será tratado;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relatar atividades que podem ocorrer simultaneamente e;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descrição do estado de sistema no fim do cenário. </a:t>
            </a:r>
            <a:endParaRPr lang="pt-BR" altLang="pt-BR" sz="4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177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4BB1-E794-0A6B-CD24-571C54AA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03241B-6D15-CB52-BA27-DFC51D585CC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49EB697-CD04-2B6D-729C-1D003FC378D3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BD2E6C3-A6D9-9735-ADF1-211C526C96E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243079-09ED-A16A-DFD7-6C2E620A8C0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C97C023-6868-73ED-8706-C707FAC349B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36BCD48-BADD-595F-8A7D-CD359210012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49CBF8F-C7A7-5B3B-103D-EB845DA01F20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22EBCC5-0F13-CE78-6916-AD9E22B02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37F52D2-0853-0CF8-D75E-D2BFD8A8EF62}"/>
              </a:ext>
            </a:extLst>
          </p:cNvPr>
          <p:cNvSpPr txBox="1"/>
          <p:nvPr/>
        </p:nvSpPr>
        <p:spPr>
          <a:xfrm>
            <a:off x="1143000" y="2604343"/>
            <a:ext cx="1604308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BRAINSTORMING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Ela consiste em uma reunião de especialistas de diversos setores, sendo que cada componente tem a função de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estimular ao outro a criação de ideias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visando à resolução do problema em questão.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ideias obtidas não devem ser criticadas.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Normalmente utiliza-se essa técnica na fase inicial do desenvolvimento quando pouco do projeto é conhecido e é vital a necessidade de novas ideias.</a:t>
            </a:r>
          </a:p>
        </p:txBody>
      </p:sp>
    </p:spTree>
    <p:extLst>
      <p:ext uri="{BB962C8B-B14F-4D97-AF65-F5344CB8AC3E}">
        <p14:creationId xmlns:p14="http://schemas.microsoft.com/office/powerpoint/2010/main" val="4216174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57401-2BB6-12F8-8098-95BF7BD9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E7F778E-7134-F3FD-A817-DBCB384CF58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FCD165B-3DD7-CF7E-8429-7BC038F3718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6BEEAB9-C2D4-1473-B00F-7CCD6AF3A63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2591FC8-ABF1-892A-C4F9-DD54980AAF4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22C8D6E-65FA-D531-43F5-F79B786130EA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291FD6A-39AE-9DEF-5BE6-BD0449B84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E51610-B904-3A5D-95AC-838D12C8CCCC}"/>
              </a:ext>
            </a:extLst>
          </p:cNvPr>
          <p:cNvSpPr txBox="1"/>
          <p:nvPr/>
        </p:nvSpPr>
        <p:spPr>
          <a:xfrm>
            <a:off x="1143000" y="2247900"/>
            <a:ext cx="1604308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BRAINSTORMING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técnica brainstorming objetiva 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geração de novas ideias através da liberdade dos participantes de criar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e esses de aceitar as ideias sugeridas.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Uma sessão bem sucedida de brainstorming resulta em conjunto de boas ideias e os participantes sentem que cada um contribuiu de alguma maneira para a solução do problema.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Brainstorming possui uma eficácia considerável para concepção de um sistema.</a:t>
            </a:r>
          </a:p>
        </p:txBody>
      </p:sp>
    </p:spTree>
    <p:extLst>
      <p:ext uri="{BB962C8B-B14F-4D97-AF65-F5344CB8AC3E}">
        <p14:creationId xmlns:p14="http://schemas.microsoft.com/office/powerpoint/2010/main" val="4244921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2470-50EC-661B-BD06-A1329000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4E43B4C-B549-9ACD-15AA-9D51C564071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F107BE0-4A2D-B975-738B-BE64929DC1D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0FFDF47-EC95-DC66-F996-9EF68F9D828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4D19A6A-CBAB-0261-3C85-5F49D991DBE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9C2ED3E-0678-C46A-CF79-1DF1B735BFE2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C3C1B50-D454-0CE3-E28B-B02D5F233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88B1AD5-D932-0CE9-3A62-C1FD6DE79CE2}"/>
              </a:ext>
            </a:extLst>
          </p:cNvPr>
          <p:cNvSpPr txBox="1"/>
          <p:nvPr/>
        </p:nvSpPr>
        <p:spPr>
          <a:xfrm>
            <a:off x="1143000" y="2247900"/>
            <a:ext cx="1604308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STORYTELLING/GROUP STORYTELLING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Group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Storytelling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é uma técnica que se baseia na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utilização de histórias em grupos de pessoas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incluindo organizações, como um método de comunicação para que os envolvidos possam compartilhar conhecimento.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 </a:t>
            </a: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Group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Storytelling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emprega o uso de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técnicas de contagem de histórias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que inspiram e motivam os participantes através de linguagens mais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cotidianas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criando um entretenimento maior durante o processo de estruturação do conhecimento. </a:t>
            </a:r>
          </a:p>
        </p:txBody>
      </p:sp>
    </p:spTree>
    <p:extLst>
      <p:ext uri="{BB962C8B-B14F-4D97-AF65-F5344CB8AC3E}">
        <p14:creationId xmlns:p14="http://schemas.microsoft.com/office/powerpoint/2010/main" val="3183943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23CE-D949-3E1A-E337-44B73238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F387D39-DB10-6818-AF74-71B4DDC086F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025305-EB1C-4B14-339D-366997212F4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8CE22CA-44D1-4911-3445-4730BCAA680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F6F074A-A96C-AC26-C496-2E697E6D52E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C984917-752A-57A3-885B-F4A059F6086D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E74A9D6-1EB4-EAA7-E2F5-15905CF8B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910B34D-0E3B-B3C9-069E-1305ADA9721A}"/>
              </a:ext>
            </a:extLst>
          </p:cNvPr>
          <p:cNvSpPr txBox="1"/>
          <p:nvPr/>
        </p:nvSpPr>
        <p:spPr>
          <a:xfrm>
            <a:off x="1143000" y="2247900"/>
            <a:ext cx="1604308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STORYTELLING/GROUP STORYTELLING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Os participantes são estimulados a narrar histórias relacionadas aos fatos cujo conhecimento se quer elicitar.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As histórias obtidas são compartilhadas com o grupo de pessoas envolvidas, o que resulta em compartilhamento de conhecimentos, agregação de novos conhecimentos e, por fim, em aprendizado.</a:t>
            </a:r>
          </a:p>
        </p:txBody>
      </p:sp>
    </p:spTree>
    <p:extLst>
      <p:ext uri="{BB962C8B-B14F-4D97-AF65-F5344CB8AC3E}">
        <p14:creationId xmlns:p14="http://schemas.microsoft.com/office/powerpoint/2010/main" val="4163045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00445-3513-3B70-A5B7-CD653482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A9D74BD-6426-84AF-4725-800E48E76E3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627146A-1E8C-1D1D-9150-D04CB1C4800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A70B256-6FEE-A818-FA3B-8019C7DD5CD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021F65-23A1-DE12-77ED-EDD28D4CA97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84EEA49C-13A4-9689-0CA1-7F07E75686BD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F2A6CAE-0595-BED3-3DC8-17E2528C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6816E68-A7C4-B179-E3DD-EC35D3C43832}"/>
              </a:ext>
            </a:extLst>
          </p:cNvPr>
          <p:cNvSpPr txBox="1"/>
          <p:nvPr/>
        </p:nvSpPr>
        <p:spPr>
          <a:xfrm>
            <a:off x="1143000" y="2247900"/>
            <a:ext cx="1604308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USER STORIES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User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Stories ou </a:t>
            </a:r>
            <a:r>
              <a:rPr lang="pt-BR" altLang="pt-BR" sz="36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histórias de usuários 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tem o mesmo propósito dos casos de uso, mas não é a mesma coisa.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 err="1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User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Stories são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descrições feitas pelos clientes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como funções, as quais gostariam que o sistema realizasse. Elas também servem para estimar o plano de entrega das versões do sistema e para que sejam criados testes de aceitação de software.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Estes testes indicam se o software cumpre mesmo o que cliente requisitou no seu plano inicial do sistema.</a:t>
            </a:r>
            <a:endParaRPr lang="pt-BR" altLang="pt-BR" sz="44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89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58A2-D545-4DDC-6794-C4954AA33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9D950B3-16A6-D7E3-0846-74D062F391A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41D565D-157F-B1B4-D8A3-B63C0964A82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1DEE23D-EA01-08AB-62C3-2F71C795753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968DD9F-90E2-29E2-A0BE-5549DA07427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B5E4653-21B6-CE67-CE40-E8803BEC8444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A697BF7-9C4F-D450-A1AC-3A3543A69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1D1B2B0-E28D-D109-8CED-47A239B94B27}"/>
              </a:ext>
            </a:extLst>
          </p:cNvPr>
          <p:cNvSpPr txBox="1"/>
          <p:nvPr/>
        </p:nvSpPr>
        <p:spPr>
          <a:xfrm>
            <a:off x="1143000" y="2247900"/>
            <a:ext cx="1604308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REUSO DE REQUISITOS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 engenharia de software baseada em reuso é uma estratégia de comparação de engenharia de software na qual o processo de desenvolvimento é voltado ao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reuso do software existente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4647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7B6B-FB2B-25E6-1F56-7811AEF40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DF88868-58EE-ACD4-F787-C37B579314A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6E17D6-5F78-F5FF-CA49-30990A359B9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FBCFEC5-2A3F-47A6-99EB-D7D25120D21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37B1B92-5CBD-861D-51B6-A8CA7026253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2300504-680B-0BDD-D458-BA3BB52CEC47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478C7A8-CCEB-0C89-5745-3C05D10B7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3321186-2C1F-B073-51C6-FD6C751F504C}"/>
              </a:ext>
            </a:extLst>
          </p:cNvPr>
          <p:cNvSpPr txBox="1"/>
          <p:nvPr/>
        </p:nvSpPr>
        <p:spPr>
          <a:xfrm>
            <a:off x="1143000" y="2247900"/>
            <a:ext cx="160430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REUSO DE REQUISITOS </a:t>
            </a:r>
          </a:p>
          <a:p>
            <a:pPr algn="just"/>
            <a:endParaRPr lang="pt-BR" altLang="pt-BR" sz="40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 reuso de requisitos, por exemplo, de acordo com diversos autores, deve ser orientado através de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métodos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esquemas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e </a:t>
            </a:r>
            <a:r>
              <a:rPr lang="pt-BR" altLang="pt-BR" sz="3600" u="sng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técnicas</a:t>
            </a: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para que seja realizado da melhor maneira possível. </a:t>
            </a:r>
          </a:p>
          <a:p>
            <a:pPr marL="571500" indent="-571500" algn="just">
              <a:buFont typeface="Courier New" panose="02070309020205020404" pitchFamily="49" charset="0"/>
              <a:buChar char="o"/>
            </a:pP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Seguindo essa escrita, garante-se economia no tempo de elicitação, análise e validação dos requisitos, além de economizar dinheiro, pois mais de 80% dos requisitos são mais ou menos os mesmos em cada projeto.</a:t>
            </a:r>
          </a:p>
        </p:txBody>
      </p:sp>
    </p:spTree>
    <p:extLst>
      <p:ext uri="{BB962C8B-B14F-4D97-AF65-F5344CB8AC3E}">
        <p14:creationId xmlns:p14="http://schemas.microsoft.com/office/powerpoint/2010/main" val="3359037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1F32-2BC1-D653-77B9-22D60869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9A98923-A93E-B647-750E-3490A842D1CB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DAAC0FA-D063-1E61-18E5-E2C48E85F42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499FBF0-D4C3-0466-CAB7-29A6ED91BED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C14DA58-B286-1ECB-9CFF-FB0155B6C7B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248BB1E-1563-E107-7F2C-0251226A7753}"/>
              </a:ext>
            </a:extLst>
          </p:cNvPr>
          <p:cNvSpPr txBox="1"/>
          <p:nvPr/>
        </p:nvSpPr>
        <p:spPr>
          <a:xfrm>
            <a:off x="2400588" y="1028700"/>
            <a:ext cx="147444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Técnicas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Levantamento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1165202-E673-BB2D-62C0-18D8A508F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92C6610-7E66-A07C-09AE-2E175ACB378D}"/>
              </a:ext>
            </a:extLst>
          </p:cNvPr>
          <p:cNvSpPr txBox="1"/>
          <p:nvPr/>
        </p:nvSpPr>
        <p:spPr>
          <a:xfrm>
            <a:off x="1143000" y="2247900"/>
            <a:ext cx="160430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4000" b="1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Leitura recomendada:</a:t>
            </a:r>
          </a:p>
          <a:p>
            <a:pPr algn="just"/>
            <a:endParaRPr lang="pt-BR" altLang="pt-BR" sz="4000" b="1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  <a:hlinkClick r:id="rId5"/>
              </a:rPr>
              <a:t>https://ric.cps.sp.gov.br/bitstream/123456789/13619/1/ads_2023_1_fernandoguerrierocardosodasilva_levantamentoderequisitos.pdf</a:t>
            </a: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r>
              <a:rPr lang="pt-BR" altLang="pt-BR" sz="3600" dirty="0"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  <a:hlinkClick r:id="rId6"/>
              </a:rPr>
              <a:t>https://revistas.fucamp.edu.br/index.php/getec/article/view/3398</a:t>
            </a:r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/>
            <a:endParaRPr lang="pt-BR" altLang="pt-BR" sz="3600" dirty="0">
              <a:solidFill>
                <a:srgbClr val="005F3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206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" y="8510024"/>
            <a:ext cx="4191000" cy="1776976"/>
            <a:chOff x="0" y="0"/>
            <a:chExt cx="6937514" cy="2941492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6937502" cy="2941447"/>
            </a:xfrm>
            <a:custGeom>
              <a:avLst/>
              <a:gdLst/>
              <a:ahLst/>
              <a:cxnLst/>
              <a:rect l="l" t="t" r="r" b="b"/>
              <a:pathLst>
                <a:path w="6937502" h="2941447">
                  <a:moveTo>
                    <a:pt x="0" y="0"/>
                  </a:moveTo>
                  <a:lnTo>
                    <a:pt x="6937502" y="0"/>
                  </a:lnTo>
                  <a:lnTo>
                    <a:pt x="6937502" y="2941447"/>
                  </a:lnTo>
                  <a:lnTo>
                    <a:pt x="0" y="294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2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43583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Freeform 18"/>
          <p:cNvSpPr/>
          <p:nvPr/>
        </p:nvSpPr>
        <p:spPr>
          <a:xfrm>
            <a:off x="6858000" y="3100541"/>
            <a:ext cx="2941357" cy="5409483"/>
          </a:xfrm>
          <a:custGeom>
            <a:avLst/>
            <a:gdLst/>
            <a:ahLst/>
            <a:cxnLst/>
            <a:rect l="l" t="t" r="r" b="b"/>
            <a:pathLst>
              <a:path w="1325617" h="3067967">
                <a:moveTo>
                  <a:pt x="0" y="0"/>
                </a:moveTo>
                <a:lnTo>
                  <a:pt x="1325617" y="0"/>
                </a:lnTo>
                <a:lnTo>
                  <a:pt x="1325617" y="3067966"/>
                </a:lnTo>
                <a:lnTo>
                  <a:pt x="0" y="3067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>
            <a:off x="2370830" y="1115598"/>
            <a:ext cx="9553178" cy="77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 ???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0C59DBF-ECB8-9BD0-434C-6F7C247A3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638" y="1482042"/>
            <a:ext cx="9553178" cy="165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Engetec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| Engenharia de Software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chaiene.minella@univille</a:t>
            </a:r>
            <a:r>
              <a:rPr lang="en-US" sz="360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.br</a:t>
            </a:r>
            <a:endParaRPr lang="en-US" sz="36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7fe0ac9-f7f7-4580-8b30-5aa7f0ac8e3b}" enabled="0" method="" siteId="{57fe0ac9-f7f7-4580-8b30-5aa7f0ac8e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2267</Words>
  <Application>Microsoft Office PowerPoint</Application>
  <PresentationFormat>Personalizar</PresentationFormat>
  <Paragraphs>210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Arial</vt:lpstr>
      <vt:lpstr> Avenir Next Arabic Bold</vt:lpstr>
      <vt:lpstr>Courier New</vt:lpstr>
      <vt:lpstr>Calibri</vt:lpstr>
      <vt:lpstr> Avenir Next Arabic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Template_Univille 60 anos.pptx</dc:title>
  <cp:lastModifiedBy>CHAIENE MERCEDES DA SILVA MINELLA</cp:lastModifiedBy>
  <cp:revision>2</cp:revision>
  <dcterms:created xsi:type="dcterms:W3CDTF">2006-08-16T00:00:00Z</dcterms:created>
  <dcterms:modified xsi:type="dcterms:W3CDTF">2026-09-03T12:15:37Z</dcterms:modified>
  <dc:identifier>DAGtVIDxolU</dc:identifier>
</cp:coreProperties>
</file>