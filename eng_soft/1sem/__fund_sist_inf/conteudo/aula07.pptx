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108"/>
  </p:notesMasterIdLst>
  <p:handoutMasterIdLst>
    <p:handoutMasterId r:id="rId109"/>
  </p:handoutMasterIdLst>
  <p:sldIdLst>
    <p:sldId id="256" r:id="rId2"/>
    <p:sldId id="269" r:id="rId3"/>
    <p:sldId id="299" r:id="rId4"/>
    <p:sldId id="307" r:id="rId5"/>
    <p:sldId id="304" r:id="rId6"/>
    <p:sldId id="305" r:id="rId7"/>
    <p:sldId id="306" r:id="rId8"/>
    <p:sldId id="308" r:id="rId9"/>
    <p:sldId id="309" r:id="rId10"/>
    <p:sldId id="310" r:id="rId11"/>
    <p:sldId id="315" r:id="rId12"/>
    <p:sldId id="311" r:id="rId13"/>
    <p:sldId id="312" r:id="rId14"/>
    <p:sldId id="313" r:id="rId15"/>
    <p:sldId id="314" r:id="rId16"/>
    <p:sldId id="316" r:id="rId17"/>
    <p:sldId id="317" r:id="rId18"/>
    <p:sldId id="318" r:id="rId19"/>
    <p:sldId id="300" r:id="rId20"/>
    <p:sldId id="319" r:id="rId21"/>
    <p:sldId id="320" r:id="rId22"/>
    <p:sldId id="32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22" r:id="rId33"/>
    <p:sldId id="323" r:id="rId34"/>
    <p:sldId id="324" r:id="rId35"/>
    <p:sldId id="341" r:id="rId36"/>
    <p:sldId id="342" r:id="rId37"/>
    <p:sldId id="343" r:id="rId38"/>
    <p:sldId id="344" r:id="rId39"/>
    <p:sldId id="345" r:id="rId40"/>
    <p:sldId id="346" r:id="rId41"/>
    <p:sldId id="347" r:id="rId42"/>
    <p:sldId id="348" r:id="rId43"/>
    <p:sldId id="349" r:id="rId44"/>
    <p:sldId id="326" r:id="rId45"/>
    <p:sldId id="327" r:id="rId46"/>
    <p:sldId id="329" r:id="rId47"/>
    <p:sldId id="331" r:id="rId48"/>
    <p:sldId id="328" r:id="rId49"/>
    <p:sldId id="330" r:id="rId50"/>
    <p:sldId id="325" r:id="rId51"/>
    <p:sldId id="350" r:id="rId52"/>
    <p:sldId id="351" r:id="rId53"/>
    <p:sldId id="359" r:id="rId54"/>
    <p:sldId id="352" r:id="rId55"/>
    <p:sldId id="353" r:id="rId56"/>
    <p:sldId id="354" r:id="rId57"/>
    <p:sldId id="355" r:id="rId58"/>
    <p:sldId id="356" r:id="rId59"/>
    <p:sldId id="357" r:id="rId60"/>
    <p:sldId id="358" r:id="rId61"/>
    <p:sldId id="360" r:id="rId62"/>
    <p:sldId id="362" r:id="rId63"/>
    <p:sldId id="363" r:id="rId64"/>
    <p:sldId id="364" r:id="rId65"/>
    <p:sldId id="365" r:id="rId66"/>
    <p:sldId id="366" r:id="rId67"/>
    <p:sldId id="367" r:id="rId68"/>
    <p:sldId id="368" r:id="rId69"/>
    <p:sldId id="361" r:id="rId70"/>
    <p:sldId id="370" r:id="rId71"/>
    <p:sldId id="369" r:id="rId72"/>
    <p:sldId id="371" r:id="rId73"/>
    <p:sldId id="372" r:id="rId74"/>
    <p:sldId id="373" r:id="rId75"/>
    <p:sldId id="374" r:id="rId76"/>
    <p:sldId id="375" r:id="rId77"/>
    <p:sldId id="376" r:id="rId78"/>
    <p:sldId id="377" r:id="rId79"/>
    <p:sldId id="378" r:id="rId80"/>
    <p:sldId id="379" r:id="rId81"/>
    <p:sldId id="380" r:id="rId82"/>
    <p:sldId id="381" r:id="rId83"/>
    <p:sldId id="382" r:id="rId84"/>
    <p:sldId id="383" r:id="rId85"/>
    <p:sldId id="384" r:id="rId86"/>
    <p:sldId id="385" r:id="rId87"/>
    <p:sldId id="386" r:id="rId88"/>
    <p:sldId id="387" r:id="rId89"/>
    <p:sldId id="388" r:id="rId90"/>
    <p:sldId id="389" r:id="rId91"/>
    <p:sldId id="390" r:id="rId92"/>
    <p:sldId id="391" r:id="rId93"/>
    <p:sldId id="437" r:id="rId94"/>
    <p:sldId id="545" r:id="rId95"/>
    <p:sldId id="546" r:id="rId96"/>
    <p:sldId id="544" r:id="rId97"/>
    <p:sldId id="547" r:id="rId98"/>
    <p:sldId id="548" r:id="rId99"/>
    <p:sldId id="592" r:id="rId100"/>
    <p:sldId id="593" r:id="rId101"/>
    <p:sldId id="594" r:id="rId102"/>
    <p:sldId id="595" r:id="rId103"/>
    <p:sldId id="596" r:id="rId104"/>
    <p:sldId id="597" r:id="rId105"/>
    <p:sldId id="598" r:id="rId106"/>
    <p:sldId id="259" r:id="rId107"/>
  </p:sldIdLst>
  <p:sldSz cx="9144000" cy="6858000" type="screen4x3"/>
  <p:notesSz cx="7010400" cy="92964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E878B-A8AD-46D6-9AFC-9BC392BDFC4A}" v="30" dt="2026-03-31T13:07:58.250"/>
  </p1510:revLst>
</p1510:revInfo>
</file>

<file path=ppt/tableStyles.xml><?xml version="1.0" encoding="utf-8"?>
<a:tblStyleLst xmlns:a="http://schemas.openxmlformats.org/drawingml/2006/main" def="{90651C3A-4460-11DB-9652-00E08161165F}"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22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0280"/>
    </p:cViewPr>
  </p:sorterViewPr>
  <p:notesViewPr>
    <p:cSldViewPr>
      <p:cViewPr varScale="1">
        <p:scale>
          <a:sx n="84" d="100"/>
          <a:sy n="84" d="100"/>
        </p:scale>
        <p:origin x="38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vo Medeiros" userId="52f93e62-72bc-4d5d-8e07-af043120901b" providerId="ADAL" clId="{40095463-1CA9-41B2-94DA-1CD85C949CC9}"/>
    <pc:docChg chg="undo custSel addSld delSld modSld sldOrd modMainMaster modNotesMaster">
      <pc:chgData name="Rosalvo Medeiros" userId="52f93e62-72bc-4d5d-8e07-af043120901b" providerId="ADAL" clId="{40095463-1CA9-41B2-94DA-1CD85C949CC9}" dt="2026-03-31T13:08:36.208" v="4157" actId="1076"/>
      <pc:docMkLst>
        <pc:docMk/>
      </pc:docMkLst>
      <pc:sldChg chg="addSp delSp modSp add mod delAnim">
        <pc:chgData name="Rosalvo Medeiros" userId="52f93e62-72bc-4d5d-8e07-af043120901b" providerId="ADAL" clId="{40095463-1CA9-41B2-94DA-1CD85C949CC9}" dt="2026-03-03T16:22:36.436" v="1294" actId="14100"/>
        <pc:sldMkLst>
          <pc:docMk/>
          <pc:sldMk cId="3079102378" sldId="319"/>
        </pc:sldMkLst>
        <pc:spChg chg="mod">
          <ac:chgData name="Rosalvo Medeiros" userId="52f93e62-72bc-4d5d-8e07-af043120901b" providerId="ADAL" clId="{40095463-1CA9-41B2-94DA-1CD85C949CC9}" dt="2026-03-03T16:19:10.642" v="1213" actId="14100"/>
          <ac:spMkLst>
            <pc:docMk/>
            <pc:sldMk cId="3079102378" sldId="319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03T16:22:36.436" v="1294" actId="14100"/>
          <ac:spMkLst>
            <pc:docMk/>
            <pc:sldMk cId="3079102378" sldId="319"/>
            <ac:spMk id="8" creationId="{41149D56-0B3A-778C-D5CE-F528114C5CBE}"/>
          </ac:spMkLst>
        </pc:spChg>
        <pc:picChg chg="add mod">
          <ac:chgData name="Rosalvo Medeiros" userId="52f93e62-72bc-4d5d-8e07-af043120901b" providerId="ADAL" clId="{40095463-1CA9-41B2-94DA-1CD85C949CC9}" dt="2026-03-03T16:22:12.645" v="1289" actId="1076"/>
          <ac:picMkLst>
            <pc:docMk/>
            <pc:sldMk cId="3079102378" sldId="319"/>
            <ac:picMk id="5" creationId="{12A42956-5EE3-F506-B879-C906CF0EC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03T16:26:37.201" v="1317" actId="1076"/>
        <pc:sldMkLst>
          <pc:docMk/>
          <pc:sldMk cId="2150312722" sldId="320"/>
        </pc:sldMkLst>
        <pc:spChg chg="add mod">
          <ac:chgData name="Rosalvo Medeiros" userId="52f93e62-72bc-4d5d-8e07-af043120901b" providerId="ADAL" clId="{40095463-1CA9-41B2-94DA-1CD85C949CC9}" dt="2026-03-03T16:23:13.455" v="1300" actId="14100"/>
          <ac:spMkLst>
            <pc:docMk/>
            <pc:sldMk cId="2150312722" sldId="320"/>
            <ac:spMk id="4" creationId="{D99EB38D-A23A-751C-BB51-5476EB30D7AB}"/>
          </ac:spMkLst>
        </pc:spChg>
        <pc:spChg chg="add mod">
          <ac:chgData name="Rosalvo Medeiros" userId="52f93e62-72bc-4d5d-8e07-af043120901b" providerId="ADAL" clId="{40095463-1CA9-41B2-94DA-1CD85C949CC9}" dt="2026-03-03T16:23:31.245" v="1303" actId="14100"/>
          <ac:spMkLst>
            <pc:docMk/>
            <pc:sldMk cId="2150312722" sldId="320"/>
            <ac:spMk id="7" creationId="{B9070AF3-5C6B-978D-509A-B32ECA7F0B86}"/>
          </ac:spMkLst>
        </pc:spChg>
        <pc:graphicFrameChg chg="add mod modGraphic">
          <ac:chgData name="Rosalvo Medeiros" userId="52f93e62-72bc-4d5d-8e07-af043120901b" providerId="ADAL" clId="{40095463-1CA9-41B2-94DA-1CD85C949CC9}" dt="2026-03-03T16:26:37.201" v="1317" actId="1076"/>
          <ac:graphicFrameMkLst>
            <pc:docMk/>
            <pc:sldMk cId="2150312722" sldId="320"/>
            <ac:graphicFrameMk id="22" creationId="{91790F47-9691-B17E-88C4-8205D5B333C7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03T16:31:41.899" v="1328" actId="1076"/>
        <pc:sldMkLst>
          <pc:docMk/>
          <pc:sldMk cId="3498275022" sldId="321"/>
        </pc:sldMkLst>
        <pc:picChg chg="add mod">
          <ac:chgData name="Rosalvo Medeiros" userId="52f93e62-72bc-4d5d-8e07-af043120901b" providerId="ADAL" clId="{40095463-1CA9-41B2-94DA-1CD85C949CC9}" dt="2026-03-03T16:31:41.899" v="1328" actId="1076"/>
          <ac:picMkLst>
            <pc:docMk/>
            <pc:sldMk cId="3498275022" sldId="321"/>
            <ac:picMk id="6" creationId="{679CC56B-0EB8-DB23-89C4-9FF22E3C929D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6:43:02.365" v="1357"/>
        <pc:sldMkLst>
          <pc:docMk/>
          <pc:sldMk cId="1950212582" sldId="322"/>
        </pc:sldMkLst>
        <pc:spChg chg="add mod">
          <ac:chgData name="Rosalvo Medeiros" userId="52f93e62-72bc-4d5d-8e07-af043120901b" providerId="ADAL" clId="{40095463-1CA9-41B2-94DA-1CD85C949CC9}" dt="2026-03-03T16:40:11.275" v="1333" actId="255"/>
          <ac:spMkLst>
            <pc:docMk/>
            <pc:sldMk cId="1950212582" sldId="322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43:02.365" v="1357"/>
          <ac:spMkLst>
            <pc:docMk/>
            <pc:sldMk cId="1950212582" sldId="322"/>
            <ac:spMk id="8" creationId="{8EB3B0B9-CC21-A000-0619-E1B43172EFDB}"/>
          </ac:spMkLst>
        </pc:spChg>
      </pc:sldChg>
      <pc:sldChg chg="modSp add modAnim">
        <pc:chgData name="Rosalvo Medeiros" userId="52f93e62-72bc-4d5d-8e07-af043120901b" providerId="ADAL" clId="{40095463-1CA9-41B2-94DA-1CD85C949CC9}" dt="2026-03-03T16:43:41.273" v="1361"/>
        <pc:sldMkLst>
          <pc:docMk/>
          <pc:sldMk cId="1295706215" sldId="323"/>
        </pc:sldMkLst>
        <pc:spChg chg="mod">
          <ac:chgData name="Rosalvo Medeiros" userId="52f93e62-72bc-4d5d-8e07-af043120901b" providerId="ADAL" clId="{40095463-1CA9-41B2-94DA-1CD85C949CC9}" dt="2026-03-03T16:42:06.893" v="1350"/>
          <ac:spMkLst>
            <pc:docMk/>
            <pc:sldMk cId="1295706215" sldId="323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2:53.554" v="1356" actId="20577"/>
          <ac:spMkLst>
            <pc:docMk/>
            <pc:sldMk cId="1295706215" sldId="323"/>
            <ac:spMk id="8" creationId="{8EB3B0B9-CC21-A000-0619-E1B43172EFD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6:53:56.073" v="1573" actId="20577"/>
        <pc:sldMkLst>
          <pc:docMk/>
          <pc:sldMk cId="2769118522" sldId="324"/>
        </pc:sldMkLst>
        <pc:spChg chg="add mod">
          <ac:chgData name="Rosalvo Medeiros" userId="52f93e62-72bc-4d5d-8e07-af043120901b" providerId="ADAL" clId="{40095463-1CA9-41B2-94DA-1CD85C949CC9}" dt="2026-03-03T16:48:30.677" v="1454" actId="14100"/>
          <ac:spMkLst>
            <pc:docMk/>
            <pc:sldMk cId="2769118522" sldId="324"/>
            <ac:spMk id="2" creationId="{01A907B9-87B8-7F82-65D1-17201EA17065}"/>
          </ac:spMkLst>
        </pc:spChg>
        <pc:spChg chg="mod">
          <ac:chgData name="Rosalvo Medeiros" userId="52f93e62-72bc-4d5d-8e07-af043120901b" providerId="ADAL" clId="{40095463-1CA9-41B2-94DA-1CD85C949CC9}" dt="2026-03-03T16:46:48.767" v="1381" actId="20577"/>
          <ac:spMkLst>
            <pc:docMk/>
            <pc:sldMk cId="2769118522" sldId="324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47:18.183" v="1451" actId="20577"/>
          <ac:spMkLst>
            <pc:docMk/>
            <pc:sldMk cId="2769118522" sldId="324"/>
            <ac:spMk id="8" creationId="{8EB3B0B9-CC21-A000-0619-E1B43172EFDB}"/>
          </ac:spMkLst>
        </pc:spChg>
        <pc:spChg chg="add mod">
          <ac:chgData name="Rosalvo Medeiros" userId="52f93e62-72bc-4d5d-8e07-af043120901b" providerId="ADAL" clId="{40095463-1CA9-41B2-94DA-1CD85C949CC9}" dt="2026-03-03T16:53:56.073" v="1573" actId="20577"/>
          <ac:spMkLst>
            <pc:docMk/>
            <pc:sldMk cId="2769118522" sldId="324"/>
            <ac:spMk id="9" creationId="{7E8BAFCC-9528-D11C-AE68-E59A8A3C6A1A}"/>
          </ac:spMkLst>
        </pc:spChg>
      </pc:sldChg>
      <pc:sldChg chg="modSp add mod">
        <pc:chgData name="Rosalvo Medeiros" userId="52f93e62-72bc-4d5d-8e07-af043120901b" providerId="ADAL" clId="{40095463-1CA9-41B2-94DA-1CD85C949CC9}" dt="2026-03-03T17:19:25.143" v="1723" actId="14100"/>
        <pc:sldMkLst>
          <pc:docMk/>
          <pc:sldMk cId="342854164" sldId="325"/>
        </pc:sldMkLst>
        <pc:spChg chg="mod">
          <ac:chgData name="Rosalvo Medeiros" userId="52f93e62-72bc-4d5d-8e07-af043120901b" providerId="ADAL" clId="{40095463-1CA9-41B2-94DA-1CD85C949CC9}" dt="2026-03-03T17:19:25.143" v="1723" actId="14100"/>
          <ac:spMkLst>
            <pc:docMk/>
            <pc:sldMk cId="342854164" sldId="325"/>
            <ac:spMk id="8" creationId="{8EB3B0B9-CC21-A000-0619-E1B43172EFDB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03T16:57:25.692" v="1596"/>
        <pc:sldMkLst>
          <pc:docMk/>
          <pc:sldMk cId="2660517713" sldId="326"/>
        </pc:sldMkLst>
        <pc:spChg chg="mod">
          <ac:chgData name="Rosalvo Medeiros" userId="52f93e62-72bc-4d5d-8e07-af043120901b" providerId="ADAL" clId="{40095463-1CA9-41B2-94DA-1CD85C949CC9}" dt="2026-03-03T16:55:48.881" v="1580"/>
          <ac:spMkLst>
            <pc:docMk/>
            <pc:sldMk cId="2660517713" sldId="326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6:57:08.010" v="1594" actId="255"/>
          <ac:spMkLst>
            <pc:docMk/>
            <pc:sldMk cId="2660517713" sldId="326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4:42.556" v="1635" actId="22"/>
        <pc:sldMkLst>
          <pc:docMk/>
          <pc:sldMk cId="4006406919" sldId="327"/>
        </pc:sldMkLst>
        <pc:spChg chg="mod">
          <ac:chgData name="Rosalvo Medeiros" userId="52f93e62-72bc-4d5d-8e07-af043120901b" providerId="ADAL" clId="{40095463-1CA9-41B2-94DA-1CD85C949CC9}" dt="2026-03-03T16:58:08.452" v="1599" actId="14100"/>
          <ac:spMkLst>
            <pc:docMk/>
            <pc:sldMk cId="4006406919" sldId="327"/>
            <ac:spMk id="4" creationId="{039D91EC-B026-370F-0F3F-D484E195BC9C}"/>
          </ac:spMkLst>
        </pc:spChg>
        <pc:spChg chg="mod">
          <ac:chgData name="Rosalvo Medeiros" userId="52f93e62-72bc-4d5d-8e07-af043120901b" providerId="ADAL" clId="{40095463-1CA9-41B2-94DA-1CD85C949CC9}" dt="2026-03-03T16:58:54.791" v="1618" actId="6549"/>
          <ac:spMkLst>
            <pc:docMk/>
            <pc:sldMk cId="4006406919" sldId="327"/>
            <ac:spMk id="7" creationId="{4F97DDEC-B689-325D-65A5-9EB5764C42A7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03T17:08:35.840" v="1657"/>
        <pc:sldMkLst>
          <pc:docMk/>
          <pc:sldMk cId="447731015" sldId="328"/>
        </pc:sldMkLst>
        <pc:spChg chg="mod">
          <ac:chgData name="Rosalvo Medeiros" userId="52f93e62-72bc-4d5d-8e07-af043120901b" providerId="ADAL" clId="{40095463-1CA9-41B2-94DA-1CD85C949CC9}" dt="2026-03-03T17:01:48.900" v="1620"/>
          <ac:spMkLst>
            <pc:docMk/>
            <pc:sldMk cId="447731015" sldId="328"/>
            <ac:spMk id="4" creationId="{039D91EC-B026-370F-0F3F-D484E195BC9C}"/>
          </ac:spMkLst>
        </pc:spChg>
        <pc:spChg chg="add mod">
          <ac:chgData name="Rosalvo Medeiros" userId="52f93e62-72bc-4d5d-8e07-af043120901b" providerId="ADAL" clId="{40095463-1CA9-41B2-94DA-1CD85C949CC9}" dt="2026-03-03T17:07:07.825" v="1650"/>
          <ac:spMkLst>
            <pc:docMk/>
            <pc:sldMk cId="447731015" sldId="328"/>
            <ac:spMk id="5" creationId="{779604EF-678B-4E95-5FEF-CE54F5108B87}"/>
          </ac:spMkLst>
        </pc:spChg>
        <pc:spChg chg="mod">
          <ac:chgData name="Rosalvo Medeiros" userId="52f93e62-72bc-4d5d-8e07-af043120901b" providerId="ADAL" clId="{40095463-1CA9-41B2-94DA-1CD85C949CC9}" dt="2026-03-03T17:02:43.839" v="1626" actId="1076"/>
          <ac:spMkLst>
            <pc:docMk/>
            <pc:sldMk cId="447731015" sldId="328"/>
            <ac:spMk id="7" creationId="{4F97DDEC-B689-325D-65A5-9EB5764C42A7}"/>
          </ac:spMkLst>
        </pc:spChg>
        <pc:spChg chg="add mod">
          <ac:chgData name="Rosalvo Medeiros" userId="52f93e62-72bc-4d5d-8e07-af043120901b" providerId="ADAL" clId="{40095463-1CA9-41B2-94DA-1CD85C949CC9}" dt="2026-03-03T17:07:45.536" v="1654" actId="255"/>
          <ac:spMkLst>
            <pc:docMk/>
            <pc:sldMk cId="447731015" sldId="328"/>
            <ac:spMk id="10" creationId="{5650A760-3B1B-26E0-D024-5939B2677602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03T17:21:08.217" v="1728" actId="1076"/>
        <pc:sldMkLst>
          <pc:docMk/>
          <pc:sldMk cId="3807038001" sldId="329"/>
        </pc:sldMkLst>
        <pc:picChg chg="add mod">
          <ac:chgData name="Rosalvo Medeiros" userId="52f93e62-72bc-4d5d-8e07-af043120901b" providerId="ADAL" clId="{40095463-1CA9-41B2-94DA-1CD85C949CC9}" dt="2026-03-03T17:21:08.217" v="1728" actId="1076"/>
          <ac:picMkLst>
            <pc:docMk/>
            <pc:sldMk cId="3807038001" sldId="329"/>
            <ac:picMk id="10" creationId="{91ECFE90-3F22-3E55-65F5-EE166E997E0D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03T17:14:00.108" v="1705" actId="1076"/>
        <pc:sldMkLst>
          <pc:docMk/>
          <pc:sldMk cId="329634413" sldId="330"/>
        </pc:sldMkLst>
        <pc:spChg chg="add mod">
          <ac:chgData name="Rosalvo Medeiros" userId="52f93e62-72bc-4d5d-8e07-af043120901b" providerId="ADAL" clId="{40095463-1CA9-41B2-94DA-1CD85C949CC9}" dt="2026-03-03T17:12:48.217" v="1701" actId="207"/>
          <ac:spMkLst>
            <pc:docMk/>
            <pc:sldMk cId="329634413" sldId="330"/>
            <ac:spMk id="8" creationId="{1814FBEF-C228-ED28-A49A-62198E2B9D93}"/>
          </ac:spMkLst>
        </pc:spChg>
        <pc:spChg chg="mod">
          <ac:chgData name="Rosalvo Medeiros" userId="52f93e62-72bc-4d5d-8e07-af043120901b" providerId="ADAL" clId="{40095463-1CA9-41B2-94DA-1CD85C949CC9}" dt="2026-03-03T17:09:38.749" v="1661" actId="1076"/>
          <ac:spMkLst>
            <pc:docMk/>
            <pc:sldMk cId="329634413" sldId="330"/>
            <ac:spMk id="10" creationId="{5650A760-3B1B-26E0-D024-5939B2677602}"/>
          </ac:spMkLst>
        </pc:spChg>
        <pc:picChg chg="add mod">
          <ac:chgData name="Rosalvo Medeiros" userId="52f93e62-72bc-4d5d-8e07-af043120901b" providerId="ADAL" clId="{40095463-1CA9-41B2-94DA-1CD85C949CC9}" dt="2026-03-03T17:14:00.108" v="1705" actId="1076"/>
          <ac:picMkLst>
            <pc:docMk/>
            <pc:sldMk cId="329634413" sldId="330"/>
            <ac:picMk id="11" creationId="{91F380D2-9E82-D2C0-A80A-29E853B52A26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03T17:21:23.912" v="1734" actId="1076"/>
        <pc:sldMkLst>
          <pc:docMk/>
          <pc:sldMk cId="1668088582" sldId="331"/>
        </pc:sldMkLst>
        <pc:spChg chg="add mod">
          <ac:chgData name="Rosalvo Medeiros" userId="52f93e62-72bc-4d5d-8e07-af043120901b" providerId="ADAL" clId="{40095463-1CA9-41B2-94DA-1CD85C949CC9}" dt="2026-03-03T17:16:41.328" v="1714" actId="255"/>
          <ac:spMkLst>
            <pc:docMk/>
            <pc:sldMk cId="1668088582" sldId="331"/>
            <ac:spMk id="4" creationId="{64A18D7F-1BDB-1AA6-FDC2-8D0FECCC165B}"/>
          </ac:spMkLst>
        </pc:spChg>
        <pc:spChg chg="add mod">
          <ac:chgData name="Rosalvo Medeiros" userId="52f93e62-72bc-4d5d-8e07-af043120901b" providerId="ADAL" clId="{40095463-1CA9-41B2-94DA-1CD85C949CC9}" dt="2026-03-03T17:18:43.144" v="1718" actId="14100"/>
          <ac:spMkLst>
            <pc:docMk/>
            <pc:sldMk cId="1668088582" sldId="331"/>
            <ac:spMk id="6" creationId="{E8F36E52-9B9E-F9AE-C81A-6315BD317DCF}"/>
          </ac:spMkLst>
        </pc:spChg>
        <pc:picChg chg="add mod">
          <ac:chgData name="Rosalvo Medeiros" userId="52f93e62-72bc-4d5d-8e07-af043120901b" providerId="ADAL" clId="{40095463-1CA9-41B2-94DA-1CD85C949CC9}" dt="2026-03-03T17:21:23.912" v="1734" actId="1076"/>
          <ac:picMkLst>
            <pc:docMk/>
            <pc:sldMk cId="1668088582" sldId="331"/>
            <ac:picMk id="9" creationId="{F22C7806-4A34-C892-7B3B-6A20FD49FB3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0T17:54:27.616" v="1751" actId="14100"/>
        <pc:sldMkLst>
          <pc:docMk/>
          <pc:sldMk cId="2361028466" sldId="350"/>
        </pc:sldMkLst>
        <pc:spChg chg="mod">
          <ac:chgData name="Rosalvo Medeiros" userId="52f93e62-72bc-4d5d-8e07-af043120901b" providerId="ADAL" clId="{40095463-1CA9-41B2-94DA-1CD85C949CC9}" dt="2026-03-10T17:53:31.753" v="1744" actId="255"/>
          <ac:spMkLst>
            <pc:docMk/>
            <pc:sldMk cId="2361028466" sldId="350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0T17:54:27.616" v="1751" actId="14100"/>
          <ac:picMkLst>
            <pc:docMk/>
            <pc:sldMk cId="2361028466" sldId="350"/>
            <ac:picMk id="6" creationId="{B3136732-2A10-23D0-8508-155AFB14ACD6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0T18:40:03.388" v="1779" actId="20577"/>
        <pc:sldMkLst>
          <pc:docMk/>
          <pc:sldMk cId="2150962276" sldId="351"/>
        </pc:sldMkLst>
        <pc:spChg chg="mod">
          <ac:chgData name="Rosalvo Medeiros" userId="52f93e62-72bc-4d5d-8e07-af043120901b" providerId="ADAL" clId="{40095463-1CA9-41B2-94DA-1CD85C949CC9}" dt="2026-03-10T18:40:03.388" v="1779" actId="20577"/>
          <ac:spMkLst>
            <pc:docMk/>
            <pc:sldMk cId="2150962276" sldId="35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4" creationId="{BC59E624-2E3B-5394-8609-798C8B4633CD}"/>
          </ac:spMkLst>
        </pc:spChg>
        <pc:spChg chg="add mod">
          <ac:chgData name="Rosalvo Medeiros" userId="52f93e62-72bc-4d5d-8e07-af043120901b" providerId="ADAL" clId="{40095463-1CA9-41B2-94DA-1CD85C949CC9}" dt="2026-03-10T18:39:49.651" v="1764"/>
          <ac:spMkLst>
            <pc:docMk/>
            <pc:sldMk cId="2150962276" sldId="351"/>
            <ac:spMk id="5" creationId="{6F1C9DF2-45B8-343D-73CB-5BD373B6A9D5}"/>
          </ac:spMkLst>
        </pc:spChg>
        <pc:picChg chg="add mod">
          <ac:chgData name="Rosalvo Medeiros" userId="52f93e62-72bc-4d5d-8e07-af043120901b" providerId="ADAL" clId="{40095463-1CA9-41B2-94DA-1CD85C949CC9}" dt="2026-03-10T18:39:49.651" v="1764"/>
          <ac:picMkLst>
            <pc:docMk/>
            <pc:sldMk cId="2150962276" sldId="351"/>
            <ac:picMk id="2" creationId="{40A46240-633B-112C-E02E-632D2A866068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3:33:05.882" v="1828" actId="12"/>
        <pc:sldMkLst>
          <pc:docMk/>
          <pc:sldMk cId="3196452114" sldId="352"/>
        </pc:sldMkLst>
        <pc:spChg chg="add mod">
          <ac:chgData name="Rosalvo Medeiros" userId="52f93e62-72bc-4d5d-8e07-af043120901b" providerId="ADAL" clId="{40095463-1CA9-41B2-94DA-1CD85C949CC9}" dt="2026-03-17T13:33:05.882" v="1828" actId="12"/>
          <ac:spMkLst>
            <pc:docMk/>
            <pc:sldMk cId="3196452114" sldId="352"/>
            <ac:spMk id="7" creationId="{D6501378-7BF3-BD96-664F-933FAE8B9B2C}"/>
          </ac:spMkLst>
        </pc:spChg>
        <pc:graphicFrameChg chg="add mod modGraphic">
          <ac:chgData name="Rosalvo Medeiros" userId="52f93e62-72bc-4d5d-8e07-af043120901b" providerId="ADAL" clId="{40095463-1CA9-41B2-94DA-1CD85C949CC9}" dt="2026-03-17T13:32:33.658" v="1825" actId="14734"/>
          <ac:graphicFrameMkLst>
            <pc:docMk/>
            <pc:sldMk cId="3196452114" sldId="352"/>
            <ac:graphicFrameMk id="10" creationId="{E1396DC7-BC2D-1D34-D80E-1AF66201A417}"/>
          </ac:graphicFrameMkLst>
        </pc:graphicFrameChg>
      </pc:sldChg>
      <pc:sldChg chg="addSp delSp modSp add mod delAnim">
        <pc:chgData name="Rosalvo Medeiros" userId="52f93e62-72bc-4d5d-8e07-af043120901b" providerId="ADAL" clId="{40095463-1CA9-41B2-94DA-1CD85C949CC9}" dt="2026-03-17T13:35:11.242" v="1838" actId="1076"/>
        <pc:sldMkLst>
          <pc:docMk/>
          <pc:sldMk cId="19228265" sldId="353"/>
        </pc:sldMkLst>
        <pc:spChg chg="add mod">
          <ac:chgData name="Rosalvo Medeiros" userId="52f93e62-72bc-4d5d-8e07-af043120901b" providerId="ADAL" clId="{40095463-1CA9-41B2-94DA-1CD85C949CC9}" dt="2026-03-17T13:35:11.242" v="1838" actId="1076"/>
          <ac:spMkLst>
            <pc:docMk/>
            <pc:sldMk cId="19228265" sldId="353"/>
            <ac:spMk id="5" creationId="{7A5D4652-55FF-1CF2-7D6F-89465BEDFE29}"/>
          </ac:spMkLst>
        </pc:spChg>
        <pc:picChg chg="mod">
          <ac:chgData name="Rosalvo Medeiros" userId="52f93e62-72bc-4d5d-8e07-af043120901b" providerId="ADAL" clId="{40095463-1CA9-41B2-94DA-1CD85C949CC9}" dt="2026-03-17T13:35:08.560" v="1837" actId="14100"/>
          <ac:picMkLst>
            <pc:docMk/>
            <pc:sldMk cId="19228265" sldId="353"/>
            <ac:picMk id="2" creationId="{40A46240-633B-112C-E02E-632D2A866068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3:39:50.761" v="1872" actId="478"/>
        <pc:sldMkLst>
          <pc:docMk/>
          <pc:sldMk cId="84815008" sldId="354"/>
        </pc:sldMkLst>
        <pc:spChg chg="add mod">
          <ac:chgData name="Rosalvo Medeiros" userId="52f93e62-72bc-4d5d-8e07-af043120901b" providerId="ADAL" clId="{40095463-1CA9-41B2-94DA-1CD85C949CC9}" dt="2026-03-17T13:38:11.727" v="1858" actId="1076"/>
          <ac:spMkLst>
            <pc:docMk/>
            <pc:sldMk cId="84815008" sldId="354"/>
            <ac:spMk id="6" creationId="{0481113F-2C37-F7B0-C9FD-F947E583F491}"/>
          </ac:spMkLst>
        </pc:spChg>
        <pc:spChg chg="add mod">
          <ac:chgData name="Rosalvo Medeiros" userId="52f93e62-72bc-4d5d-8e07-af043120901b" providerId="ADAL" clId="{40095463-1CA9-41B2-94DA-1CD85C949CC9}" dt="2026-03-17T13:38:14.361" v="1859" actId="1076"/>
          <ac:spMkLst>
            <pc:docMk/>
            <pc:sldMk cId="84815008" sldId="354"/>
            <ac:spMk id="10" creationId="{9CBFFAB6-7123-3273-9128-16627DD4CB19}"/>
          </ac:spMkLst>
        </pc:spChg>
        <pc:spChg chg="add mod">
          <ac:chgData name="Rosalvo Medeiros" userId="52f93e62-72bc-4d5d-8e07-af043120901b" providerId="ADAL" clId="{40095463-1CA9-41B2-94DA-1CD85C949CC9}" dt="2026-03-17T13:38:53.413" v="1868" actId="1076"/>
          <ac:spMkLst>
            <pc:docMk/>
            <pc:sldMk cId="84815008" sldId="354"/>
            <ac:spMk id="14" creationId="{F98BD5DA-8604-EC6E-4CA5-8A985F3BA5DD}"/>
          </ac:spMkLst>
        </pc:spChg>
        <pc:graphicFrameChg chg="add mod modGraphic">
          <ac:chgData name="Rosalvo Medeiros" userId="52f93e62-72bc-4d5d-8e07-af043120901b" providerId="ADAL" clId="{40095463-1CA9-41B2-94DA-1CD85C949CC9}" dt="2026-03-17T13:38:55.544" v="1869" actId="1076"/>
          <ac:graphicFrameMkLst>
            <pc:docMk/>
            <pc:sldMk cId="84815008" sldId="354"/>
            <ac:graphicFrameMk id="15" creationId="{F07B8C7F-EE0D-8AFA-280A-B761306FA506}"/>
          </ac:graphicFrameMkLst>
        </pc:graphicFrameChg>
      </pc:sldChg>
      <pc:sldChg chg="addSp delSp modSp add mod addAnim delAnim modAnim">
        <pc:chgData name="Rosalvo Medeiros" userId="52f93e62-72bc-4d5d-8e07-af043120901b" providerId="ADAL" clId="{40095463-1CA9-41B2-94DA-1CD85C949CC9}" dt="2026-03-17T13:47:21.778" v="1900"/>
        <pc:sldMkLst>
          <pc:docMk/>
          <pc:sldMk cId="358685829" sldId="355"/>
        </pc:sldMkLst>
        <pc:spChg chg="add mod">
          <ac:chgData name="Rosalvo Medeiros" userId="52f93e62-72bc-4d5d-8e07-af043120901b" providerId="ADAL" clId="{40095463-1CA9-41B2-94DA-1CD85C949CC9}" dt="2026-03-17T13:42:42.673" v="1883" actId="108"/>
          <ac:spMkLst>
            <pc:docMk/>
            <pc:sldMk cId="358685829" sldId="355"/>
            <ac:spMk id="5" creationId="{0C83EA02-0FDF-B2C2-065D-D391693C72F4}"/>
          </ac:spMkLst>
        </pc:spChg>
        <pc:spChg chg="add mod">
          <ac:chgData name="Rosalvo Medeiros" userId="52f93e62-72bc-4d5d-8e07-af043120901b" providerId="ADAL" clId="{40095463-1CA9-41B2-94DA-1CD85C949CC9}" dt="2026-03-17T13:44:26.343" v="1893" actId="1076"/>
          <ac:spMkLst>
            <pc:docMk/>
            <pc:sldMk cId="358685829" sldId="355"/>
            <ac:spMk id="8" creationId="{7BEE41FE-A6DC-F1C7-F169-5CB003487C20}"/>
          </ac:spMkLst>
        </pc:spChg>
        <pc:spChg chg="add mod">
          <ac:chgData name="Rosalvo Medeiros" userId="52f93e62-72bc-4d5d-8e07-af043120901b" providerId="ADAL" clId="{40095463-1CA9-41B2-94DA-1CD85C949CC9}" dt="2026-03-17T13:46:57.543" v="1898" actId="1076"/>
          <ac:spMkLst>
            <pc:docMk/>
            <pc:sldMk cId="358685829" sldId="355"/>
            <ac:spMk id="13" creationId="{D3087CFE-8A30-109C-48C3-047F6C3A6A82}"/>
          </ac:spMkLst>
        </pc:spChg>
      </pc:sldChg>
      <pc:sldChg chg="addSp delSp modSp add mod delAnim modAnim">
        <pc:chgData name="Rosalvo Medeiros" userId="52f93e62-72bc-4d5d-8e07-af043120901b" providerId="ADAL" clId="{40095463-1CA9-41B2-94DA-1CD85C949CC9}" dt="2026-03-17T14:03:24.695" v="1953"/>
        <pc:sldMkLst>
          <pc:docMk/>
          <pc:sldMk cId="3185482089" sldId="356"/>
        </pc:sldMkLst>
        <pc:spChg chg="add mod">
          <ac:chgData name="Rosalvo Medeiros" userId="52f93e62-72bc-4d5d-8e07-af043120901b" providerId="ADAL" clId="{40095463-1CA9-41B2-94DA-1CD85C949CC9}" dt="2026-03-17T13:49:38.273" v="1915" actId="948"/>
          <ac:spMkLst>
            <pc:docMk/>
            <pc:sldMk cId="3185482089" sldId="356"/>
            <ac:spMk id="6" creationId="{B3F0EA1D-A131-80A1-D8E4-DE9FD4447ABC}"/>
          </ac:spMkLst>
        </pc:spChg>
        <pc:spChg chg="add mod">
          <ac:chgData name="Rosalvo Medeiros" userId="52f93e62-72bc-4d5d-8e07-af043120901b" providerId="ADAL" clId="{40095463-1CA9-41B2-94DA-1CD85C949CC9}" dt="2026-03-17T13:50:15.286" v="1919" actId="14100"/>
          <ac:spMkLst>
            <pc:docMk/>
            <pc:sldMk cId="3185482089" sldId="356"/>
            <ac:spMk id="9" creationId="{D48D4508-D9F4-8981-563A-340E17ED879E}"/>
          </ac:spMkLst>
        </pc:spChg>
        <pc:spChg chg="add mod">
          <ac:chgData name="Rosalvo Medeiros" userId="52f93e62-72bc-4d5d-8e07-af043120901b" providerId="ADAL" clId="{40095463-1CA9-41B2-94DA-1CD85C949CC9}" dt="2026-03-17T14:03:17.901" v="1952" actId="12"/>
          <ac:spMkLst>
            <pc:docMk/>
            <pc:sldMk cId="3185482089" sldId="356"/>
            <ac:spMk id="11" creationId="{1F24DFFA-6EFD-AAF5-3B44-8FAAFB781F14}"/>
          </ac:spMkLst>
        </pc:spChg>
      </pc:sldChg>
      <pc:sldChg chg="addSp delSp modSp add mod delAnim">
        <pc:chgData name="Rosalvo Medeiros" userId="52f93e62-72bc-4d5d-8e07-af043120901b" providerId="ADAL" clId="{40095463-1CA9-41B2-94DA-1CD85C949CC9}" dt="2026-03-17T14:05:21.193" v="1969" actId="948"/>
        <pc:sldMkLst>
          <pc:docMk/>
          <pc:sldMk cId="1386928387" sldId="357"/>
        </pc:sldMkLst>
        <pc:spChg chg="add mod">
          <ac:chgData name="Rosalvo Medeiros" userId="52f93e62-72bc-4d5d-8e07-af043120901b" providerId="ADAL" clId="{40095463-1CA9-41B2-94DA-1CD85C949CC9}" dt="2026-03-17T14:05:21.193" v="1969" actId="948"/>
          <ac:spMkLst>
            <pc:docMk/>
            <pc:sldMk cId="1386928387" sldId="357"/>
            <ac:spMk id="5" creationId="{AD2E484A-70E6-3E74-1D31-0EA739A4883D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17T14:29:06.142" v="2030"/>
        <pc:sldMkLst>
          <pc:docMk/>
          <pc:sldMk cId="1210108959" sldId="358"/>
        </pc:sldMkLst>
        <pc:spChg chg="add mod">
          <ac:chgData name="Rosalvo Medeiros" userId="52f93e62-72bc-4d5d-8e07-af043120901b" providerId="ADAL" clId="{40095463-1CA9-41B2-94DA-1CD85C949CC9}" dt="2026-03-17T14:28:36.921" v="2023" actId="208"/>
          <ac:spMkLst>
            <pc:docMk/>
            <pc:sldMk cId="1210108959" sldId="358"/>
            <ac:spMk id="6" creationId="{6F0439FE-F523-D1ED-355E-50BEDC424BCE}"/>
          </ac:spMkLst>
        </pc:spChg>
        <pc:spChg chg="add mod">
          <ac:chgData name="Rosalvo Medeiros" userId="52f93e62-72bc-4d5d-8e07-af043120901b" providerId="ADAL" clId="{40095463-1CA9-41B2-94DA-1CD85C949CC9}" dt="2026-03-17T14:28:44.902" v="2024" actId="208"/>
          <ac:spMkLst>
            <pc:docMk/>
            <pc:sldMk cId="1210108959" sldId="358"/>
            <ac:spMk id="8" creationId="{5B529ADA-23EE-72BD-ACFB-7B5EDBC60E05}"/>
          </ac:spMkLst>
        </pc:spChg>
        <pc:spChg chg="add mod">
          <ac:chgData name="Rosalvo Medeiros" userId="52f93e62-72bc-4d5d-8e07-af043120901b" providerId="ADAL" clId="{40095463-1CA9-41B2-94DA-1CD85C949CC9}" dt="2026-03-17T14:28:56.103" v="2027" actId="208"/>
          <ac:spMkLst>
            <pc:docMk/>
            <pc:sldMk cId="1210108959" sldId="358"/>
            <ac:spMk id="10" creationId="{624616B9-9F51-B4C2-860E-F1F990D09E50}"/>
          </ac:spMkLst>
        </pc:spChg>
        <pc:spChg chg="add mod">
          <ac:chgData name="Rosalvo Medeiros" userId="52f93e62-72bc-4d5d-8e07-af043120901b" providerId="ADAL" clId="{40095463-1CA9-41B2-94DA-1CD85C949CC9}" dt="2026-03-17T14:28:59.832" v="2028" actId="208"/>
          <ac:spMkLst>
            <pc:docMk/>
            <pc:sldMk cId="1210108959" sldId="358"/>
            <ac:spMk id="12" creationId="{74FF1136-D849-BF85-AFBE-BDF5E984A8C2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17T14:23:40.655" v="1986" actId="1076"/>
        <pc:sldMkLst>
          <pc:docMk/>
          <pc:sldMk cId="2441518603" sldId="359"/>
        </pc:sldMkLst>
        <pc:picChg chg="add mod">
          <ac:chgData name="Rosalvo Medeiros" userId="52f93e62-72bc-4d5d-8e07-af043120901b" providerId="ADAL" clId="{40095463-1CA9-41B2-94DA-1CD85C949CC9}" dt="2026-03-17T14:23:40.655" v="1986" actId="1076"/>
          <ac:picMkLst>
            <pc:docMk/>
            <pc:sldMk cId="2441518603" sldId="359"/>
            <ac:picMk id="8" creationId="{A995D606-C068-27B2-DB01-CF6080D055B1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6:30:29.298" v="2190" actId="208"/>
        <pc:sldMkLst>
          <pc:docMk/>
          <pc:sldMk cId="3556562846" sldId="360"/>
        </pc:sldMkLst>
        <pc:spChg chg="mod">
          <ac:chgData name="Rosalvo Medeiros" userId="52f93e62-72bc-4d5d-8e07-af043120901b" providerId="ADAL" clId="{40095463-1CA9-41B2-94DA-1CD85C949CC9}" dt="2026-03-17T16:28:41.223" v="2069" actId="20577"/>
          <ac:spMkLst>
            <pc:docMk/>
            <pc:sldMk cId="3556562846" sldId="360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6:30:12.273" v="2170" actId="208"/>
          <ac:spMkLst>
            <pc:docMk/>
            <pc:sldMk cId="3556562846" sldId="360"/>
            <ac:spMk id="7" creationId="{FC1519F9-8E43-2DF8-0FFB-597190E2D245}"/>
          </ac:spMkLst>
        </pc:spChg>
        <pc:spChg chg="add mod">
          <ac:chgData name="Rosalvo Medeiros" userId="52f93e62-72bc-4d5d-8e07-af043120901b" providerId="ADAL" clId="{40095463-1CA9-41B2-94DA-1CD85C949CC9}" dt="2026-03-17T16:30:29.298" v="2190" actId="208"/>
          <ac:spMkLst>
            <pc:docMk/>
            <pc:sldMk cId="3556562846" sldId="360"/>
            <ac:spMk id="9" creationId="{E30FBB37-71E4-297A-6EB3-1F458815C1AC}"/>
          </ac:spMkLst>
        </pc:spChg>
      </pc:sldChg>
      <pc:sldChg chg="addSp modSp add mod modAnim">
        <pc:chgData name="Rosalvo Medeiros" userId="52f93e62-72bc-4d5d-8e07-af043120901b" providerId="ADAL" clId="{40095463-1CA9-41B2-94DA-1CD85C949CC9}" dt="2026-03-17T17:56:15.630" v="3889"/>
        <pc:sldMkLst>
          <pc:docMk/>
          <pc:sldMk cId="2039886520" sldId="361"/>
        </pc:sldMkLst>
        <pc:spChg chg="add mod">
          <ac:chgData name="Rosalvo Medeiros" userId="52f93e62-72bc-4d5d-8e07-af043120901b" providerId="ADAL" clId="{40095463-1CA9-41B2-94DA-1CD85C949CC9}" dt="2026-03-17T17:56:05.374" v="3886" actId="1076"/>
          <ac:spMkLst>
            <pc:docMk/>
            <pc:sldMk cId="2039886520" sldId="361"/>
            <ac:spMk id="5" creationId="{AD4067B7-0D94-1A31-4B24-7C02616D3E21}"/>
          </ac:spMkLst>
        </pc:spChg>
        <pc:spChg chg="add mod">
          <ac:chgData name="Rosalvo Medeiros" userId="52f93e62-72bc-4d5d-8e07-af043120901b" providerId="ADAL" clId="{40095463-1CA9-41B2-94DA-1CD85C949CC9}" dt="2026-03-17T17:56:08" v="3887" actId="1076"/>
          <ac:spMkLst>
            <pc:docMk/>
            <pc:sldMk cId="2039886520" sldId="361"/>
            <ac:spMk id="7" creationId="{F04EB36A-093C-4487-A5B2-82FA56E95D7E}"/>
          </ac:spMkLst>
        </pc:spChg>
        <pc:spChg chg="add mod">
          <ac:chgData name="Rosalvo Medeiros" userId="52f93e62-72bc-4d5d-8e07-af043120901b" providerId="ADAL" clId="{40095463-1CA9-41B2-94DA-1CD85C949CC9}" dt="2026-03-17T17:56:13.406" v="3888" actId="208"/>
          <ac:spMkLst>
            <pc:docMk/>
            <pc:sldMk cId="2039886520" sldId="361"/>
            <ac:spMk id="9" creationId="{496A8FFE-09D7-1EC2-BAA0-2252BDAC298A}"/>
          </ac:spMkLst>
        </pc:spChg>
        <pc:picChg chg="mod">
          <ac:chgData name="Rosalvo Medeiros" userId="52f93e62-72bc-4d5d-8e07-af043120901b" providerId="ADAL" clId="{40095463-1CA9-41B2-94DA-1CD85C949CC9}" dt="2026-03-17T17:55:17.259" v="3866" actId="1076"/>
          <ac:picMkLst>
            <pc:docMk/>
            <pc:sldMk cId="2039886520" sldId="361"/>
            <ac:picMk id="4" creationId="{2C50380C-1E8D-2814-697A-C511B936CE0C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6:45:39.006" v="2539"/>
        <pc:sldMkLst>
          <pc:docMk/>
          <pc:sldMk cId="1432324848" sldId="362"/>
        </pc:sldMkLst>
        <pc:spChg chg="add mod">
          <ac:chgData name="Rosalvo Medeiros" userId="52f93e62-72bc-4d5d-8e07-af043120901b" providerId="ADAL" clId="{40095463-1CA9-41B2-94DA-1CD85C949CC9}" dt="2026-03-17T16:42:13.240" v="2508" actId="255"/>
          <ac:spMkLst>
            <pc:docMk/>
            <pc:sldMk cId="1432324848" sldId="362"/>
            <ac:spMk id="6" creationId="{FB64E0BA-19C3-D83F-C385-0969A6279093}"/>
          </ac:spMkLst>
        </pc:spChg>
        <pc:spChg chg="mod">
          <ac:chgData name="Rosalvo Medeiros" userId="52f93e62-72bc-4d5d-8e07-af043120901b" providerId="ADAL" clId="{40095463-1CA9-41B2-94DA-1CD85C949CC9}" dt="2026-03-17T16:42:00.015" v="2504" actId="1076"/>
          <ac:spMkLst>
            <pc:docMk/>
            <pc:sldMk cId="1432324848" sldId="362"/>
            <ac:spMk id="9" creationId="{E30FBB37-71E4-297A-6EB3-1F458815C1AC}"/>
          </ac:spMkLst>
        </pc:spChg>
        <pc:spChg chg="add mod">
          <ac:chgData name="Rosalvo Medeiros" userId="52f93e62-72bc-4d5d-8e07-af043120901b" providerId="ADAL" clId="{40095463-1CA9-41B2-94DA-1CD85C949CC9}" dt="2026-03-17T16:43:19.279" v="2521" actId="255"/>
          <ac:spMkLst>
            <pc:docMk/>
            <pc:sldMk cId="1432324848" sldId="362"/>
            <ac:spMk id="12" creationId="{34D2206F-0E4B-76CD-BE53-FC1288DA52FD}"/>
          </ac:spMkLst>
        </pc:spChg>
        <pc:spChg chg="add mod">
          <ac:chgData name="Rosalvo Medeiros" userId="52f93e62-72bc-4d5d-8e07-af043120901b" providerId="ADAL" clId="{40095463-1CA9-41B2-94DA-1CD85C949CC9}" dt="2026-03-17T16:45:02.359" v="2533" actId="208"/>
          <ac:spMkLst>
            <pc:docMk/>
            <pc:sldMk cId="1432324848" sldId="362"/>
            <ac:spMk id="16" creationId="{A25FCE53-8642-3A91-A5BF-7640B0636ED2}"/>
          </ac:spMkLst>
        </pc:spChg>
        <pc:picChg chg="add mod">
          <ac:chgData name="Rosalvo Medeiros" userId="52f93e62-72bc-4d5d-8e07-af043120901b" providerId="ADAL" clId="{40095463-1CA9-41B2-94DA-1CD85C949CC9}" dt="2026-03-17T16:44:44.591" v="2527" actId="1076"/>
          <ac:picMkLst>
            <pc:docMk/>
            <pc:sldMk cId="1432324848" sldId="362"/>
            <ac:picMk id="14" creationId="{3953E484-10FB-881E-84AA-B50A165BA562}"/>
          </ac:picMkLst>
        </pc:picChg>
      </pc:sldChg>
      <pc:sldChg chg="addSp delSp modSp add mod delAnim modAnim">
        <pc:chgData name="Rosalvo Medeiros" userId="52f93e62-72bc-4d5d-8e07-af043120901b" providerId="ADAL" clId="{40095463-1CA9-41B2-94DA-1CD85C949CC9}" dt="2026-03-17T17:03:57.214" v="2872"/>
        <pc:sldMkLst>
          <pc:docMk/>
          <pc:sldMk cId="2596769479" sldId="363"/>
        </pc:sldMkLst>
        <pc:spChg chg="add mod">
          <ac:chgData name="Rosalvo Medeiros" userId="52f93e62-72bc-4d5d-8e07-af043120901b" providerId="ADAL" clId="{40095463-1CA9-41B2-94DA-1CD85C949CC9}" dt="2026-03-17T17:01:44.958" v="2694" actId="20577"/>
          <ac:spMkLst>
            <pc:docMk/>
            <pc:sldMk cId="2596769479" sldId="363"/>
            <ac:spMk id="10" creationId="{A38AA418-04EA-2C38-933F-2D6DBE9BA56A}"/>
          </ac:spMkLst>
        </pc:spChg>
        <pc:picChg chg="add mod">
          <ac:chgData name="Rosalvo Medeiros" userId="52f93e62-72bc-4d5d-8e07-af043120901b" providerId="ADAL" clId="{40095463-1CA9-41B2-94DA-1CD85C949CC9}" dt="2026-03-17T16:59:39.530" v="2560" actId="1076"/>
          <ac:picMkLst>
            <pc:docMk/>
            <pc:sldMk cId="2596769479" sldId="363"/>
            <ac:picMk id="8" creationId="{C0C3576B-F57E-8465-5CF2-1C3BF7A0A4B7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4:01.869" v="2873"/>
        <pc:sldMkLst>
          <pc:docMk/>
          <pc:sldMk cId="1264865122" sldId="364"/>
        </pc:sldMkLst>
        <pc:spChg chg="add mod">
          <ac:chgData name="Rosalvo Medeiros" userId="52f93e62-72bc-4d5d-8e07-af043120901b" providerId="ADAL" clId="{40095463-1CA9-41B2-94DA-1CD85C949CC9}" dt="2026-03-17T17:02:56.930" v="2867" actId="20577"/>
          <ac:spMkLst>
            <pc:docMk/>
            <pc:sldMk cId="1264865122" sldId="364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2:00.680" v="2696" actId="1076"/>
          <ac:picMkLst>
            <pc:docMk/>
            <pc:sldMk cId="1264865122" sldId="364"/>
            <ac:picMk id="4" creationId="{67B80DC9-A9E9-4917-DAF2-E2B97C9E6709}"/>
          </ac:picMkLst>
        </pc:picChg>
      </pc:sldChg>
      <pc:sldChg chg="addSp delSp modSp add mod modAnim">
        <pc:chgData name="Rosalvo Medeiros" userId="52f93e62-72bc-4d5d-8e07-af043120901b" providerId="ADAL" clId="{40095463-1CA9-41B2-94DA-1CD85C949CC9}" dt="2026-03-17T17:05:26.634" v="2979" actId="20577"/>
        <pc:sldMkLst>
          <pc:docMk/>
          <pc:sldMk cId="2720428368" sldId="365"/>
        </pc:sldMkLst>
        <pc:spChg chg="mod">
          <ac:chgData name="Rosalvo Medeiros" userId="52f93e62-72bc-4d5d-8e07-af043120901b" providerId="ADAL" clId="{40095463-1CA9-41B2-94DA-1CD85C949CC9}" dt="2026-03-17T17:05:26.634" v="2979" actId="20577"/>
          <ac:spMkLst>
            <pc:docMk/>
            <pc:sldMk cId="2720428368" sldId="365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4:41.957" v="2881" actId="1076"/>
          <ac:picMkLst>
            <pc:docMk/>
            <pc:sldMk cId="2720428368" sldId="365"/>
            <ac:picMk id="7" creationId="{D63B7892-061D-54E5-C2DE-D2BE404F67CF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09:40.866" v="3187" actId="1076"/>
        <pc:sldMkLst>
          <pc:docMk/>
          <pc:sldMk cId="2434703536" sldId="366"/>
        </pc:sldMkLst>
        <pc:spChg chg="mod">
          <ac:chgData name="Rosalvo Medeiros" userId="52f93e62-72bc-4d5d-8e07-af043120901b" providerId="ADAL" clId="{40095463-1CA9-41B2-94DA-1CD85C949CC9}" dt="2026-03-17T17:09:38.845" v="3186" actId="1076"/>
          <ac:spMkLst>
            <pc:docMk/>
            <pc:sldMk cId="2434703536" sldId="366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09:40.866" v="3187" actId="1076"/>
          <ac:picMkLst>
            <pc:docMk/>
            <pc:sldMk cId="2434703536" sldId="366"/>
            <ac:picMk id="4" creationId="{8583D729-5561-8849-BF81-9F614EB9E37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16:09.073" v="3585" actId="1076"/>
        <pc:sldMkLst>
          <pc:docMk/>
          <pc:sldMk cId="3382773167" sldId="367"/>
        </pc:sldMkLst>
        <pc:spChg chg="mod">
          <ac:chgData name="Rosalvo Medeiros" userId="52f93e62-72bc-4d5d-8e07-af043120901b" providerId="ADAL" clId="{40095463-1CA9-41B2-94DA-1CD85C949CC9}" dt="2026-03-17T17:16:02.993" v="3584" actId="20577"/>
          <ac:spMkLst>
            <pc:docMk/>
            <pc:sldMk cId="3382773167" sldId="367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16:09.073" v="3585" actId="1076"/>
          <ac:picMkLst>
            <pc:docMk/>
            <pc:sldMk cId="3382773167" sldId="367"/>
            <ac:picMk id="8" creationId="{1DF932BF-99BC-87EC-EB72-99EF8366868B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20:13.573" v="3836" actId="1076"/>
        <pc:sldMkLst>
          <pc:docMk/>
          <pc:sldMk cId="350036054" sldId="368"/>
        </pc:sldMkLst>
        <pc:spChg chg="mod">
          <ac:chgData name="Rosalvo Medeiros" userId="52f93e62-72bc-4d5d-8e07-af043120901b" providerId="ADAL" clId="{40095463-1CA9-41B2-94DA-1CD85C949CC9}" dt="2026-03-17T17:19:54.431" v="3835" actId="20577"/>
          <ac:spMkLst>
            <pc:docMk/>
            <pc:sldMk cId="350036054" sldId="368"/>
            <ac:spMk id="5" creationId="{F918DCCA-EBA3-4DC7-1476-6B45D5276E55}"/>
          </ac:spMkLst>
        </pc:spChg>
        <pc:picChg chg="add mod">
          <ac:chgData name="Rosalvo Medeiros" userId="52f93e62-72bc-4d5d-8e07-af043120901b" providerId="ADAL" clId="{40095463-1CA9-41B2-94DA-1CD85C949CC9}" dt="2026-03-17T17:20:13.573" v="3836" actId="1076"/>
          <ac:picMkLst>
            <pc:docMk/>
            <pc:sldMk cId="350036054" sldId="368"/>
            <ac:picMk id="4" creationId="{00B16222-93C2-F0F0-15A1-15210FE19B41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08:56.939" v="3926" actId="1076"/>
        <pc:sldMkLst>
          <pc:docMk/>
          <pc:sldMk cId="1114936575" sldId="369"/>
        </pc:sldMkLst>
        <pc:picChg chg="add mod">
          <ac:chgData name="Rosalvo Medeiros" userId="52f93e62-72bc-4d5d-8e07-af043120901b" providerId="ADAL" clId="{40095463-1CA9-41B2-94DA-1CD85C949CC9}" dt="2026-03-17T17:45:08.039" v="3841" actId="1076"/>
          <ac:picMkLst>
            <pc:docMk/>
            <pc:sldMk cId="1114936575" sldId="369"/>
            <ac:picMk id="2" creationId="{4610B6BB-9E77-61CA-6325-A016A9E401DB}"/>
          </ac:picMkLst>
        </pc:picChg>
        <pc:picChg chg="add mod">
          <ac:chgData name="Rosalvo Medeiros" userId="52f93e62-72bc-4d5d-8e07-af043120901b" providerId="ADAL" clId="{40095463-1CA9-41B2-94DA-1CD85C949CC9}" dt="2026-03-17T18:08:56.939" v="3926" actId="1076"/>
          <ac:picMkLst>
            <pc:docMk/>
            <pc:sldMk cId="1114936575" sldId="369"/>
            <ac:picMk id="10" creationId="{67D92F5D-FE62-988D-6DD6-B625792B236C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7:57:57.886" v="3897" actId="1076"/>
        <pc:sldMkLst>
          <pc:docMk/>
          <pc:sldMk cId="1930605637" sldId="370"/>
        </pc:sldMkLst>
        <pc:spChg chg="add mod">
          <ac:chgData name="Rosalvo Medeiros" userId="52f93e62-72bc-4d5d-8e07-af043120901b" providerId="ADAL" clId="{40095463-1CA9-41B2-94DA-1CD85C949CC9}" dt="2026-03-17T17:57:06.621" v="3895" actId="12"/>
          <ac:spMkLst>
            <pc:docMk/>
            <pc:sldMk cId="1930605637" sldId="370"/>
            <ac:spMk id="6" creationId="{D51C7E57-6D1F-36ED-BBB0-BC00971F2636}"/>
          </ac:spMkLst>
        </pc:spChg>
        <pc:picChg chg="add mod">
          <ac:chgData name="Rosalvo Medeiros" userId="52f93e62-72bc-4d5d-8e07-af043120901b" providerId="ADAL" clId="{40095463-1CA9-41B2-94DA-1CD85C949CC9}" dt="2026-03-17T17:57:57.886" v="3897" actId="1076"/>
          <ac:picMkLst>
            <pc:docMk/>
            <pc:sldMk cId="1930605637" sldId="370"/>
            <ac:picMk id="9" creationId="{9C7D5CB5-2659-2A25-114B-5D025F498696}"/>
          </ac:picMkLst>
        </pc:picChg>
      </pc:sldChg>
      <pc:sldChg chg="addSp delSp modSp add mod delAnim">
        <pc:chgData name="Rosalvo Medeiros" userId="52f93e62-72bc-4d5d-8e07-af043120901b" providerId="ADAL" clId="{40095463-1CA9-41B2-94DA-1CD85C949CC9}" dt="2026-03-17T18:15:04.937" v="3989" actId="20577"/>
        <pc:sldMkLst>
          <pc:docMk/>
          <pc:sldMk cId="3385298471" sldId="371"/>
        </pc:sldMkLst>
        <pc:spChg chg="mod">
          <ac:chgData name="Rosalvo Medeiros" userId="52f93e62-72bc-4d5d-8e07-af043120901b" providerId="ADAL" clId="{40095463-1CA9-41B2-94DA-1CD85C949CC9}" dt="2026-03-17T18:15:04.937" v="3989" actId="20577"/>
          <ac:spMkLst>
            <pc:docMk/>
            <pc:sldMk cId="3385298471" sldId="371"/>
            <ac:spMk id="3" creationId="{00160C4E-BC2C-4AB7-B308-8618FB70E1AB}"/>
          </ac:spMkLst>
        </pc:spChg>
        <pc:spChg chg="add mod">
          <ac:chgData name="Rosalvo Medeiros" userId="52f93e62-72bc-4d5d-8e07-af043120901b" providerId="ADAL" clId="{40095463-1CA9-41B2-94DA-1CD85C949CC9}" dt="2026-03-17T18:12:15.164" v="3944" actId="208"/>
          <ac:spMkLst>
            <pc:docMk/>
            <pc:sldMk cId="3385298471" sldId="371"/>
            <ac:spMk id="10" creationId="{681E5CFE-9242-3150-90CC-F57F764F74D0}"/>
          </ac:spMkLst>
        </pc:spChg>
        <pc:spChg chg="add mod">
          <ac:chgData name="Rosalvo Medeiros" userId="52f93e62-72bc-4d5d-8e07-af043120901b" providerId="ADAL" clId="{40095463-1CA9-41B2-94DA-1CD85C949CC9}" dt="2026-03-17T18:12:17.273" v="3945" actId="208"/>
          <ac:spMkLst>
            <pc:docMk/>
            <pc:sldMk cId="3385298471" sldId="371"/>
            <ac:spMk id="14" creationId="{F0315A63-6AE7-1957-0B31-713BC1364C77}"/>
          </ac:spMkLst>
        </pc:spChg>
        <pc:spChg chg="add mod">
          <ac:chgData name="Rosalvo Medeiros" userId="52f93e62-72bc-4d5d-8e07-af043120901b" providerId="ADAL" clId="{40095463-1CA9-41B2-94DA-1CD85C949CC9}" dt="2026-03-17T18:13:15.530" v="3953" actId="1076"/>
          <ac:spMkLst>
            <pc:docMk/>
            <pc:sldMk cId="3385298471" sldId="371"/>
            <ac:spMk id="22" creationId="{EEC9B1DC-D12D-D064-FFA9-91EC29C8E909}"/>
          </ac:spMkLst>
        </pc:spChg>
        <pc:graphicFrameChg chg="add mod modGraphic">
          <ac:chgData name="Rosalvo Medeiros" userId="52f93e62-72bc-4d5d-8e07-af043120901b" providerId="ADAL" clId="{40095463-1CA9-41B2-94DA-1CD85C949CC9}" dt="2026-03-17T18:14:02.678" v="3964" actId="207"/>
          <ac:graphicFrameMkLst>
            <pc:docMk/>
            <pc:sldMk cId="3385298471" sldId="371"/>
            <ac:graphicFrameMk id="25" creationId="{91634FF4-F794-AA8E-C599-A6235B9C8C73}"/>
          </ac:graphicFrameMkLst>
        </pc:graphicFrameChg>
      </pc:sldChg>
      <pc:sldChg chg="addSp delSp modSp add mod">
        <pc:chgData name="Rosalvo Medeiros" userId="52f93e62-72bc-4d5d-8e07-af043120901b" providerId="ADAL" clId="{40095463-1CA9-41B2-94DA-1CD85C949CC9}" dt="2026-03-17T18:15:20.626" v="4009" actId="1076"/>
        <pc:sldMkLst>
          <pc:docMk/>
          <pc:sldMk cId="414419490" sldId="372"/>
        </pc:sldMkLst>
        <pc:spChg chg="mod">
          <ac:chgData name="Rosalvo Medeiros" userId="52f93e62-72bc-4d5d-8e07-af043120901b" providerId="ADAL" clId="{40095463-1CA9-41B2-94DA-1CD85C949CC9}" dt="2026-03-17T18:15:14.824" v="4006" actId="20577"/>
          <ac:spMkLst>
            <pc:docMk/>
            <pc:sldMk cId="414419490" sldId="372"/>
            <ac:spMk id="3" creationId="{00160C4E-BC2C-4AB7-B308-8618FB70E1AB}"/>
          </ac:spMkLst>
        </pc:spChg>
        <pc:picChg chg="add mod">
          <ac:chgData name="Rosalvo Medeiros" userId="52f93e62-72bc-4d5d-8e07-af043120901b" providerId="ADAL" clId="{40095463-1CA9-41B2-94DA-1CD85C949CC9}" dt="2026-03-17T18:15:20.626" v="4009" actId="1076"/>
          <ac:picMkLst>
            <pc:docMk/>
            <pc:sldMk cId="414419490" sldId="372"/>
            <ac:picMk id="4" creationId="{573B9680-EAAF-20D2-BC3C-3AC40D1EDEDC}"/>
          </ac:picMkLst>
        </pc:picChg>
      </pc:sldChg>
      <pc:sldChg chg="addSp delSp add mod ord">
        <pc:chgData name="Rosalvo Medeiros" userId="52f93e62-72bc-4d5d-8e07-af043120901b" providerId="ADAL" clId="{40095463-1CA9-41B2-94DA-1CD85C949CC9}" dt="2026-03-17T18:22:52.479" v="4016"/>
        <pc:sldMkLst>
          <pc:docMk/>
          <pc:sldMk cId="2637573804" sldId="373"/>
        </pc:sldMkLst>
        <pc:picChg chg="add">
          <ac:chgData name="Rosalvo Medeiros" userId="52f93e62-72bc-4d5d-8e07-af043120901b" providerId="ADAL" clId="{40095463-1CA9-41B2-94DA-1CD85C949CC9}" dt="2026-03-17T18:16:07.089" v="4012" actId="22"/>
          <ac:picMkLst>
            <pc:docMk/>
            <pc:sldMk cId="2637573804" sldId="373"/>
            <ac:picMk id="5" creationId="{7F6F0200-B3EF-377C-DCA1-1FFBD568EA3E}"/>
          </ac:picMkLst>
        </pc:picChg>
      </pc:sldChg>
      <pc:sldChg chg="addSp delSp modSp add mod">
        <pc:chgData name="Rosalvo Medeiros" userId="52f93e62-72bc-4d5d-8e07-af043120901b" providerId="ADAL" clId="{40095463-1CA9-41B2-94DA-1CD85C949CC9}" dt="2026-03-17T18:23:31.657" v="4024" actId="1076"/>
        <pc:sldMkLst>
          <pc:docMk/>
          <pc:sldMk cId="2866589264" sldId="374"/>
        </pc:sldMkLst>
        <pc:picChg chg="add mod">
          <ac:chgData name="Rosalvo Medeiros" userId="52f93e62-72bc-4d5d-8e07-af043120901b" providerId="ADAL" clId="{40095463-1CA9-41B2-94DA-1CD85C949CC9}" dt="2026-03-17T18:23:03.297" v="4021" actId="1076"/>
          <ac:picMkLst>
            <pc:docMk/>
            <pc:sldMk cId="2866589264" sldId="374"/>
            <ac:picMk id="4" creationId="{D0FF26FC-A45C-75C3-063B-B972F11C5F6F}"/>
          </ac:picMkLst>
        </pc:picChg>
        <pc:picChg chg="add mod">
          <ac:chgData name="Rosalvo Medeiros" userId="52f93e62-72bc-4d5d-8e07-af043120901b" providerId="ADAL" clId="{40095463-1CA9-41B2-94DA-1CD85C949CC9}" dt="2026-03-17T18:23:31.657" v="4024" actId="1076"/>
          <ac:picMkLst>
            <pc:docMk/>
            <pc:sldMk cId="2866589264" sldId="374"/>
            <ac:picMk id="7" creationId="{717B6B10-6E91-9E73-0EE7-38025D42B404}"/>
          </ac:picMkLst>
        </pc:picChg>
      </pc:sldChg>
      <pc:sldChg chg="modSp add mod">
        <pc:chgData name="Rosalvo Medeiros" userId="52f93e62-72bc-4d5d-8e07-af043120901b" providerId="ADAL" clId="{40095463-1CA9-41B2-94DA-1CD85C949CC9}" dt="2026-03-31T12:33:36.464" v="4053" actId="14100"/>
        <pc:sldMkLst>
          <pc:docMk/>
          <pc:sldMk cId="2761062298" sldId="388"/>
        </pc:sldMkLst>
        <pc:spChg chg="mod">
          <ac:chgData name="Rosalvo Medeiros" userId="52f93e62-72bc-4d5d-8e07-af043120901b" providerId="ADAL" clId="{40095463-1CA9-41B2-94DA-1CD85C949CC9}" dt="2026-03-31T12:33:36.464" v="4053" actId="14100"/>
          <ac:spMkLst>
            <pc:docMk/>
            <pc:sldMk cId="2761062298" sldId="388"/>
            <ac:spMk id="9" creationId="{5E1CDB51-52CD-1506-579B-DAF9F07F635B}"/>
          </ac:spMkLst>
        </pc:spChg>
      </pc:sldChg>
      <pc:sldChg chg="delSp modSp add mod">
        <pc:chgData name="Rosalvo Medeiros" userId="52f93e62-72bc-4d5d-8e07-af043120901b" providerId="ADAL" clId="{40095463-1CA9-41B2-94DA-1CD85C949CC9}" dt="2026-03-31T12:36:02.502" v="4072"/>
        <pc:sldMkLst>
          <pc:docMk/>
          <pc:sldMk cId="1886697102" sldId="389"/>
        </pc:sldMkLst>
        <pc:spChg chg="mod">
          <ac:chgData name="Rosalvo Medeiros" userId="52f93e62-72bc-4d5d-8e07-af043120901b" providerId="ADAL" clId="{40095463-1CA9-41B2-94DA-1CD85C949CC9}" dt="2026-03-31T12:36:02.502" v="4072"/>
          <ac:spMkLst>
            <pc:docMk/>
            <pc:sldMk cId="1886697102" sldId="389"/>
            <ac:spMk id="7" creationId="{30F8BCD2-471A-DDC1-E982-5FFE2566EECB}"/>
          </ac:spMkLst>
        </pc:spChg>
        <pc:spChg chg="del">
          <ac:chgData name="Rosalvo Medeiros" userId="52f93e62-72bc-4d5d-8e07-af043120901b" providerId="ADAL" clId="{40095463-1CA9-41B2-94DA-1CD85C949CC9}" dt="2026-03-31T12:33:45.330" v="4055" actId="478"/>
          <ac:spMkLst>
            <pc:docMk/>
            <pc:sldMk cId="1886697102" sldId="389"/>
            <ac:spMk id="9" creationId="{5E1CDB51-52CD-1506-579B-DAF9F07F635B}"/>
          </ac:spMkLst>
        </pc:spChg>
      </pc:sldChg>
      <pc:sldChg chg="addSp modSp add mod">
        <pc:chgData name="Rosalvo Medeiros" userId="52f93e62-72bc-4d5d-8e07-af043120901b" providerId="ADAL" clId="{40095463-1CA9-41B2-94DA-1CD85C949CC9}" dt="2026-03-31T12:39:05.919" v="4104" actId="255"/>
        <pc:sldMkLst>
          <pc:docMk/>
          <pc:sldMk cId="2593245018" sldId="390"/>
        </pc:sldMkLst>
        <pc:spChg chg="add mod">
          <ac:chgData name="Rosalvo Medeiros" userId="52f93e62-72bc-4d5d-8e07-af043120901b" providerId="ADAL" clId="{40095463-1CA9-41B2-94DA-1CD85C949CC9}" dt="2026-03-31T12:39:05.919" v="4104" actId="255"/>
          <ac:spMkLst>
            <pc:docMk/>
            <pc:sldMk cId="2593245018" sldId="390"/>
            <ac:spMk id="4" creationId="{F5875250-BB90-2971-3561-C7EB0B93B840}"/>
          </ac:spMkLst>
        </pc:spChg>
        <pc:spChg chg="mod">
          <ac:chgData name="Rosalvo Medeiros" userId="52f93e62-72bc-4d5d-8e07-af043120901b" providerId="ADAL" clId="{40095463-1CA9-41B2-94DA-1CD85C949CC9}" dt="2026-03-31T12:38:02.048" v="4095" actId="6549"/>
          <ac:spMkLst>
            <pc:docMk/>
            <pc:sldMk cId="2593245018" sldId="390"/>
            <ac:spMk id="7" creationId="{30F8BCD2-471A-DDC1-E982-5FFE2566EECB}"/>
          </ac:spMkLst>
        </pc:spChg>
      </pc:sldChg>
      <pc:sldChg chg="addSp delSp modSp add mod modAnim">
        <pc:chgData name="Rosalvo Medeiros" userId="52f93e62-72bc-4d5d-8e07-af043120901b" providerId="ADAL" clId="{40095463-1CA9-41B2-94DA-1CD85C949CC9}" dt="2026-03-31T12:57:08.876" v="4126"/>
        <pc:sldMkLst>
          <pc:docMk/>
          <pc:sldMk cId="3746449451" sldId="391"/>
        </pc:sldMkLst>
        <pc:spChg chg="add mod">
          <ac:chgData name="Rosalvo Medeiros" userId="52f93e62-72bc-4d5d-8e07-af043120901b" providerId="ADAL" clId="{40095463-1CA9-41B2-94DA-1CD85C949CC9}" dt="2026-03-31T12:55:49.508" v="4116" actId="14100"/>
          <ac:spMkLst>
            <pc:docMk/>
            <pc:sldMk cId="3746449451" sldId="391"/>
            <ac:spMk id="4" creationId="{BA3CFCAD-BE4E-E8A6-7C09-8027A661374B}"/>
          </ac:spMkLst>
        </pc:spChg>
        <pc:spChg chg="add mod">
          <ac:chgData name="Rosalvo Medeiros" userId="52f93e62-72bc-4d5d-8e07-af043120901b" providerId="ADAL" clId="{40095463-1CA9-41B2-94DA-1CD85C949CC9}" dt="2026-03-31T12:57:06.257" v="4125" actId="1076"/>
          <ac:spMkLst>
            <pc:docMk/>
            <pc:sldMk cId="3746449451" sldId="391"/>
            <ac:spMk id="6" creationId="{DD90C548-00E8-4392-2FEB-5F9704B148C5}"/>
          </ac:spMkLst>
        </pc:spChg>
        <pc:spChg chg="del">
          <ac:chgData name="Rosalvo Medeiros" userId="52f93e62-72bc-4d5d-8e07-af043120901b" providerId="ADAL" clId="{40095463-1CA9-41B2-94DA-1CD85C949CC9}" dt="2026-03-31T12:55:26.909" v="4108" actId="478"/>
          <ac:spMkLst>
            <pc:docMk/>
            <pc:sldMk cId="3746449451" sldId="391"/>
            <ac:spMk id="7" creationId="{30F8BCD2-471A-DDC1-E982-5FFE2566EECB}"/>
          </ac:spMkLst>
        </pc:spChg>
        <pc:spChg chg="del">
          <ac:chgData name="Rosalvo Medeiros" userId="52f93e62-72bc-4d5d-8e07-af043120901b" providerId="ADAL" clId="{40095463-1CA9-41B2-94DA-1CD85C949CC9}" dt="2026-03-31T12:55:26.909" v="4108" actId="478"/>
          <ac:spMkLst>
            <pc:docMk/>
            <pc:sldMk cId="3746449451" sldId="391"/>
            <ac:spMk id="9" creationId="{5E1CDB51-52CD-1506-579B-DAF9F07F635B}"/>
          </ac:spMkLst>
        </pc:spChg>
      </pc:sldChg>
      <pc:sldChg chg="add del">
        <pc:chgData name="Rosalvo Medeiros" userId="52f93e62-72bc-4d5d-8e07-af043120901b" providerId="ADAL" clId="{40095463-1CA9-41B2-94DA-1CD85C949CC9}" dt="2026-03-31T12:55:20.323" v="4107" actId="47"/>
        <pc:sldMkLst>
          <pc:docMk/>
          <pc:sldMk cId="1241978212" sldId="392"/>
        </pc:sldMkLst>
      </pc:sldChg>
      <pc:sldChg chg="modSp add mod">
        <pc:chgData name="Rosalvo Medeiros" userId="52f93e62-72bc-4d5d-8e07-af043120901b" providerId="ADAL" clId="{40095463-1CA9-41B2-94DA-1CD85C949CC9}" dt="2026-03-31T13:02:02.766" v="4134" actId="1076"/>
        <pc:sldMkLst>
          <pc:docMk/>
          <pc:sldMk cId="78688872" sldId="437"/>
        </pc:sldMkLst>
        <pc:spChg chg="mod">
          <ac:chgData name="Rosalvo Medeiros" userId="52f93e62-72bc-4d5d-8e07-af043120901b" providerId="ADAL" clId="{40095463-1CA9-41B2-94DA-1CD85C949CC9}" dt="2026-03-31T13:02:02.766" v="4134" actId="1076"/>
          <ac:spMkLst>
            <pc:docMk/>
            <pc:sldMk cId="78688872" sldId="437"/>
            <ac:spMk id="6" creationId="{76179DE5-5299-B53C-CEBE-70D8E7AA5C5C}"/>
          </ac:spMkLst>
        </pc:spChg>
      </pc:sldChg>
      <pc:sldChg chg="add">
        <pc:chgData name="Rosalvo Medeiros" userId="52f93e62-72bc-4d5d-8e07-af043120901b" providerId="ADAL" clId="{40095463-1CA9-41B2-94DA-1CD85C949CC9}" dt="2026-03-31T12:59:22.882" v="4127"/>
        <pc:sldMkLst>
          <pc:docMk/>
          <pc:sldMk cId="1486881893" sldId="544"/>
        </pc:sldMkLst>
      </pc:sldChg>
      <pc:sldChg chg="addSp modSp add">
        <pc:chgData name="Rosalvo Medeiros" userId="52f93e62-72bc-4d5d-8e07-af043120901b" providerId="ADAL" clId="{40095463-1CA9-41B2-94DA-1CD85C949CC9}" dt="2026-03-31T13:02:06.083" v="4135"/>
        <pc:sldMkLst>
          <pc:docMk/>
          <pc:sldMk cId="1975136259" sldId="545"/>
        </pc:sldMkLst>
        <pc:spChg chg="add mod">
          <ac:chgData name="Rosalvo Medeiros" userId="52f93e62-72bc-4d5d-8e07-af043120901b" providerId="ADAL" clId="{40095463-1CA9-41B2-94DA-1CD85C949CC9}" dt="2026-03-31T13:02:06.083" v="4135"/>
          <ac:spMkLst>
            <pc:docMk/>
            <pc:sldMk cId="1975136259" sldId="545"/>
            <ac:spMk id="4" creationId="{E731DD84-80E5-19C1-F3C3-86BAA59818B3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08.482" v="4136"/>
        <pc:sldMkLst>
          <pc:docMk/>
          <pc:sldMk cId="3102058901" sldId="546"/>
        </pc:sldMkLst>
        <pc:spChg chg="add mod">
          <ac:chgData name="Rosalvo Medeiros" userId="52f93e62-72bc-4d5d-8e07-af043120901b" providerId="ADAL" clId="{40095463-1CA9-41B2-94DA-1CD85C949CC9}" dt="2026-03-31T13:02:08.482" v="4136"/>
          <ac:spMkLst>
            <pc:docMk/>
            <pc:sldMk cId="3102058901" sldId="546"/>
            <ac:spMk id="7" creationId="{72A01293-326E-88A3-38E3-BA30522A0AB6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5.513" v="4137"/>
        <pc:sldMkLst>
          <pc:docMk/>
          <pc:sldMk cId="4079712700" sldId="547"/>
        </pc:sldMkLst>
        <pc:spChg chg="add mod">
          <ac:chgData name="Rosalvo Medeiros" userId="52f93e62-72bc-4d5d-8e07-af043120901b" providerId="ADAL" clId="{40095463-1CA9-41B2-94DA-1CD85C949CC9}" dt="2026-03-31T13:02:15.513" v="4137"/>
          <ac:spMkLst>
            <pc:docMk/>
            <pc:sldMk cId="4079712700" sldId="547"/>
            <ac:spMk id="4" creationId="{057C4A27-AE61-F187-BFD8-0F56130981C5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7.516" v="4138"/>
        <pc:sldMkLst>
          <pc:docMk/>
          <pc:sldMk cId="3784732373" sldId="548"/>
        </pc:sldMkLst>
        <pc:spChg chg="add mod">
          <ac:chgData name="Rosalvo Medeiros" userId="52f93e62-72bc-4d5d-8e07-af043120901b" providerId="ADAL" clId="{40095463-1CA9-41B2-94DA-1CD85C949CC9}" dt="2026-03-31T13:02:17.516" v="4138"/>
          <ac:spMkLst>
            <pc:docMk/>
            <pc:sldMk cId="3784732373" sldId="548"/>
            <ac:spMk id="4" creationId="{A672B311-ADB1-F213-C0B7-46FFB64EB112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18.727" v="4139"/>
        <pc:sldMkLst>
          <pc:docMk/>
          <pc:sldMk cId="3975008073" sldId="592"/>
        </pc:sldMkLst>
        <pc:spChg chg="add mod">
          <ac:chgData name="Rosalvo Medeiros" userId="52f93e62-72bc-4d5d-8e07-af043120901b" providerId="ADAL" clId="{40095463-1CA9-41B2-94DA-1CD85C949CC9}" dt="2026-03-31T13:02:18.727" v="4139"/>
          <ac:spMkLst>
            <pc:docMk/>
            <pc:sldMk cId="3975008073" sldId="592"/>
            <ac:spMk id="3" creationId="{40051695-CC77-275C-0352-7A323BD8A761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0.275" v="4140"/>
        <pc:sldMkLst>
          <pc:docMk/>
          <pc:sldMk cId="856113852" sldId="593"/>
        </pc:sldMkLst>
        <pc:spChg chg="add mod">
          <ac:chgData name="Rosalvo Medeiros" userId="52f93e62-72bc-4d5d-8e07-af043120901b" providerId="ADAL" clId="{40095463-1CA9-41B2-94DA-1CD85C949CC9}" dt="2026-03-31T13:02:20.275" v="4140"/>
          <ac:spMkLst>
            <pc:docMk/>
            <pc:sldMk cId="856113852" sldId="593"/>
            <ac:spMk id="3" creationId="{374D0093-C02E-189E-9163-389446CDB9D6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1.406" v="4141"/>
        <pc:sldMkLst>
          <pc:docMk/>
          <pc:sldMk cId="3473399656" sldId="594"/>
        </pc:sldMkLst>
        <pc:spChg chg="add mod">
          <ac:chgData name="Rosalvo Medeiros" userId="52f93e62-72bc-4d5d-8e07-af043120901b" providerId="ADAL" clId="{40095463-1CA9-41B2-94DA-1CD85C949CC9}" dt="2026-03-31T13:02:21.406" v="4141"/>
          <ac:spMkLst>
            <pc:docMk/>
            <pc:sldMk cId="3473399656" sldId="594"/>
            <ac:spMk id="3" creationId="{CE6CB15E-91B0-076F-1700-FFCA448998E3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2.529" v="4142"/>
        <pc:sldMkLst>
          <pc:docMk/>
          <pc:sldMk cId="447131749" sldId="595"/>
        </pc:sldMkLst>
        <pc:spChg chg="add mod">
          <ac:chgData name="Rosalvo Medeiros" userId="52f93e62-72bc-4d5d-8e07-af043120901b" providerId="ADAL" clId="{40095463-1CA9-41B2-94DA-1CD85C949CC9}" dt="2026-03-31T13:02:22.529" v="4142"/>
          <ac:spMkLst>
            <pc:docMk/>
            <pc:sldMk cId="447131749" sldId="595"/>
            <ac:spMk id="3" creationId="{3879C85D-F53D-2F50-5D6C-37CE09C26F71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3.676" v="4143"/>
        <pc:sldMkLst>
          <pc:docMk/>
          <pc:sldMk cId="2103853002" sldId="596"/>
        </pc:sldMkLst>
        <pc:spChg chg="add mod">
          <ac:chgData name="Rosalvo Medeiros" userId="52f93e62-72bc-4d5d-8e07-af043120901b" providerId="ADAL" clId="{40095463-1CA9-41B2-94DA-1CD85C949CC9}" dt="2026-03-31T13:02:23.676" v="4143"/>
          <ac:spMkLst>
            <pc:docMk/>
            <pc:sldMk cId="2103853002" sldId="596"/>
            <ac:spMk id="3" creationId="{2F8453A6-E2F6-E315-77E7-ED0674EAF092}"/>
          </ac:spMkLst>
        </pc:spChg>
      </pc:sldChg>
      <pc:sldChg chg="addSp modSp add">
        <pc:chgData name="Rosalvo Medeiros" userId="52f93e62-72bc-4d5d-8e07-af043120901b" providerId="ADAL" clId="{40095463-1CA9-41B2-94DA-1CD85C949CC9}" dt="2026-03-31T13:02:24.879" v="4144"/>
        <pc:sldMkLst>
          <pc:docMk/>
          <pc:sldMk cId="844107899" sldId="597"/>
        </pc:sldMkLst>
        <pc:spChg chg="add mod">
          <ac:chgData name="Rosalvo Medeiros" userId="52f93e62-72bc-4d5d-8e07-af043120901b" providerId="ADAL" clId="{40095463-1CA9-41B2-94DA-1CD85C949CC9}" dt="2026-03-31T13:02:24.879" v="4144"/>
          <ac:spMkLst>
            <pc:docMk/>
            <pc:sldMk cId="844107899" sldId="597"/>
            <ac:spMk id="3" creationId="{89C7C073-9CD8-9047-84FB-8A24CF7EA1B0}"/>
          </ac:spMkLst>
        </pc:spChg>
      </pc:sldChg>
      <pc:sldChg chg="addSp delSp modSp add mod">
        <pc:chgData name="Rosalvo Medeiros" userId="52f93e62-72bc-4d5d-8e07-af043120901b" providerId="ADAL" clId="{40095463-1CA9-41B2-94DA-1CD85C949CC9}" dt="2026-03-31T13:08:36.208" v="4157" actId="1076"/>
        <pc:sldMkLst>
          <pc:docMk/>
          <pc:sldMk cId="303439376" sldId="598"/>
        </pc:sldMkLst>
        <pc:spChg chg="del">
          <ac:chgData name="Rosalvo Medeiros" userId="52f93e62-72bc-4d5d-8e07-af043120901b" providerId="ADAL" clId="{40095463-1CA9-41B2-94DA-1CD85C949CC9}" dt="2026-03-31T13:07:49.879" v="4146" actId="478"/>
          <ac:spMkLst>
            <pc:docMk/>
            <pc:sldMk cId="303439376" sldId="598"/>
            <ac:spMk id="2" creationId="{13DFB798-B80A-0497-771A-4C0D2153EE26}"/>
          </ac:spMkLst>
        </pc:spChg>
        <pc:spChg chg="del">
          <ac:chgData name="Rosalvo Medeiros" userId="52f93e62-72bc-4d5d-8e07-af043120901b" providerId="ADAL" clId="{40095463-1CA9-41B2-94DA-1CD85C949CC9}" dt="2026-03-31T13:07:49.879" v="4146" actId="478"/>
          <ac:spMkLst>
            <pc:docMk/>
            <pc:sldMk cId="303439376" sldId="598"/>
            <ac:spMk id="5" creationId="{E83F370B-6433-BE00-2712-A941B74D29C1}"/>
          </ac:spMkLst>
        </pc:spChg>
        <pc:spChg chg="add del mod">
          <ac:chgData name="Rosalvo Medeiros" userId="52f93e62-72bc-4d5d-8e07-af043120901b" providerId="ADAL" clId="{40095463-1CA9-41B2-94DA-1CD85C949CC9}" dt="2026-03-31T13:07:54.996" v="4147" actId="478"/>
          <ac:spMkLst>
            <pc:docMk/>
            <pc:sldMk cId="303439376" sldId="598"/>
            <ac:spMk id="8" creationId="{82F0E322-BB32-A719-714D-FA597C9A51C7}"/>
          </ac:spMkLst>
        </pc:spChg>
        <pc:spChg chg="del">
          <ac:chgData name="Rosalvo Medeiros" userId="52f93e62-72bc-4d5d-8e07-af043120901b" providerId="ADAL" clId="{40095463-1CA9-41B2-94DA-1CD85C949CC9}" dt="2026-03-31T13:07:49.879" v="4146" actId="478"/>
          <ac:spMkLst>
            <pc:docMk/>
            <pc:sldMk cId="303439376" sldId="598"/>
            <ac:spMk id="10" creationId="{1D8CCC90-C17C-D506-A0EF-1DCE60F8A783}"/>
          </ac:spMkLst>
        </pc:spChg>
        <pc:spChg chg="del">
          <ac:chgData name="Rosalvo Medeiros" userId="52f93e62-72bc-4d5d-8e07-af043120901b" providerId="ADAL" clId="{40095463-1CA9-41B2-94DA-1CD85C949CC9}" dt="2026-03-31T13:07:49.879" v="4146" actId="478"/>
          <ac:spMkLst>
            <pc:docMk/>
            <pc:sldMk cId="303439376" sldId="598"/>
            <ac:spMk id="11" creationId="{014E238E-E12F-F27C-3670-6F443264EF8A}"/>
          </ac:spMkLst>
        </pc:spChg>
        <pc:spChg chg="add del mod">
          <ac:chgData name="Rosalvo Medeiros" userId="52f93e62-72bc-4d5d-8e07-af043120901b" providerId="ADAL" clId="{40095463-1CA9-41B2-94DA-1CD85C949CC9}" dt="2026-03-31T13:07:54.996" v="4147" actId="478"/>
          <ac:spMkLst>
            <pc:docMk/>
            <pc:sldMk cId="303439376" sldId="598"/>
            <ac:spMk id="13" creationId="{C84B603E-964E-3C20-BF33-9D1534855F26}"/>
          </ac:spMkLst>
        </pc:spChg>
        <pc:spChg chg="add">
          <ac:chgData name="Rosalvo Medeiros" userId="52f93e62-72bc-4d5d-8e07-af043120901b" providerId="ADAL" clId="{40095463-1CA9-41B2-94DA-1CD85C949CC9}" dt="2026-03-31T13:07:55.886" v="4148"/>
          <ac:spMkLst>
            <pc:docMk/>
            <pc:sldMk cId="303439376" sldId="598"/>
            <ac:spMk id="14" creationId="{5241FBCF-5D87-7F7D-A1CF-BAA820703707}"/>
          </ac:spMkLst>
        </pc:spChg>
        <pc:spChg chg="add mod">
          <ac:chgData name="Rosalvo Medeiros" userId="52f93e62-72bc-4d5d-8e07-af043120901b" providerId="ADAL" clId="{40095463-1CA9-41B2-94DA-1CD85C949CC9}" dt="2026-03-31T13:08:36.208" v="4157" actId="1076"/>
          <ac:spMkLst>
            <pc:docMk/>
            <pc:sldMk cId="303439376" sldId="598"/>
            <ac:spMk id="16" creationId="{715C2364-B804-FB91-4C36-367FDC9F3A82}"/>
          </ac:spMkLst>
        </pc:spChg>
        <pc:picChg chg="del">
          <ac:chgData name="Rosalvo Medeiros" userId="52f93e62-72bc-4d5d-8e07-af043120901b" providerId="ADAL" clId="{40095463-1CA9-41B2-94DA-1CD85C949CC9}" dt="2026-03-31T13:07:49.879" v="4146" actId="478"/>
          <ac:picMkLst>
            <pc:docMk/>
            <pc:sldMk cId="303439376" sldId="598"/>
            <ac:picMk id="4" creationId="{8CC65B63-0C0E-EA3B-454F-BFBB72491951}"/>
          </ac:picMkLst>
        </pc:picChg>
        <pc:picChg chg="del">
          <ac:chgData name="Rosalvo Medeiros" userId="52f93e62-72bc-4d5d-8e07-af043120901b" providerId="ADAL" clId="{40095463-1CA9-41B2-94DA-1CD85C949CC9}" dt="2026-03-31T13:07:49.879" v="4146" actId="478"/>
          <ac:picMkLst>
            <pc:docMk/>
            <pc:sldMk cId="303439376" sldId="598"/>
            <ac:picMk id="9" creationId="{0A2ED9D7-2686-FC51-75FB-AF423086C8D1}"/>
          </ac:picMkLst>
        </pc:picChg>
      </pc:sldChg>
      <pc:sldMasterChg chg="modSldLayout">
        <pc:chgData name="Rosalvo Medeiros" userId="52f93e62-72bc-4d5d-8e07-af043120901b" providerId="ADAL" clId="{40095463-1CA9-41B2-94DA-1CD85C949CC9}" dt="2026-03-31T13:01:17.184" v="4129" actId="478"/>
        <pc:sldMasterMkLst>
          <pc:docMk/>
          <pc:sldMasterMk cId="0" sldId="2147483652"/>
        </pc:sldMasterMkLst>
        <pc:sldLayoutChg chg="delSp modSp mod">
          <pc:chgData name="Rosalvo Medeiros" userId="52f93e62-72bc-4d5d-8e07-af043120901b" providerId="ADAL" clId="{40095463-1CA9-41B2-94DA-1CD85C949CC9}" dt="2026-03-31T13:01:17.184" v="4129" actId="478"/>
          <pc:sldLayoutMkLst>
            <pc:docMk/>
            <pc:sldMasterMk cId="0" sldId="2147483652"/>
            <pc:sldLayoutMk cId="2216465440" sldId="2147483655"/>
          </pc:sldLayoutMkLst>
          <pc:picChg chg="del mod">
            <ac:chgData name="Rosalvo Medeiros" userId="52f93e62-72bc-4d5d-8e07-af043120901b" providerId="ADAL" clId="{40095463-1CA9-41B2-94DA-1CD85C949CC9}" dt="2026-03-31T13:01:17.184" v="4129" actId="478"/>
            <ac:picMkLst>
              <pc:docMk/>
              <pc:sldMasterMk cId="0" sldId="2147483652"/>
              <pc:sldLayoutMk cId="2216465440" sldId="2147483655"/>
              <ac:picMk id="6" creationId="{00000000-0000-0000-0000-000000000000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nivillebr-my.sharepoint.com/personal/rosalvo_medeiros_univille_br/Documents/DTI-ROSALVO/Documentos-Note/!Aula/!2026/FGSI/at&#233;-2026-03-24/curva_mensal_pizz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/>
              <a:t>Receita X Custo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Curva_Mensal!$C$1</c:f>
              <c:strCache>
                <c:ptCount val="1"/>
                <c:pt idx="0">
                  <c:v>Receita acumulada (R$)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Curva_Mensal!$C$2:$C$31</c:f>
              <c:numCache>
                <c:formatCode>General</c:formatCode>
                <c:ptCount val="30"/>
                <c:pt idx="0">
                  <c:v>1680</c:v>
                </c:pt>
                <c:pt idx="1">
                  <c:v>3360</c:v>
                </c:pt>
                <c:pt idx="2">
                  <c:v>5040</c:v>
                </c:pt>
                <c:pt idx="3">
                  <c:v>6720</c:v>
                </c:pt>
                <c:pt idx="4">
                  <c:v>8400</c:v>
                </c:pt>
                <c:pt idx="5">
                  <c:v>10080</c:v>
                </c:pt>
                <c:pt idx="6">
                  <c:v>11760</c:v>
                </c:pt>
                <c:pt idx="7">
                  <c:v>13440</c:v>
                </c:pt>
                <c:pt idx="8">
                  <c:v>15120</c:v>
                </c:pt>
                <c:pt idx="9">
                  <c:v>16800</c:v>
                </c:pt>
                <c:pt idx="10">
                  <c:v>18480</c:v>
                </c:pt>
                <c:pt idx="11">
                  <c:v>20160</c:v>
                </c:pt>
                <c:pt idx="12">
                  <c:v>21840</c:v>
                </c:pt>
                <c:pt idx="13">
                  <c:v>23520</c:v>
                </c:pt>
                <c:pt idx="14">
                  <c:v>25200</c:v>
                </c:pt>
                <c:pt idx="15">
                  <c:v>26880</c:v>
                </c:pt>
                <c:pt idx="16">
                  <c:v>28560</c:v>
                </c:pt>
                <c:pt idx="17">
                  <c:v>30240</c:v>
                </c:pt>
                <c:pt idx="18">
                  <c:v>31920</c:v>
                </c:pt>
                <c:pt idx="19">
                  <c:v>33600</c:v>
                </c:pt>
                <c:pt idx="20">
                  <c:v>35280</c:v>
                </c:pt>
                <c:pt idx="21">
                  <c:v>36960</c:v>
                </c:pt>
                <c:pt idx="22">
                  <c:v>38640</c:v>
                </c:pt>
                <c:pt idx="23">
                  <c:v>40320</c:v>
                </c:pt>
                <c:pt idx="24">
                  <c:v>42000</c:v>
                </c:pt>
                <c:pt idx="25">
                  <c:v>43680</c:v>
                </c:pt>
                <c:pt idx="26">
                  <c:v>45360</c:v>
                </c:pt>
                <c:pt idx="27">
                  <c:v>47040</c:v>
                </c:pt>
                <c:pt idx="28">
                  <c:v>48720</c:v>
                </c:pt>
                <c:pt idx="29">
                  <c:v>50400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DF-46CD-AC37-1315B83B0508}"/>
            </c:ext>
          </c:extLst>
        </c:ser>
        <c:ser>
          <c:idx val="1"/>
          <c:order val="1"/>
          <c:tx>
            <c:strRef>
              <c:f>Curva_Mensal!$D$1</c:f>
              <c:strCache>
                <c:ptCount val="1"/>
                <c:pt idx="0">
                  <c:v>Custo total acumulado (R$)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Curva_Mensal!$D$2:$D$31</c:f>
              <c:numCache>
                <c:formatCode>General</c:formatCode>
                <c:ptCount val="30"/>
                <c:pt idx="0">
                  <c:v>6616</c:v>
                </c:pt>
                <c:pt idx="1">
                  <c:v>7432</c:v>
                </c:pt>
                <c:pt idx="2">
                  <c:v>8248</c:v>
                </c:pt>
                <c:pt idx="3">
                  <c:v>9064</c:v>
                </c:pt>
                <c:pt idx="4">
                  <c:v>9880</c:v>
                </c:pt>
                <c:pt idx="5">
                  <c:v>10696</c:v>
                </c:pt>
                <c:pt idx="6">
                  <c:v>11512</c:v>
                </c:pt>
                <c:pt idx="7">
                  <c:v>12328</c:v>
                </c:pt>
                <c:pt idx="8">
                  <c:v>13144</c:v>
                </c:pt>
                <c:pt idx="9">
                  <c:v>13960</c:v>
                </c:pt>
                <c:pt idx="10">
                  <c:v>14776</c:v>
                </c:pt>
                <c:pt idx="11">
                  <c:v>15592</c:v>
                </c:pt>
                <c:pt idx="12">
                  <c:v>16408</c:v>
                </c:pt>
                <c:pt idx="13">
                  <c:v>17224</c:v>
                </c:pt>
                <c:pt idx="14">
                  <c:v>18040</c:v>
                </c:pt>
                <c:pt idx="15">
                  <c:v>18856</c:v>
                </c:pt>
                <c:pt idx="16">
                  <c:v>19672</c:v>
                </c:pt>
                <c:pt idx="17">
                  <c:v>20488</c:v>
                </c:pt>
                <c:pt idx="18">
                  <c:v>21304</c:v>
                </c:pt>
                <c:pt idx="19">
                  <c:v>22120</c:v>
                </c:pt>
                <c:pt idx="20">
                  <c:v>22936</c:v>
                </c:pt>
                <c:pt idx="21">
                  <c:v>23752</c:v>
                </c:pt>
                <c:pt idx="22">
                  <c:v>24568</c:v>
                </c:pt>
                <c:pt idx="23">
                  <c:v>25384</c:v>
                </c:pt>
                <c:pt idx="24">
                  <c:v>26200</c:v>
                </c:pt>
                <c:pt idx="25">
                  <c:v>27016</c:v>
                </c:pt>
                <c:pt idx="26">
                  <c:v>27832</c:v>
                </c:pt>
                <c:pt idx="27">
                  <c:v>28648</c:v>
                </c:pt>
                <c:pt idx="28">
                  <c:v>29464</c:v>
                </c:pt>
                <c:pt idx="29">
                  <c:v>30280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DF-46CD-AC37-1315B83B0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5357840"/>
        <c:axId val="885354000"/>
      </c:lineChart>
      <c:catAx>
        <c:axId val="88535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4000"/>
        <c:crosses val="autoZero"/>
        <c:auto val="1"/>
        <c:lblAlgn val="ctr"/>
        <c:lblOffset val="100"/>
        <c:noMultiLvlLbl val="0"/>
      </c:catAx>
      <c:valAx>
        <c:axId val="88535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85357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F4C25A3-D560-C197-9D40-460BC71A65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9B3FE0-1272-A2B1-B686-6D356CE3B8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1690-DD5C-4427-A133-DA45A64EC18D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1E32AD-A523-3E6D-0372-EC48754AD4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5B499A9-7263-E03E-A44A-5F1BBAAE53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A0BAF-B98A-417C-9AB2-441DDCC794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31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19548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/>
        </p:nvSpPr>
        <p:spPr>
          <a:xfrm>
            <a:off x="3971925" y="8831261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Clr>
                <a:srgbClr val="000000"/>
              </a:buClr>
              <a:buSzPct val="25000"/>
              <a:buFont typeface="Times New Roman"/>
              <a:buNone/>
            </a:pPr>
            <a:r>
              <a:rPr lang="en-US" sz="1200" b="0" i="0" u="none" strike="noStrike" cap="none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</a:p>
        </p:txBody>
      </p:sp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4" cy="418306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1986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A6644-DCFF-45AF-935D-E7E50D5BDB71}" type="slidenum">
              <a:rPr lang="pt-BR" smtClean="0"/>
              <a:t>93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197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365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apa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hape 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Shape 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25725" y="989725"/>
            <a:ext cx="2492549" cy="22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0" y="4299300"/>
            <a:ext cx="9161400" cy="255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15" name="Shape 15"/>
          <p:cNvCxnSpPr/>
          <p:nvPr/>
        </p:nvCxnSpPr>
        <p:spPr>
          <a:xfrm>
            <a:off x="1242300" y="5517232"/>
            <a:ext cx="6676800" cy="0"/>
          </a:xfrm>
          <a:prstGeom prst="straightConnector1">
            <a:avLst/>
          </a:prstGeom>
          <a:noFill/>
          <a:ln w="19050" cap="flat">
            <a:solidFill>
              <a:schemeClr val="dk2"/>
            </a:solidFill>
            <a:prstDash val="dot"/>
            <a:round/>
            <a:headEnd type="none" w="lg" len="lg"/>
            <a:tailEnd type="none" w="lg" len="lg"/>
          </a:ln>
        </p:spPr>
      </p:cxn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1114000" y="4428650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3600">
                <a:solidFill>
                  <a:srgbClr val="005F37"/>
                </a:solidFill>
              </a:defRPr>
            </a:lvl1pPr>
            <a:lvl2pPr algn="ctr" rtl="0">
              <a:buNone/>
              <a:defRPr>
                <a:solidFill>
                  <a:srgbClr val="005F37"/>
                </a:solidFill>
              </a:defRPr>
            </a:lvl2pPr>
            <a:lvl3pPr algn="ctr" rtl="0">
              <a:buNone/>
              <a:defRPr>
                <a:solidFill>
                  <a:srgbClr val="005F37"/>
                </a:solidFill>
              </a:defRPr>
            </a:lvl3pPr>
            <a:lvl4pPr algn="ctr" rtl="0">
              <a:buNone/>
              <a:defRPr>
                <a:solidFill>
                  <a:srgbClr val="005F37"/>
                </a:solidFill>
              </a:defRPr>
            </a:lvl4pPr>
            <a:lvl5pPr algn="ctr" rtl="0">
              <a:buNone/>
              <a:defRPr>
                <a:solidFill>
                  <a:srgbClr val="005F37"/>
                </a:solidFill>
              </a:defRPr>
            </a:lvl5pPr>
            <a:lvl6pPr algn="ctr" rtl="0">
              <a:buNone/>
              <a:defRPr>
                <a:solidFill>
                  <a:srgbClr val="005F37"/>
                </a:solidFill>
              </a:defRPr>
            </a:lvl6pPr>
            <a:lvl7pPr algn="ctr" rtl="0">
              <a:buNone/>
              <a:defRPr>
                <a:solidFill>
                  <a:srgbClr val="005F37"/>
                </a:solidFill>
              </a:defRPr>
            </a:lvl7pPr>
            <a:lvl8pPr algn="ctr" rtl="0">
              <a:buNone/>
              <a:defRPr>
                <a:solidFill>
                  <a:srgbClr val="005F37"/>
                </a:solidFill>
              </a:defRPr>
            </a:lvl8pPr>
            <a:lvl9pPr algn="ctr">
              <a:buNone/>
              <a:defRPr>
                <a:solidFill>
                  <a:srgbClr val="005F37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14000" y="5692525"/>
            <a:ext cx="6926100" cy="400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 rtl="0">
              <a:buNone/>
              <a:defRPr sz="2400" i="1">
                <a:solidFill>
                  <a:srgbClr val="82C55B"/>
                </a:solidFill>
              </a:defRPr>
            </a:lvl1pPr>
            <a:lvl2pPr algn="ctr" rtl="0">
              <a:buNone/>
              <a:defRPr sz="2400" i="1">
                <a:solidFill>
                  <a:srgbClr val="82C55B"/>
                </a:solidFill>
              </a:defRPr>
            </a:lvl2pPr>
            <a:lvl3pPr algn="ctr" rtl="0">
              <a:buNone/>
              <a:defRPr sz="2400" i="1">
                <a:solidFill>
                  <a:srgbClr val="82C55B"/>
                </a:solidFill>
              </a:defRPr>
            </a:lvl3pPr>
            <a:lvl4pPr algn="ctr" rtl="0">
              <a:buNone/>
              <a:defRPr sz="2400" i="1">
                <a:solidFill>
                  <a:srgbClr val="82C55B"/>
                </a:solidFill>
              </a:defRPr>
            </a:lvl4pPr>
            <a:lvl5pPr algn="ctr" rtl="0">
              <a:buNone/>
              <a:defRPr sz="2400" i="1">
                <a:solidFill>
                  <a:srgbClr val="82C55B"/>
                </a:solidFill>
              </a:defRPr>
            </a:lvl5pPr>
            <a:lvl6pPr algn="ctr" rtl="0">
              <a:buNone/>
              <a:defRPr sz="2400" i="1">
                <a:solidFill>
                  <a:srgbClr val="82C55B"/>
                </a:solidFill>
              </a:defRPr>
            </a:lvl6pPr>
            <a:lvl7pPr algn="ctr" rtl="0">
              <a:buNone/>
              <a:defRPr sz="2400" i="1">
                <a:solidFill>
                  <a:srgbClr val="82C55B"/>
                </a:solidFill>
              </a:defRPr>
            </a:lvl7pPr>
            <a:lvl8pPr algn="ctr" rtl="0">
              <a:buNone/>
              <a:defRPr sz="2400" i="1">
                <a:solidFill>
                  <a:srgbClr val="82C55B"/>
                </a:solidFill>
              </a:defRPr>
            </a:lvl8pPr>
            <a:lvl9pPr algn="ctr">
              <a:buNone/>
              <a:defRPr sz="2400" i="1">
                <a:solidFill>
                  <a:srgbClr val="82C5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capa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/>
        </p:nvSpPr>
        <p:spPr>
          <a:xfrm>
            <a:off x="-28350" y="0"/>
            <a:ext cx="9200700" cy="6858000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" name="Shape 26"/>
          <p:cNvSpPr txBox="1"/>
          <p:nvPr/>
        </p:nvSpPr>
        <p:spPr>
          <a:xfrm>
            <a:off x="4946300" y="3037500"/>
            <a:ext cx="3859799" cy="78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buNone/>
            </a:pPr>
            <a:r>
              <a:rPr lang="en-US" sz="2400" dirty="0">
                <a:solidFill>
                  <a:srgbClr val="005F37"/>
                </a:solidFill>
              </a:rPr>
              <a:t>univille.br</a:t>
            </a:r>
          </a:p>
        </p:txBody>
      </p:sp>
      <p:pic>
        <p:nvPicPr>
          <p:cNvPr id="27" name="Shape 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98000" y="2601000"/>
            <a:ext cx="1839799" cy="165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hape 28"/>
          <p:cNvCxnSpPr/>
          <p:nvPr/>
        </p:nvCxnSpPr>
        <p:spPr>
          <a:xfrm>
            <a:off x="4572000" y="2201850"/>
            <a:ext cx="0" cy="2454299"/>
          </a:xfrm>
          <a:prstGeom prst="straightConnector1">
            <a:avLst/>
          </a:prstGeom>
          <a:noFill/>
          <a:ln w="19050" cap="flat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7F13BADC-3AAC-0B97-2AAC-26D86D760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80540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109849F-7138-470C-896A-A1CDBE7996B2}" type="datetimeFigureOut">
              <a:rPr lang="pt-BR" smtClean="0"/>
              <a:pPr/>
              <a:t>31/03/2026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12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788318" cy="365760"/>
          </a:xfrm>
          <a:prstGeom prst="rect">
            <a:avLst/>
          </a:prstGeom>
        </p:spPr>
        <p:txBody>
          <a:bodyPr/>
          <a:lstStyle/>
          <a:p>
            <a:fld id="{3109849F-7138-470C-896A-A1CDBE7996B2}" type="datetimeFigureOut">
              <a:rPr lang="pt-BR" smtClean="0"/>
              <a:pPr/>
              <a:t>31/03/2026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32440" y="6407944"/>
            <a:ext cx="480592" cy="365125"/>
          </a:xfrm>
          <a:prstGeom prst="rect">
            <a:avLst/>
          </a:prstGeom>
        </p:spPr>
        <p:txBody>
          <a:bodyPr/>
          <a:lstStyle/>
          <a:p>
            <a:fld id="{403FA327-F3A8-4D4D-97DC-2F3B73A6A5F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52CA6B-935C-2001-2FE6-5D714B74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327571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8407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311944" y="334963"/>
            <a:ext cx="4048125" cy="3746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350" b="0" baseline="0">
                <a:solidFill>
                  <a:schemeClr val="bg1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Título do conteúdo estudado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1937905" y="1590303"/>
            <a:ext cx="5268191" cy="6048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8A1978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Título do assunto do slide</a:t>
            </a:r>
          </a:p>
        </p:txBody>
      </p:sp>
      <p:sp>
        <p:nvSpPr>
          <p:cNvPr id="9" name="Espaço Reservado para Texto 10"/>
          <p:cNvSpPr>
            <a:spLocks noGrp="1"/>
          </p:cNvSpPr>
          <p:nvPr>
            <p:ph type="body" sz="quarter" idx="12" hasCustomPrompt="1"/>
          </p:nvPr>
        </p:nvSpPr>
        <p:spPr>
          <a:xfrm>
            <a:off x="570394" y="2767467"/>
            <a:ext cx="8003211" cy="36659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aseline="0">
                <a:solidFill>
                  <a:schemeClr val="tx1">
                    <a:lumMod val="85000"/>
                    <a:lumOff val="15000"/>
                  </a:schemeClr>
                </a:solidFill>
                <a:latin typeface="Work Sans" panose="00000500000000000000" pitchFamily="2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Proxima Nova Rg" panose="02000506030000020004" pitchFamily="50" charset="0"/>
              </a:defRPr>
            </a:lvl5pPr>
          </a:lstStyle>
          <a:p>
            <a:pPr lvl="0"/>
            <a:r>
              <a:rPr lang="pt-BR" dirty="0"/>
              <a:t>Insira aqui o conteúdo</a:t>
            </a:r>
          </a:p>
        </p:txBody>
      </p:sp>
    </p:spTree>
    <p:extLst>
      <p:ext uri="{BB962C8B-B14F-4D97-AF65-F5344CB8AC3E}">
        <p14:creationId xmlns:p14="http://schemas.microsoft.com/office/powerpoint/2010/main" val="221646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1267F-4848-B677-487F-C41651D4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79331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5A78D-1067-328D-D4F3-350D5323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0735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18"/>
            <a:ext cx="9144000" cy="6876237"/>
          </a:xfrm>
          <a:prstGeom prst="rect">
            <a:avLst/>
          </a:prstGeom>
        </p:spPr>
      </p:pic>
      <p:sp>
        <p:nvSpPr>
          <p:cNvPr id="8" name="Espaço Reservado para Texto 7"/>
          <p:cNvSpPr>
            <a:spLocks noGrp="1"/>
          </p:cNvSpPr>
          <p:nvPr>
            <p:ph type="body" sz="quarter" idx="11" hasCustomPrompt="1"/>
          </p:nvPr>
        </p:nvSpPr>
        <p:spPr>
          <a:xfrm>
            <a:off x="2011383" y="3036776"/>
            <a:ext cx="5268191" cy="60483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b="1" baseline="0">
                <a:solidFill>
                  <a:srgbClr val="8A1978"/>
                </a:solidFill>
                <a:latin typeface="Work Sans" panose="00000500000000000000" pitchFamily="2" charset="0"/>
              </a:defRPr>
            </a:lvl1pPr>
          </a:lstStyle>
          <a:p>
            <a:pPr lvl="0"/>
            <a:r>
              <a:rPr lang="pt-BR" dirty="0"/>
              <a:t>“Alguma citação especial ou frase curto que mereça destaque dentro do conteúdo. Pode ser utilizado para uma dica”</a:t>
            </a:r>
          </a:p>
        </p:txBody>
      </p:sp>
    </p:spTree>
    <p:extLst>
      <p:ext uri="{BB962C8B-B14F-4D97-AF65-F5344CB8AC3E}">
        <p14:creationId xmlns:p14="http://schemas.microsoft.com/office/powerpoint/2010/main" val="105872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05F6F-E976-AD72-14FC-6537F24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9289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/>
          <p:nvPr/>
        </p:nvSpPr>
        <p:spPr>
          <a:xfrm>
            <a:off x="0" y="-8700"/>
            <a:ext cx="9144000" cy="791999"/>
          </a:xfrm>
          <a:prstGeom prst="rect">
            <a:avLst/>
          </a:prstGeom>
          <a:solidFill>
            <a:srgbClr val="82C55B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Shape 10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7191000" y="196487"/>
            <a:ext cx="1699250" cy="3816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9" r:id="rId6"/>
    <p:sldLayoutId id="2147483657" r:id="rId7"/>
    <p:sldLayoutId id="2147483656" r:id="rId8"/>
    <p:sldLayoutId id="2147483658" r:id="rId9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/>
        </p:nvSpPr>
        <p:spPr>
          <a:xfrm>
            <a:off x="827087" y="3789362"/>
            <a:ext cx="7315200" cy="495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buClr>
                <a:schemeClr val="lt1"/>
              </a:buClr>
              <a:buSzPct val="25000"/>
              <a:buFont typeface="Arial"/>
              <a:buNone/>
            </a:pPr>
            <a:r>
              <a:rPr lang="en-US" sz="2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057675" y="4437112"/>
            <a:ext cx="6963599" cy="898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Fundamentos de Gestão e Sistemas de Informação</a:t>
            </a:r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ubTitle" idx="1"/>
          </p:nvPr>
        </p:nvSpPr>
        <p:spPr>
          <a:xfrm>
            <a:off x="1108950" y="5805264"/>
            <a:ext cx="6926100" cy="692738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pt-BR" dirty="0"/>
              <a:t>FGSI</a:t>
            </a:r>
          </a:p>
          <a:p>
            <a:r>
              <a:rPr lang="pt-BR" dirty="0"/>
              <a:t>Professor Rosalvo Medeiros</a:t>
            </a:r>
          </a:p>
          <a:p>
            <a:r>
              <a:rPr lang="pt-BR" dirty="0"/>
              <a:t>99119-0412</a:t>
            </a:r>
            <a:endParaRPr dirty="0"/>
          </a:p>
        </p:txBody>
      </p:sp>
    </p:spTree>
  </p:cSld>
  <p:clrMapOvr>
    <a:masterClrMapping/>
  </p:clrMapOvr>
  <p:transition spd="slow" advTm="120500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692696"/>
            <a:ext cx="7407275" cy="3960440"/>
          </a:xfrm>
        </p:spPr>
        <p:txBody>
          <a:bodyPr/>
          <a:lstStyle/>
          <a:p>
            <a:pPr algn="l">
              <a:defRPr/>
            </a:pPr>
            <a:r>
              <a:rPr lang="pt-BR" sz="3200" b="1" dirty="0"/>
              <a:t>Objetivo da Aula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Gestão</a:t>
            </a:r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  <a:p>
            <a:pPr algn="l">
              <a:defRPr/>
            </a:pPr>
            <a:r>
              <a:rPr lang="pt-BR" sz="3200" dirty="0"/>
              <a:t>Sistemas de Informação</a:t>
            </a:r>
            <a:endParaRPr lang="pt-BR" sz="3200" b="1" dirty="0"/>
          </a:p>
          <a:p>
            <a:pPr algn="l">
              <a:defRPr/>
            </a:pP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165214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6"/>
            <a:ext cx="8229600" cy="5328591"/>
          </a:xfrm>
        </p:spPr>
        <p:txBody>
          <a:bodyPr/>
          <a:lstStyle/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		</a:t>
            </a:r>
            <a:r>
              <a:rPr lang="pt-BR" sz="4000" dirty="0"/>
              <a:t>PV = C + L</a:t>
            </a:r>
          </a:p>
          <a:p>
            <a:pPr eaLnBrk="1" hangingPunct="1">
              <a:buFontTx/>
              <a:buNone/>
            </a:pPr>
            <a:endParaRPr lang="pt-BR" sz="1800" dirty="0"/>
          </a:p>
          <a:p>
            <a:pPr eaLnBrk="1" hangingPunct="1">
              <a:buFontTx/>
              <a:buNone/>
            </a:pPr>
            <a:r>
              <a:rPr lang="pt-BR" sz="1800" dirty="0"/>
              <a:t>	PV	= preço de venda</a:t>
            </a:r>
          </a:p>
          <a:p>
            <a:pPr eaLnBrk="1" hangingPunct="1">
              <a:buFontTx/>
              <a:buNone/>
            </a:pPr>
            <a:r>
              <a:rPr lang="pt-BR" sz="1800" dirty="0"/>
              <a:t>	C 	= custo</a:t>
            </a:r>
          </a:p>
          <a:p>
            <a:pPr eaLnBrk="1" hangingPunct="1">
              <a:buFontTx/>
              <a:buNone/>
            </a:pPr>
            <a:r>
              <a:rPr lang="pt-BR" sz="1800" dirty="0"/>
              <a:t>	L 	= lucro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eaLnBrk="1" hangingPunct="1">
              <a:buFontTx/>
              <a:buNone/>
            </a:pPr>
            <a:r>
              <a:rPr lang="pt-BR" sz="2400" dirty="0"/>
              <a:t>Questões</a:t>
            </a:r>
          </a:p>
          <a:p>
            <a:pPr eaLnBrk="1" hangingPunct="1">
              <a:buFontTx/>
              <a:buNone/>
            </a:pPr>
            <a:endParaRPr lang="pt-BR" sz="2400" dirty="0"/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PV definido pelo mercado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Controle do custo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Lucro como resultado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Mercado competitivo</a:t>
            </a:r>
          </a:p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pt-BR" sz="1800" dirty="0"/>
              <a:t>Commodities: são artigos de comércio, bens que não sofrem processos de alteração (ou que são pouco diferenciados) </a:t>
            </a:r>
            <a:r>
              <a:rPr lang="pt-BR" sz="1000" dirty="0"/>
              <a:t>(https://www.significados.com.br/commodities/)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021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2">
                    <a:satMod val="130000"/>
                  </a:schemeClr>
                </a:solidFill>
              </a:rPr>
              <a:t>Contextualização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92087"/>
          </a:xfrm>
        </p:spPr>
        <p:txBody>
          <a:bodyPr/>
          <a:lstStyle/>
          <a:p>
            <a:r>
              <a:rPr lang="pt-BR" sz="2400" dirty="0"/>
              <a:t>“Uma empresa pode existir sem gestão? Pode existir sem informação?”</a:t>
            </a:r>
          </a:p>
          <a:p>
            <a:endParaRPr lang="pt-BR" sz="2400" dirty="0"/>
          </a:p>
          <a:p>
            <a:endParaRPr lang="pt-BR" sz="2000" dirty="0"/>
          </a:p>
          <a:p>
            <a:pPr eaLnBrk="1" hangingPunct="1">
              <a:buFontTx/>
              <a:buNone/>
            </a:pPr>
            <a:endParaRPr lang="pt-BR" sz="2800" dirty="0"/>
          </a:p>
          <a:p>
            <a:pPr eaLnBrk="1" hangingPunct="1">
              <a:buFontTx/>
              <a:buNone/>
            </a:pPr>
            <a:endParaRPr lang="pt-BR" sz="28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810A836-26A4-EE26-E766-B9AD27E2B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3080"/>
              </p:ext>
            </p:extLst>
          </p:nvPr>
        </p:nvGraphicFramePr>
        <p:xfrm>
          <a:off x="628650" y="2032919"/>
          <a:ext cx="7886700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9743040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880855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Abordagem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600" b="1" dirty="0"/>
                        <a:t>Tendência de resposta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7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Técnico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tecnologia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89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Administrativo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Foco em chefia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209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Mais maduro conceitualmente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Fala em processo e decisão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429080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B118B071-19C4-A40E-5C3C-3BAC42D0703A}"/>
              </a:ext>
            </a:extLst>
          </p:cNvPr>
          <p:cNvSpPr txBox="1"/>
          <p:nvPr/>
        </p:nvSpPr>
        <p:spPr>
          <a:xfrm>
            <a:off x="584101" y="3645024"/>
            <a:ext cx="7975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Toda organização possui algum nível de gestão, mesmo que informal.</a:t>
            </a:r>
            <a:br>
              <a:rPr lang="pt-BR" sz="1800" dirty="0"/>
            </a:br>
            <a:r>
              <a:rPr lang="pt-BR" sz="1800" dirty="0"/>
              <a:t>E toda gestão depende de informação, mesmo que não informatizada.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64B7D1-67F4-CC06-DD60-63A4AE85A0AE}"/>
              </a:ext>
            </a:extLst>
          </p:cNvPr>
          <p:cNvSpPr txBox="1"/>
          <p:nvPr/>
        </p:nvSpPr>
        <p:spPr>
          <a:xfrm>
            <a:off x="628796" y="4653780"/>
            <a:ext cx="7886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diferencia empresas modernas é a qualidade e a velocidade da informação.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6C12CE-012E-ADF0-7D95-AE1CD7F38EB4}"/>
              </a:ext>
            </a:extLst>
          </p:cNvPr>
          <p:cNvSpPr txBox="1"/>
          <p:nvPr/>
        </p:nvSpPr>
        <p:spPr>
          <a:xfrm>
            <a:off x="628650" y="5589240"/>
            <a:ext cx="7471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profissional de Sistemas de Informação não desenvolve tecnologia para substituir a gestão, mas para potencializá-la.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939B17-5C84-8706-9074-974F8C028E25}"/>
              </a:ext>
            </a:extLst>
          </p:cNvPr>
          <p:cNvSpPr txBox="1"/>
          <p:nvPr/>
        </p:nvSpPr>
        <p:spPr>
          <a:xfrm>
            <a:off x="4366608" y="641333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/>
              <a:t>Fonte:</a:t>
            </a:r>
            <a:r>
              <a:rPr lang="pt-BR" sz="900" dirty="0"/>
              <a:t> Elaboração própria, com base em Chiavenato (2014), Fayol (2009), </a:t>
            </a:r>
            <a:r>
              <a:rPr lang="pt-BR" sz="900" dirty="0" err="1"/>
              <a:t>Laudon</a:t>
            </a:r>
            <a:r>
              <a:rPr lang="pt-BR" sz="900" dirty="0"/>
              <a:t> e </a:t>
            </a:r>
            <a:r>
              <a:rPr lang="pt-BR" sz="900" dirty="0" err="1"/>
              <a:t>Laudon</a:t>
            </a:r>
            <a:r>
              <a:rPr lang="pt-BR" sz="900" dirty="0"/>
              <a:t> (2020), O’Brien e </a:t>
            </a:r>
            <a:r>
              <a:rPr lang="pt-BR" sz="900" dirty="0" err="1"/>
              <a:t>Marakas</a:t>
            </a:r>
            <a:r>
              <a:rPr lang="pt-BR" sz="900" dirty="0"/>
              <a:t> (2013) e Drucker (2001)</a:t>
            </a:r>
          </a:p>
        </p:txBody>
      </p:sp>
    </p:spTree>
    <p:extLst>
      <p:ext uri="{BB962C8B-B14F-4D97-AF65-F5344CB8AC3E}">
        <p14:creationId xmlns:p14="http://schemas.microsoft.com/office/powerpoint/2010/main" val="229067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5642" y="1628800"/>
            <a:ext cx="8229600" cy="1224136"/>
          </a:xfrm>
        </p:spPr>
        <p:txBody>
          <a:bodyPr/>
          <a:lstStyle/>
          <a:p>
            <a:pPr algn="just" eaLnBrk="1" hangingPunct="1"/>
            <a:r>
              <a:rPr lang="pt-BR" sz="2000" b="1" dirty="0"/>
              <a:t>Gestão</a:t>
            </a:r>
            <a:r>
              <a:rPr lang="pt-BR" sz="2000" dirty="0"/>
              <a:t> é o processo de </a:t>
            </a:r>
            <a:r>
              <a:rPr lang="pt-BR" sz="2000" b="1" dirty="0"/>
              <a:t>planejar, organizar, dirigir e controlar</a:t>
            </a:r>
            <a:r>
              <a:rPr lang="pt-BR" sz="2000" dirty="0"/>
              <a:t> recursos e pessoas para alcançar objetivos organizacionais, conceito que evolui conforme o foco das teorias administrativas.</a:t>
            </a:r>
          </a:p>
          <a:p>
            <a:pPr algn="just" eaLnBrk="1" hangingPunct="1"/>
            <a:r>
              <a:rPr lang="pt-BR" sz="2000" dirty="0"/>
              <a:t>							</a:t>
            </a:r>
            <a:r>
              <a:rPr lang="pt-BR" sz="1100" i="1" dirty="0"/>
              <a:t>Idalberto Chiavenato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5642" y="3140970"/>
            <a:ext cx="2862064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Administração Científica</a:t>
            </a:r>
          </a:p>
          <a:p>
            <a:r>
              <a:rPr lang="pt-BR" b="1" dirty="0"/>
              <a:t>planejar e controlar o trabalho</a:t>
            </a:r>
            <a:r>
              <a:rPr lang="pt-BR" dirty="0"/>
              <a:t>, buscando a </a:t>
            </a:r>
            <a:r>
              <a:rPr lang="pt-BR" b="1" dirty="0"/>
              <a:t>máxima eficiência operacional</a:t>
            </a:r>
            <a:r>
              <a:rPr lang="pt-BR" dirty="0"/>
              <a:t> por meio da padronização, estudo de tempos e métodos.</a:t>
            </a:r>
          </a:p>
          <a:p>
            <a:pPr lvl="2"/>
            <a:r>
              <a:rPr lang="pt-BR" dirty="0"/>
              <a:t>	</a:t>
            </a:r>
            <a:r>
              <a:rPr lang="pt-BR" sz="1100" i="1" dirty="0"/>
              <a:t>Frederick Winslow Taylor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24736" y="3120819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Clássica</a:t>
            </a:r>
            <a:endParaRPr lang="pt-BR" sz="1100" b="1" dirty="0"/>
          </a:p>
          <a:p>
            <a:r>
              <a:rPr lang="pt-BR" b="1" dirty="0"/>
              <a:t>planejar, organizar, comandar, coordenar e controlar</a:t>
            </a:r>
            <a:r>
              <a:rPr lang="pt-BR" dirty="0"/>
              <a:t> os recursos da organização para alcançar seus objetivos.		</a:t>
            </a:r>
            <a:r>
              <a:rPr lang="pt-BR" sz="1100" i="1" dirty="0"/>
              <a:t>Henri Fayol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17483" y="5062506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Burocrática</a:t>
            </a:r>
          </a:p>
          <a:p>
            <a:r>
              <a:rPr lang="pt-BR" b="1" dirty="0"/>
              <a:t>aplicação de normas, regras formais e hierarquia</a:t>
            </a:r>
            <a:r>
              <a:rPr lang="pt-BR" dirty="0"/>
              <a:t>, garantindo previsibilidade, racionalidade e impessoalidade nas decisões.		</a:t>
            </a:r>
            <a:r>
              <a:rPr lang="pt-BR" sz="1100" i="1" dirty="0"/>
              <a:t>Max Weber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24127" y="5170227"/>
            <a:ext cx="300238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das Relações Humanas</a:t>
            </a:r>
          </a:p>
          <a:p>
            <a:r>
              <a:rPr lang="pt-BR" b="1" dirty="0"/>
              <a:t>liderar pessoas</a:t>
            </a:r>
            <a:r>
              <a:rPr lang="pt-BR" dirty="0"/>
              <a:t>, considerando fatores sociais, motivacionais e psicológicos para melhorar o desempenho organizacional.			</a:t>
            </a:r>
            <a:r>
              <a:rPr lang="pt-BR" sz="1100" i="1" dirty="0"/>
              <a:t>Elton </a:t>
            </a:r>
            <a:r>
              <a:rPr lang="pt-BR" sz="1100" i="1" dirty="0" err="1"/>
              <a:t>Mayo</a:t>
            </a:r>
            <a:endParaRPr lang="pt-BR" sz="1100" i="1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E023DA9-D047-E97E-999A-821C0DE2A10D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02229"/>
            <a:ext cx="8229600" cy="490066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endParaRPr lang="pt-BR" sz="20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3427474-C70D-2A78-F72B-C5A0B9AAEDC4}"/>
              </a:ext>
            </a:extLst>
          </p:cNvPr>
          <p:cNvSpPr txBox="1">
            <a:spLocks noChangeArrowheads="1"/>
          </p:cNvSpPr>
          <p:nvPr/>
        </p:nvSpPr>
        <p:spPr>
          <a:xfrm>
            <a:off x="417483" y="965528"/>
            <a:ext cx="8229600" cy="418999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algn="just"/>
            <a:r>
              <a:rPr lang="pt-BR" sz="2000" b="1" dirty="0"/>
              <a:t>O que significa GESTÃO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62056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2170584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490066"/>
          </a:xfrm>
        </p:spPr>
        <p:txBody>
          <a:bodyPr/>
          <a:lstStyle/>
          <a:p>
            <a:pPr algn="just" eaLnBrk="1" hangingPunct="1"/>
            <a:r>
              <a:rPr lang="pt-BR" sz="2000" dirty="0"/>
              <a:t>GESTÃO</a:t>
            </a:r>
          </a:p>
          <a:p>
            <a:pPr algn="just" eaLnBrk="1" hangingPunct="1"/>
            <a:endParaRPr lang="pt-BR" sz="2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F8ECF2-EDAB-60D4-9983-DAD1081CA538}"/>
              </a:ext>
            </a:extLst>
          </p:cNvPr>
          <p:cNvSpPr txBox="1"/>
          <p:nvPr/>
        </p:nvSpPr>
        <p:spPr>
          <a:xfrm>
            <a:off x="436663" y="2090172"/>
            <a:ext cx="286206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Comportamental</a:t>
            </a:r>
          </a:p>
          <a:p>
            <a:r>
              <a:rPr lang="pt-BR" b="1" dirty="0"/>
              <a:t>compreender e influenciar o comportamento humano</a:t>
            </a:r>
            <a:r>
              <a:rPr lang="pt-BR" dirty="0"/>
              <a:t>, alinhando objetivos individuais e organizacionais.		</a:t>
            </a:r>
            <a:r>
              <a:rPr lang="pt-BR" sz="1100" i="1" dirty="0"/>
              <a:t>Herbert Simon, Abraham Maslow, Douglas McGregor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038074-5186-FE7F-DA49-568A845AECA6}"/>
              </a:ext>
            </a:extLst>
          </p:cNvPr>
          <p:cNvSpPr txBox="1"/>
          <p:nvPr/>
        </p:nvSpPr>
        <p:spPr>
          <a:xfrm>
            <a:off x="5845275" y="2090172"/>
            <a:ext cx="2862064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dos Sistemas</a:t>
            </a:r>
          </a:p>
          <a:p>
            <a:r>
              <a:rPr lang="pt-BR" b="1" dirty="0"/>
              <a:t>administrar a organização como um sistema aberto</a:t>
            </a:r>
            <a:r>
              <a:rPr lang="pt-BR" dirty="0"/>
              <a:t>, integrado ao ambiente, composto por partes interdependentes.	</a:t>
            </a:r>
            <a:r>
              <a:rPr lang="pt-BR" sz="1100" i="1" dirty="0"/>
              <a:t>Ludwig von </a:t>
            </a:r>
            <a:r>
              <a:rPr lang="pt-BR" sz="1100" i="1" dirty="0" err="1"/>
              <a:t>Bertalanffy</a:t>
            </a:r>
            <a:endParaRPr lang="pt-BR" sz="1100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1F3D05-B805-C998-11EA-324F32D20B92}"/>
              </a:ext>
            </a:extLst>
          </p:cNvPr>
          <p:cNvSpPr txBox="1"/>
          <p:nvPr/>
        </p:nvSpPr>
        <p:spPr>
          <a:xfrm>
            <a:off x="485946" y="4231247"/>
            <a:ext cx="28620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</a:t>
            </a:r>
            <a:r>
              <a:rPr lang="pt-BR" sz="1100" i="1" dirty="0" err="1"/>
              <a:t>Contigencial</a:t>
            </a:r>
            <a:endParaRPr lang="pt-BR" sz="1100" i="1" dirty="0"/>
          </a:p>
          <a:p>
            <a:r>
              <a:rPr lang="pt-BR" b="1" dirty="0"/>
              <a:t>adaptar a estrutura e os processos</a:t>
            </a:r>
            <a:r>
              <a:rPr lang="pt-BR" dirty="0"/>
              <a:t> às condições do ambiente; não existe uma única forma ideal de administrar.	</a:t>
            </a:r>
            <a:r>
              <a:rPr lang="pt-BR" sz="1100" i="1" dirty="0"/>
              <a:t>Paul Lawrence e Jay </a:t>
            </a:r>
            <a:r>
              <a:rPr lang="pt-BR" sz="1100" i="1" dirty="0" err="1"/>
              <a:t>Lorsch</a:t>
            </a:r>
            <a:endParaRPr lang="pt-BR" sz="1100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A20D22-A267-53CC-67C7-EF74F2950536}"/>
              </a:ext>
            </a:extLst>
          </p:cNvPr>
          <p:cNvSpPr txBox="1"/>
          <p:nvPr/>
        </p:nvSpPr>
        <p:spPr>
          <a:xfrm>
            <a:off x="5795990" y="4300496"/>
            <a:ext cx="286206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i="1" dirty="0"/>
              <a:t>Abordagem: Teoria Contemporânea (Moderna)</a:t>
            </a:r>
          </a:p>
          <a:p>
            <a:r>
              <a:rPr lang="pt-BR" b="1" dirty="0"/>
              <a:t>gerar valor</a:t>
            </a:r>
            <a:r>
              <a:rPr lang="pt-BR" dirty="0"/>
              <a:t>, promover inovação, qualidade, sustentabilidade e vantagem competitiva..	</a:t>
            </a:r>
            <a:r>
              <a:rPr lang="pt-BR" sz="1100" i="1" dirty="0"/>
              <a:t>Peter Drucker, Michael Porter</a:t>
            </a:r>
          </a:p>
        </p:txBody>
      </p:sp>
    </p:spTree>
    <p:extLst>
      <p:ext uri="{BB962C8B-B14F-4D97-AF65-F5344CB8AC3E}">
        <p14:creationId xmlns:p14="http://schemas.microsoft.com/office/powerpoint/2010/main" val="243624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203032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54D6F57D-0834-8435-05D6-61283583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10195"/>
              </p:ext>
            </p:extLst>
          </p:nvPr>
        </p:nvGraphicFramePr>
        <p:xfrm>
          <a:off x="457200" y="960403"/>
          <a:ext cx="8147247" cy="534835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5749">
                  <a:extLst>
                    <a:ext uri="{9D8B030D-6E8A-4147-A177-3AD203B41FA5}">
                      <a16:colId xmlns:a16="http://schemas.microsoft.com/office/drawing/2014/main" val="36584569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867981925"/>
                    </a:ext>
                  </a:extLst>
                </a:gridCol>
                <a:gridCol w="2715749">
                  <a:extLst>
                    <a:ext uri="{9D8B030D-6E8A-4147-A177-3AD203B41FA5}">
                      <a16:colId xmlns:a16="http://schemas.microsoft.com/office/drawing/2014/main" val="1294823190"/>
                    </a:ext>
                  </a:extLst>
                </a:gridCol>
              </a:tblGrid>
              <a:tr h="2381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Teoria / Autor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/>
                        <a:t>Conceito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400" b="1" dirty="0"/>
                        <a:t>Relação com Chiavenato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954862670"/>
                  </a:ext>
                </a:extLst>
              </a:tr>
              <a:tr h="905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Administração Científica – Frederick Winslow Taylor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busca da máxima eficiência operacional, baseada em métodos, tempos e movimentos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incorpora a eficiência, mas amplia o conceito para além do aspecto mecânico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43202144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Clássica – Henri Fayol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Gestão como planejar, organizar, comandar, coordenar e controlar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convergência: Chiavenato adota e moderniza as funções administrativas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419854688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Burocrática – Max Weber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baseada em regras, normas, hierarquia e impessoalidade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reconhece a importância da estrutura formal, mas critica a rigidez excessiva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82807507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Relações Humanas – Elton Mayo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centrada nas relações sociais e motivação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Forte alinhamento: Chiavenato enfatiza pessoas como diferencial competitivo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2277391579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Comportamental – Herbert Simon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processo decisório limitado pela racionalidade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incorpora a decisão gerencial e o comportamento humano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0619052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dos Sistemas – Ludwig von Bertalanffy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como administração de um sistema aberto, integrado ao ambiente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Chiavenato adota visão sistêmica e integrada da organização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1939009845"/>
                  </a:ext>
                </a:extLst>
              </a:tr>
              <a:tr h="5719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Teoria Contingencial – Paul Lawrence e Jay Lorsch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Não existe uma única forma ideal de gestão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Total alinhamento: Chiavenato defende adaptação ao contexto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4019774479"/>
                  </a:ext>
                </a:extLst>
              </a:tr>
              <a:tr h="4050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Moderna – Peter Drucker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/>
                        <a:t>Gestão orientada a resultados, objetivos e valor</a:t>
                      </a:r>
                    </a:p>
                  </a:txBody>
                  <a:tcPr marL="58538" marR="58538" marT="29269" marB="2926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 b="0" dirty="0"/>
                        <a:t>Chiavenato integra eficiência, eficácia e foco em resultados</a:t>
                      </a:r>
                    </a:p>
                  </a:txBody>
                  <a:tcPr marL="58538" marR="58538" marT="29269" marB="29269" anchor="ctr"/>
                </a:tc>
                <a:extLst>
                  <a:ext uri="{0D108BD9-81ED-4DB2-BD59-A6C34878D82A}">
                    <a16:rowId xmlns:a16="http://schemas.microsoft.com/office/drawing/2014/main" val="53543305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CBD12C47-DD89-903B-7838-AABD29A0C46C}"/>
              </a:ext>
            </a:extLst>
          </p:cNvPr>
          <p:cNvSpPr txBox="1"/>
          <p:nvPr/>
        </p:nvSpPr>
        <p:spPr>
          <a:xfrm>
            <a:off x="683568" y="6470703"/>
            <a:ext cx="792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/>
              <a:t>Fonte: Elaboração própria, com base em Chiavenato (2014) e principais teóricos da Administração, utilizando ferramenta de Inteligência Artificial para organização e síntese do conteúdo.</a:t>
            </a:r>
          </a:p>
        </p:txBody>
      </p:sp>
    </p:spTree>
    <p:extLst>
      <p:ext uri="{BB962C8B-B14F-4D97-AF65-F5344CB8AC3E}">
        <p14:creationId xmlns:p14="http://schemas.microsoft.com/office/powerpoint/2010/main" val="65024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065AF43-AB31-4106-A9A1-45F974BD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737"/>
            <a:ext cx="8229600" cy="720080"/>
          </a:xfrm>
        </p:spPr>
        <p:txBody>
          <a:bodyPr/>
          <a:lstStyle/>
          <a:p>
            <a:pPr algn="just" eaLnBrk="1" hangingPunct="1"/>
            <a:r>
              <a:rPr lang="pt-BR" sz="2000" dirty="0"/>
              <a:t>Uma empresa pode ser considerada bem-sucedida se for muito eficiente, mas não eficaz? E se for eficaz, mas não eficiente?</a:t>
            </a:r>
          </a:p>
          <a:p>
            <a:pPr algn="just" eaLnBrk="1" hangingPunct="1"/>
            <a:endParaRPr lang="pt-BR" sz="2000" dirty="0"/>
          </a:p>
          <a:p>
            <a:pPr algn="just" eaLnBrk="1" hangingPunct="1"/>
            <a:endParaRPr lang="pt-BR" sz="2000" dirty="0"/>
          </a:p>
          <a:p>
            <a:pPr algn="just" eaLnBrk="1" hangingPunct="1"/>
            <a:r>
              <a:rPr lang="pt-BR" sz="2000" dirty="0"/>
              <a:t>É melhor fazer bem feito ou fazer o que realmente precisa ser feito?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DB5326-395E-6020-6C6A-E7BF8ABEA5DD}"/>
              </a:ext>
            </a:extLst>
          </p:cNvPr>
          <p:cNvSpPr txBox="1"/>
          <p:nvPr/>
        </p:nvSpPr>
        <p:spPr>
          <a:xfrm>
            <a:off x="457200" y="3057531"/>
            <a:ext cx="8147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Um sistema pode ser tecnicamente eficiente (rápido, barato, estável) e ainda assim ser ineficaz para a organização?</a:t>
            </a:r>
          </a:p>
        </p:txBody>
      </p:sp>
    </p:spTree>
    <p:extLst>
      <p:ext uri="{BB962C8B-B14F-4D97-AF65-F5344CB8AC3E}">
        <p14:creationId xmlns:p14="http://schemas.microsoft.com/office/powerpoint/2010/main" val="87314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539552" y="1386079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“Eficiência é a capacidade de fazer corretamente as coisas, utilizando da melhor maneira possível os recursos disponíveis.”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471ED1A-2186-CFBC-5D18-4D33458E7337}"/>
              </a:ext>
            </a:extLst>
          </p:cNvPr>
          <p:cNvSpPr txBox="1"/>
          <p:nvPr/>
        </p:nvSpPr>
        <p:spPr>
          <a:xfrm>
            <a:off x="539552" y="251679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</a:t>
            </a:r>
            <a:r>
              <a:rPr lang="pt-BR" sz="1800" b="1" dirty="0"/>
              <a:t>bem feito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menor custo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Fazer com </a:t>
            </a:r>
            <a:r>
              <a:rPr lang="pt-BR" sz="1800" b="1" dirty="0"/>
              <a:t>menos desperdício</a:t>
            </a:r>
            <a:endParaRPr lang="pt-BR" sz="1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4A6DB49-CDFD-2B08-DF2B-222161DD90F7}"/>
              </a:ext>
            </a:extLst>
          </p:cNvPr>
          <p:cNvSpPr txBox="1"/>
          <p:nvPr/>
        </p:nvSpPr>
        <p:spPr>
          <a:xfrm>
            <a:off x="611560" y="4293096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“Eficácia é a capacidade de alcançar os objetivos e resultados pretendidos.”</a:t>
            </a:r>
            <a:br>
              <a:rPr lang="pt-BR" dirty="0"/>
            </a:br>
            <a:r>
              <a:rPr lang="pt-BR" dirty="0"/>
              <a:t>							</a:t>
            </a:r>
            <a:r>
              <a:rPr lang="pt-BR" sz="900" dirty="0"/>
              <a:t>(CHIAVENATO, 2014)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67E4B2-A636-F058-2B8D-19A6B2914724}"/>
              </a:ext>
            </a:extLst>
          </p:cNvPr>
          <p:cNvSpPr txBox="1"/>
          <p:nvPr/>
        </p:nvSpPr>
        <p:spPr>
          <a:xfrm>
            <a:off x="611560" y="534932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Alcançar o </a:t>
            </a:r>
            <a:r>
              <a:rPr lang="pt-BR" sz="1800" b="1" dirty="0"/>
              <a:t>objetivo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Cumprir a </a:t>
            </a:r>
            <a:r>
              <a:rPr lang="pt-BR" sz="1800" b="1" dirty="0"/>
              <a:t>meta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 Gerar o </a:t>
            </a:r>
            <a:r>
              <a:rPr lang="pt-BR" sz="1800" b="1" dirty="0"/>
              <a:t>resultado esperado</a:t>
            </a:r>
            <a:endParaRPr lang="pt-BR" sz="18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47ECA98-607A-1DC1-7536-0669DCA25484}"/>
              </a:ext>
            </a:extLst>
          </p:cNvPr>
          <p:cNvSpPr txBox="1"/>
          <p:nvPr/>
        </p:nvSpPr>
        <p:spPr>
          <a:xfrm>
            <a:off x="539552" y="893143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Eficiência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191174-EC35-8472-E144-D1B2F4C23E82}"/>
              </a:ext>
            </a:extLst>
          </p:cNvPr>
          <p:cNvSpPr txBox="1"/>
          <p:nvPr/>
        </p:nvSpPr>
        <p:spPr>
          <a:xfrm>
            <a:off x="539552" y="3831431"/>
            <a:ext cx="165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Eficácia</a:t>
            </a:r>
          </a:p>
        </p:txBody>
      </p:sp>
    </p:spTree>
    <p:extLst>
      <p:ext uri="{BB962C8B-B14F-4D97-AF65-F5344CB8AC3E}">
        <p14:creationId xmlns:p14="http://schemas.microsoft.com/office/powerpoint/2010/main" val="102156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EFICIÊNCIA x EFICÁCIA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72816"/>
            <a:ext cx="7848872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sz="2000" dirty="0"/>
              <a:t>IDEAL: Ser eficiente com eficácia</a:t>
            </a:r>
          </a:p>
          <a:p>
            <a:pPr lvl="2"/>
            <a:endParaRPr lang="pt-BR" sz="2000" dirty="0"/>
          </a:p>
          <a:p>
            <a:pPr lvl="2"/>
            <a:r>
              <a:rPr lang="pt-BR" sz="2000" dirty="0"/>
              <a:t>FAZER DA MELHOR FORMA POSSÍVEL O QUE REALMENTE DEVE SER FEITO.</a:t>
            </a:r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1417358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Gestão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E77F62D6-A3B7-6310-2FA1-D12FE8054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52D4885-4021-1E57-2E8F-142FA670ED15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316159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67544" y="2090465"/>
            <a:ext cx="79928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de elementos inter-relacionados e interdependentes</a:t>
            </a:r>
            <a:r>
              <a:rPr lang="pt-BR" sz="1800" dirty="0"/>
              <a:t> que interagem entre si com o objetivo de alcançar um </a:t>
            </a:r>
            <a:r>
              <a:rPr lang="pt-BR" sz="1800" b="1" dirty="0"/>
              <a:t>resultado comum</a:t>
            </a:r>
            <a:r>
              <a:rPr lang="pt-BR" sz="1800" dirty="0"/>
              <a:t>.</a:t>
            </a:r>
          </a:p>
          <a:p>
            <a:r>
              <a:rPr lang="pt-BR" sz="1800" dirty="0"/>
              <a:t>						</a:t>
            </a:r>
            <a:r>
              <a:rPr lang="pt-BR" sz="900" dirty="0"/>
              <a:t>BERTALANFFY, Ludwig von (1975)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Características essenciais de um sistema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Entradas (inputs)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recursos, dados,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Processamento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transformação das entradas;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Saídas (outputs)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produtos, serviços, informações;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realimentação para ajustes e controle;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razão de existir do sistema.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Fronteira (</a:t>
            </a:r>
            <a:r>
              <a:rPr lang="pt-BR" sz="18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Boundary</a:t>
            </a:r>
            <a:r>
              <a:rPr lang="pt-BR" sz="18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): </a:t>
            </a: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 linha divisória que separa o sistema do ambiente externo.</a:t>
            </a:r>
          </a:p>
        </p:txBody>
      </p:sp>
    </p:spTree>
    <p:extLst>
      <p:ext uri="{BB962C8B-B14F-4D97-AF65-F5344CB8AC3E}">
        <p14:creationId xmlns:p14="http://schemas.microsoft.com/office/powerpoint/2010/main" val="154843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419056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0212B500-946B-59DC-EF09-66A07631D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93"/>
            <a:ext cx="9144000" cy="646330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3B29778-98C7-89B1-00E6-0BC76B99D030}"/>
              </a:ext>
            </a:extLst>
          </p:cNvPr>
          <p:cNvSpPr txBox="1"/>
          <p:nvPr/>
        </p:nvSpPr>
        <p:spPr>
          <a:xfrm>
            <a:off x="4644008" y="650575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Elaboração própria, com base em </a:t>
            </a:r>
            <a:r>
              <a:rPr lang="pt-BR" sz="800" dirty="0" err="1"/>
              <a:t>Bertalanffy</a:t>
            </a:r>
            <a:r>
              <a:rPr lang="pt-BR" sz="800" dirty="0"/>
              <a:t> (1975), Chiavenato (2014) e </a:t>
            </a:r>
            <a:r>
              <a:rPr lang="pt-BR" sz="800" dirty="0" err="1"/>
              <a:t>Laudon</a:t>
            </a:r>
            <a:r>
              <a:rPr lang="pt-BR" sz="800" dirty="0"/>
              <a:t> &amp; </a:t>
            </a:r>
            <a:r>
              <a:rPr lang="pt-BR" sz="800" dirty="0" err="1"/>
              <a:t>Laudon</a:t>
            </a:r>
            <a:r>
              <a:rPr lang="pt-BR" sz="800" dirty="0"/>
              <a:t> (2014), com apoio de ferramenta de Inteligência Artificial generativa, 2026.</a:t>
            </a:r>
          </a:p>
        </p:txBody>
      </p:sp>
    </p:spTree>
    <p:extLst>
      <p:ext uri="{BB962C8B-B14F-4D97-AF65-F5344CB8AC3E}">
        <p14:creationId xmlns:p14="http://schemas.microsoft.com/office/powerpoint/2010/main" val="236433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O que significa SISTEMAS DE INFORMAÇÃO 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AF9775-8786-68F3-089F-214494123744}"/>
              </a:ext>
            </a:extLst>
          </p:cNvPr>
          <p:cNvSpPr txBox="1"/>
          <p:nvPr/>
        </p:nvSpPr>
        <p:spPr>
          <a:xfrm>
            <a:off x="457200" y="1836069"/>
            <a:ext cx="79928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É um </a:t>
            </a:r>
            <a:r>
              <a:rPr lang="pt-BR" sz="1800" b="1" dirty="0"/>
              <a:t>conjunto organizado de recursos</a:t>
            </a:r>
            <a:r>
              <a:rPr lang="pt-BR" sz="1800" dirty="0"/>
              <a:t> (pessoas, hardware, software, dados, procedimentos e redes) que </a:t>
            </a:r>
            <a:r>
              <a:rPr lang="pt-BR" sz="1800" b="1" dirty="0"/>
              <a:t>coleta, processa, armazena e distribui informações</a:t>
            </a:r>
            <a:r>
              <a:rPr lang="pt-BR" sz="1800" dirty="0"/>
              <a:t> para </a:t>
            </a:r>
            <a:r>
              <a:rPr lang="pt-BR" sz="1800" b="1" dirty="0"/>
              <a:t>apoiar a tomada de decisão, o controle e a coordenação</a:t>
            </a:r>
            <a:r>
              <a:rPr lang="pt-BR" sz="1800" dirty="0"/>
              <a:t> em uma organização.</a:t>
            </a:r>
          </a:p>
          <a:p>
            <a:r>
              <a:rPr lang="pt-BR" sz="1800" dirty="0"/>
              <a:t>					</a:t>
            </a:r>
            <a:r>
              <a:rPr lang="fi-FI" sz="900" dirty="0"/>
              <a:t>LAUDON, Kenneth C.; LAUDON, Jane P</a:t>
            </a:r>
            <a:r>
              <a:rPr lang="pt-BR" sz="900" dirty="0"/>
              <a:t> (2020)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8F37A3-38D3-990A-B4A1-27C0E937FB60}"/>
              </a:ext>
            </a:extLst>
          </p:cNvPr>
          <p:cNvSpPr txBox="1"/>
          <p:nvPr/>
        </p:nvSpPr>
        <p:spPr>
          <a:xfrm>
            <a:off x="457200" y="3284984"/>
            <a:ext cx="8291264" cy="1353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  <a:p>
            <a:pPr lvl="0"/>
            <a:r>
              <a:rPr lang="pt-BR" b="1" dirty="0"/>
              <a:t>Pessoas</a:t>
            </a:r>
            <a:r>
              <a:rPr lang="pt-BR" dirty="0"/>
              <a:t> – usuários e gestores;</a:t>
            </a:r>
          </a:p>
          <a:p>
            <a:pPr lvl="0"/>
            <a:r>
              <a:rPr lang="pt-BR" b="1" dirty="0"/>
              <a:t>Dados</a:t>
            </a:r>
            <a:r>
              <a:rPr lang="pt-BR" dirty="0"/>
              <a:t> – matéria-prima da informação;</a:t>
            </a:r>
          </a:p>
          <a:p>
            <a:pPr lvl="0"/>
            <a:r>
              <a:rPr lang="pt-BR" b="1" dirty="0"/>
              <a:t>Processos</a:t>
            </a:r>
            <a:r>
              <a:rPr lang="pt-BR" dirty="0"/>
              <a:t> – regras e procedimentos;</a:t>
            </a:r>
          </a:p>
          <a:p>
            <a:r>
              <a:rPr lang="pt-BR" b="1" dirty="0"/>
              <a:t>Tecnologia</a:t>
            </a:r>
            <a:r>
              <a:rPr lang="pt-BR" dirty="0"/>
              <a:t> – hardware, software e redes.</a:t>
            </a:r>
            <a:endParaRPr lang="pt-BR" sz="1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AD71DF4-D295-FE23-2993-63A46D4B5CF6}"/>
              </a:ext>
            </a:extLst>
          </p:cNvPr>
          <p:cNvSpPr txBox="1"/>
          <p:nvPr/>
        </p:nvSpPr>
        <p:spPr>
          <a:xfrm>
            <a:off x="446567" y="517425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operações (nível operacional);</a:t>
            </a:r>
          </a:p>
          <a:p>
            <a:pPr lvl="0">
              <a:buSzPts val="1000"/>
              <a:tabLst>
                <a:tab pos="457200" algn="l"/>
              </a:tabLst>
            </a:pPr>
            <a:r>
              <a:rPr lang="pt-BR" dirty="0"/>
              <a:t>Apoiar gestão (nível tático);</a:t>
            </a:r>
          </a:p>
          <a:p>
            <a:r>
              <a:rPr lang="pt-BR" dirty="0"/>
              <a:t>Apoiar estratégia (nível estratégico).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EF0800-35A7-5503-ED67-D5715F405D5B}"/>
              </a:ext>
            </a:extLst>
          </p:cNvPr>
          <p:cNvSpPr txBox="1"/>
          <p:nvPr/>
        </p:nvSpPr>
        <p:spPr>
          <a:xfrm>
            <a:off x="457200" y="4756728"/>
            <a:ext cx="457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Componentes de um SI</a:t>
            </a:r>
          </a:p>
        </p:txBody>
      </p:sp>
    </p:spTree>
    <p:extLst>
      <p:ext uri="{BB962C8B-B14F-4D97-AF65-F5344CB8AC3E}">
        <p14:creationId xmlns:p14="http://schemas.microsoft.com/office/powerpoint/2010/main" val="19896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8E76E2BA-89FC-7795-6C94-C6A4E3900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319764-29E9-89A4-7A46-778A15850342}"/>
              </a:ext>
            </a:extLst>
          </p:cNvPr>
          <p:cNvSpPr txBox="1"/>
          <p:nvPr/>
        </p:nvSpPr>
        <p:spPr>
          <a:xfrm>
            <a:off x="4572000" y="647700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A imagem foi gerada com apoio de Inteligência Artificial a partir de conceitos clássicos da área de Sistemas de Informação, com finalidade exclusivamente didática.</a:t>
            </a:r>
          </a:p>
        </p:txBody>
      </p:sp>
    </p:spTree>
    <p:extLst>
      <p:ext uri="{BB962C8B-B14F-4D97-AF65-F5344CB8AC3E}">
        <p14:creationId xmlns:p14="http://schemas.microsoft.com/office/powerpoint/2010/main" val="4029841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SISTEMAS DE INFORMAÇÃO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457200" y="1196752"/>
            <a:ext cx="735516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que o aluno de SI precisa entender gestão?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D0E4D09-5492-66D4-8620-6D9877AC5F8D}"/>
              </a:ext>
            </a:extLst>
          </p:cNvPr>
          <p:cNvSpPr txBox="1"/>
          <p:nvPr/>
        </p:nvSpPr>
        <p:spPr>
          <a:xfrm>
            <a:off x="683568" y="2094447"/>
            <a:ext cx="770485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profissional de Sistemas de Informação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desenvolve tecnologia para a tecnologia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para </a:t>
            </a: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resolver problemas organizacionais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Precisa: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compreender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do negócio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traduzir necessidades gerenciais em </a:t>
            </a:r>
            <a:r>
              <a:rPr lang="pt-BR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requisitos de sistemas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apoiar a tomada de decisão</a:t>
            </a:r>
          </a:p>
        </p:txBody>
      </p:sp>
    </p:spTree>
    <p:extLst>
      <p:ext uri="{BB962C8B-B14F-4D97-AF65-F5344CB8AC3E}">
        <p14:creationId xmlns:p14="http://schemas.microsoft.com/office/powerpoint/2010/main" val="145858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Conceitos: SÍNTESE</a:t>
            </a:r>
          </a:p>
        </p:txBody>
      </p:sp>
      <p:pic>
        <p:nvPicPr>
          <p:cNvPr id="13" name="Imagem 12" descr="Linha do tempo&#10;&#10;O conteúdo gerado por IA pode estar incorreto.">
            <a:extLst>
              <a:ext uri="{FF2B5EF4-FFF2-40B4-BE49-F238E27FC236}">
                <a16:creationId xmlns:a16="http://schemas.microsoft.com/office/drawing/2014/main" id="{8E4C787E-C199-C2EA-D9DD-E571ED3BF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3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8257-7D1A-20FD-2746-045C0E16D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3398789-1F2E-D137-849D-3217D453F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27268"/>
            <a:ext cx="6912768" cy="490066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800" dirty="0">
                <a:solidFill>
                  <a:schemeClr val="tx1"/>
                </a:solidFill>
              </a:rPr>
              <a:t>Atividade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208377-EB6F-6DC6-2DB9-2438C7F5D710}"/>
              </a:ext>
            </a:extLst>
          </p:cNvPr>
          <p:cNvSpPr txBox="1"/>
          <p:nvPr/>
        </p:nvSpPr>
        <p:spPr>
          <a:xfrm>
            <a:off x="827584" y="1700808"/>
            <a:ext cx="7848872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pt-BR" sz="2000" dirty="0"/>
          </a:p>
          <a:p>
            <a:pPr lvl="2"/>
            <a:endParaRPr lang="pt-BR" sz="2000" dirty="0"/>
          </a:p>
          <a:p>
            <a:pPr lvl="2"/>
            <a:endParaRPr lang="pt-BR" sz="9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39F3A3-4C9A-B9F2-B259-6F1F480AE92B}"/>
              </a:ext>
            </a:extLst>
          </p:cNvPr>
          <p:cNvSpPr txBox="1"/>
          <p:nvPr/>
        </p:nvSpPr>
        <p:spPr>
          <a:xfrm>
            <a:off x="2267744" y="2708920"/>
            <a:ext cx="4392488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ATIVIDADE PRÁTICA EM EQUIPE</a:t>
            </a:r>
            <a:endParaRPr lang="pt-BR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94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2D3DB9-2260-2694-A540-63EBCE9AD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21093"/>
              </p:ext>
            </p:extLst>
          </p:nvPr>
        </p:nvGraphicFramePr>
        <p:xfrm>
          <a:off x="507748" y="888923"/>
          <a:ext cx="7931223" cy="2243840"/>
        </p:xfrm>
        <a:graphic>
          <a:graphicData uri="http://schemas.openxmlformats.org/drawingml/2006/table">
            <a:tbl>
              <a:tblPr firstRow="1" firstCol="1" bandRow="1"/>
              <a:tblGrid>
                <a:gridCol w="849323">
                  <a:extLst>
                    <a:ext uri="{9D8B030D-6E8A-4147-A177-3AD203B41FA5}">
                      <a16:colId xmlns:a16="http://schemas.microsoft.com/office/drawing/2014/main" val="2640606524"/>
                    </a:ext>
                  </a:extLst>
                </a:gridCol>
                <a:gridCol w="2781242">
                  <a:extLst>
                    <a:ext uri="{9D8B030D-6E8A-4147-A177-3AD203B41FA5}">
                      <a16:colId xmlns:a16="http://schemas.microsoft.com/office/drawing/2014/main" val="203386295"/>
                    </a:ext>
                  </a:extLst>
                </a:gridCol>
                <a:gridCol w="4300658">
                  <a:extLst>
                    <a:ext uri="{9D8B030D-6E8A-4147-A177-3AD203B41FA5}">
                      <a16:colId xmlns:a16="http://schemas.microsoft.com/office/drawing/2014/main" val="1946735537"/>
                    </a:ext>
                  </a:extLst>
                </a:gridCol>
              </a:tblGrid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Parte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Composição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b="1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Tempo de Processo</a:t>
                      </a:r>
                      <a:endParaRPr lang="pt-BR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978511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1B + 1C + 3D + 2E + 1F + 1G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712269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5D + 4E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8821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22087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84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4F + 5G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horas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974705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Comprado (prazo de entrega: 10 dias)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34296"/>
                  </a:ext>
                </a:extLst>
              </a:tr>
              <a:tr h="2202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2C + 1F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hora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981067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7CC1F771-3369-B761-4618-4EB3344C0FBE}"/>
              </a:ext>
            </a:extLst>
          </p:cNvPr>
          <p:cNvSpPr txBox="1"/>
          <p:nvPr/>
        </p:nvSpPr>
        <p:spPr>
          <a:xfrm>
            <a:off x="4090282" y="3291574"/>
            <a:ext cx="5072364" cy="356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Desenvolva uma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planilha eletrônica no Excel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equivalente que permita: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Informar a demanda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a quantidade necessária de cada parte;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das partes produzidas internamente;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Calcular o tempo total de fabricação do produto final 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Considerar os prazos de entrega dos itens comprados;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 o prazo total de entrega do produto A, em dias e data;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alteração no tempo do processo com impacto no prazo total;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8B71A7C-3C04-C03C-3311-A826E8421667}"/>
              </a:ext>
            </a:extLst>
          </p:cNvPr>
          <p:cNvSpPr txBox="1"/>
          <p:nvPr/>
        </p:nvSpPr>
        <p:spPr>
          <a:xfrm>
            <a:off x="107504" y="3422591"/>
            <a:ext cx="3838762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As partes C, D e F são itens comprados, com prazo de entrega fixo de 10 dias;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As demais partes são fabricadas internamente, com os tempos de processamento indicados;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produção é realizada em série, sem sobreposição de operações;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O início da produção ocorre no dia 0;</a:t>
            </a:r>
          </a:p>
          <a:p>
            <a:pPr lvl="0"/>
            <a:endParaRPr lang="pt-BR" dirty="0"/>
          </a:p>
          <a:p>
            <a:pPr lvl="0"/>
            <a:r>
              <a:rPr lang="pt-BR" dirty="0"/>
              <a:t>A empresa recebe uma demanda informada pelo usuário para o produto A;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73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A42956-5EE3-F506-B879-C906CF0E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9" y="2536961"/>
            <a:ext cx="8543925" cy="3362325"/>
          </a:xfrm>
          <a:prstGeom prst="rect">
            <a:avLst/>
          </a:prstGeom>
        </p:spPr>
      </p:pic>
      <p:sp>
        <p:nvSpPr>
          <p:cNvPr id="8" name="Título 2">
            <a:extLst>
              <a:ext uri="{FF2B5EF4-FFF2-40B4-BE49-F238E27FC236}">
                <a16:creationId xmlns:a16="http://schemas.microsoft.com/office/drawing/2014/main" id="{41149D56-0B3A-778C-D5CE-F528114C5CBE}"/>
              </a:ext>
            </a:extLst>
          </p:cNvPr>
          <p:cNvSpPr txBox="1">
            <a:spLocks/>
          </p:cNvSpPr>
          <p:nvPr/>
        </p:nvSpPr>
        <p:spPr>
          <a:xfrm>
            <a:off x="300037" y="958714"/>
            <a:ext cx="7728347" cy="958118"/>
          </a:xfrm>
          <a:prstGeom prst="rect">
            <a:avLst/>
          </a:prstGeom>
        </p:spPr>
        <p:txBody>
          <a:bodyPr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</a:lstStyle>
          <a:p>
            <a:r>
              <a:rPr lang="pt-BR" dirty="0"/>
              <a:t>ESTRUTURA DO PRODUTO</a:t>
            </a:r>
          </a:p>
          <a:p>
            <a:r>
              <a:rPr lang="pt-BR" dirty="0"/>
              <a:t>ESTRUTURA ANALÍTICA DO PRODUTO (PBS - 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Breakdown</a:t>
            </a:r>
            <a:r>
              <a:rPr lang="pt-BR" i="1" dirty="0"/>
              <a:t> </a:t>
            </a:r>
            <a:r>
              <a:rPr lang="pt-BR" i="1" dirty="0" err="1"/>
              <a:t>Structure</a:t>
            </a:r>
            <a:r>
              <a:rPr lang="pt-BR" dirty="0"/>
              <a:t>)</a:t>
            </a:r>
          </a:p>
          <a:p>
            <a:endParaRPr lang="pt-BR" b="1" dirty="0"/>
          </a:p>
          <a:p>
            <a:r>
              <a:rPr lang="pt-BR" b="1" dirty="0"/>
              <a:t>BOM (Bill </a:t>
            </a:r>
            <a:r>
              <a:rPr lang="pt-BR" b="1" dirty="0" err="1"/>
              <a:t>of</a:t>
            </a:r>
            <a:r>
              <a:rPr lang="pt-BR" b="1" dirty="0"/>
              <a:t> </a:t>
            </a:r>
            <a:r>
              <a:rPr lang="pt-BR" b="1" dirty="0" err="1"/>
              <a:t>Materials</a:t>
            </a:r>
            <a:r>
              <a:rPr lang="pt-BR" b="1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102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9EB38D-A23A-751C-BB51-5476EB30D7AB}"/>
              </a:ext>
            </a:extLst>
          </p:cNvPr>
          <p:cNvSpPr txBox="1"/>
          <p:nvPr/>
        </p:nvSpPr>
        <p:spPr>
          <a:xfrm>
            <a:off x="251520" y="908720"/>
            <a:ext cx="8496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PBS (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Product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Breakdown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uma árvore hierárquica que decompõe o escopo do projeto em produtos, subprodutos e componentes físicos ou entregáveis.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070AF3-5C6B-978D-509A-B32ECA7F0B86}"/>
              </a:ext>
            </a:extLst>
          </p:cNvPr>
          <p:cNvSpPr txBox="1"/>
          <p:nvPr/>
        </p:nvSpPr>
        <p:spPr>
          <a:xfrm>
            <a:off x="251520" y="15567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BOM (Bill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Materials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É a lista detalhada de todos os materiais, componentes, subconjuntos e matérias-primas necessários para a fabricação de um produto</a:t>
            </a:r>
            <a:endParaRPr lang="pt-BR" dirty="0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91790F47-9691-B17E-88C4-8205D5B33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89906"/>
              </p:ext>
            </p:extLst>
          </p:nvPr>
        </p:nvGraphicFramePr>
        <p:xfrm>
          <a:off x="1259632" y="2235895"/>
          <a:ext cx="6733614" cy="434746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244538">
                  <a:extLst>
                    <a:ext uri="{9D8B030D-6E8A-4147-A177-3AD203B41FA5}">
                      <a16:colId xmlns:a16="http://schemas.microsoft.com/office/drawing/2014/main" val="689063777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2164917528"/>
                    </a:ext>
                  </a:extLst>
                </a:gridCol>
                <a:gridCol w="2244538">
                  <a:extLst>
                    <a:ext uri="{9D8B030D-6E8A-4147-A177-3AD203B41FA5}">
                      <a16:colId xmlns:a16="http://schemas.microsoft.com/office/drawing/2014/main" val="4164380775"/>
                    </a:ext>
                  </a:extLst>
                </a:gridCol>
              </a:tblGrid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Critério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PBS (Product Breakdown Structure)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BOM (Bill of Materials)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43317772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Significado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Analítica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Lista de Materiais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39692657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Finalidade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Decompor o produto em partes lógicas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Decompor o produto em componentes físicos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41385093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Foco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Entregas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Materiais e componentes necessários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148077564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Pergunta que responde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"O que compõe o produto?"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"Do que o produto é feito?"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4172684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Natureza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Conceitual / estrutural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Técnica / operacional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654338763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Tipo de decomposição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Hierárquica por partes funcionais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Hierárquica por composição física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51093250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Unidade de análise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Subprodutos / módulos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Quantidades e itens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946298551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quantidades?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Normalmente 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Sim (quantidades exatas)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4093459341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tempos?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(processo/fabricação)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206921923"/>
                  </a:ext>
                </a:extLst>
              </a:tr>
              <a:tr h="2425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Contém custo?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Não diretamente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Pode conter custo unitário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26557426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Aplicação principal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Gestão de projetos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Planejamento de produção (MRP/ERP)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1976207392"/>
                  </a:ext>
                </a:extLst>
              </a:tr>
              <a:tr h="413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Relação com SI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/>
                        <a:t>Estrutura lógica do produto</a:t>
                      </a:r>
                    </a:p>
                  </a:txBody>
                  <a:tcPr marL="64305" marR="64305" marT="32153" marB="321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000" dirty="0"/>
                        <a:t>Base de dados estruturada para cálculo automático</a:t>
                      </a:r>
                    </a:p>
                  </a:txBody>
                  <a:tcPr marL="64305" marR="64305" marT="32153" marB="32153" anchor="ctr"/>
                </a:tc>
                <a:extLst>
                  <a:ext uri="{0D108BD9-81ED-4DB2-BD59-A6C34878D82A}">
                    <a16:rowId xmlns:a16="http://schemas.microsoft.com/office/drawing/2014/main" val="3102894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31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9CC56B-0EB8-DB23-89C4-9FF22E3C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92" y="1700808"/>
            <a:ext cx="7927816" cy="124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275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90CB80-D07C-9A85-F573-E6DCDDB60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614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12886"/>
              </p:ext>
            </p:extLst>
          </p:nvPr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031879"/>
              </p:ext>
            </p:extLst>
          </p:nvPr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711AF5-C5C7-C345-1E85-C4E3D0EA7127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50373E2-9629-6AE4-18C8-1B8157993CC2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FF44C21D-0F2C-C615-74F8-7D3611597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C2BEC6A-8906-8131-281E-2144E4FD031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96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56D1F68-3879-A92C-839F-03A4D99C1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075793"/>
              </p:ext>
            </p:extLst>
          </p:nvPr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154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7F0A67-3394-23D5-BB1D-4278EFBB45B4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722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D30C55-7B0A-AC6C-CDD9-2D28E602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266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7CCE1-A150-ED37-9316-73854E1896E6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EF8756F-C828-F0F0-5F9A-C103A55FEF0A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689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910028-491A-B657-87FA-16D8FFAB8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53F771-9A73-25A3-B5F7-0D0A8421604E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1213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são DADOS neste exercício?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Estrutura do produto (BOM)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Tempos de processamento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de entrega (10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Demanda informada pelo usuário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produção em série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Regra: sem sobreposição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sz="2000" dirty="0"/>
              <a:t>👉 Esses são </a:t>
            </a:r>
            <a:r>
              <a:rPr lang="pt-BR" sz="2000" b="1" dirty="0"/>
              <a:t>dados brutos</a:t>
            </a:r>
            <a:r>
              <a:rPr lang="pt-BR" sz="20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C6263A-EECD-8FE6-C211-F6B1775BE902}"/>
              </a:ext>
            </a:extLst>
          </p:cNvPr>
          <p:cNvSpPr txBox="1"/>
          <p:nvPr/>
        </p:nvSpPr>
        <p:spPr>
          <a:xfrm>
            <a:off x="611560" y="4509120"/>
            <a:ext cx="74168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Dados são elementos básicos que representam algo que aconteceu, mas que ainda não foram organizados ou analisados para gerar informação.</a:t>
            </a:r>
          </a:p>
        </p:txBody>
      </p:sp>
    </p:spTree>
    <p:extLst>
      <p:ext uri="{BB962C8B-B14F-4D97-AF65-F5344CB8AC3E}">
        <p14:creationId xmlns:p14="http://schemas.microsoft.com/office/powerpoint/2010/main" val="195021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vira INFORMAÇÃO?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a planilha processa os dados, ela gera: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Quantidade total necessária de cada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Tempo total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Prazo total de entrega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Data estimada de entrega</a:t>
            </a:r>
          </a:p>
          <a:p>
            <a:endParaRPr lang="pt-BR" sz="1800" dirty="0"/>
          </a:p>
          <a:p>
            <a:r>
              <a:rPr lang="pt-BR" sz="1800" dirty="0"/>
              <a:t>👉 Aqui já temos </a:t>
            </a:r>
            <a:r>
              <a:rPr lang="pt-BR" sz="1800" b="1" dirty="0"/>
              <a:t>informação estruturada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2F64D7-A8BF-E4E9-C8BC-3DC388D994A0}"/>
              </a:ext>
            </a:extLst>
          </p:cNvPr>
          <p:cNvSpPr txBox="1"/>
          <p:nvPr/>
        </p:nvSpPr>
        <p:spPr>
          <a:xfrm>
            <a:off x="611560" y="4581128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Informação é o dado tratado, organizado e contextualizado de modo que faça sentido para quem o utiliza.</a:t>
            </a:r>
          </a:p>
        </p:txBody>
      </p:sp>
    </p:spTree>
    <p:extLst>
      <p:ext uri="{BB962C8B-B14F-4D97-AF65-F5344CB8AC3E}">
        <p14:creationId xmlns:p14="http://schemas.microsoft.com/office/powerpoint/2010/main" val="129570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Vamos simular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Qual o prazo de entrega para uma demanda de 10 produtos A?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1A907B9-87B8-7F82-65D1-17201EA17065}"/>
              </a:ext>
            </a:extLst>
          </p:cNvPr>
          <p:cNvSpPr txBox="1"/>
          <p:nvPr/>
        </p:nvSpPr>
        <p:spPr>
          <a:xfrm>
            <a:off x="642684" y="2924944"/>
            <a:ext cx="7385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Desafio: reduzir prazo com custo de R$ 10.000 por minuto reduzido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E8BAFCC-9528-D11C-AE68-E59A8A3C6A1A}"/>
              </a:ext>
            </a:extLst>
          </p:cNvPr>
          <p:cNvSpPr txBox="1"/>
          <p:nvPr/>
        </p:nvSpPr>
        <p:spPr>
          <a:xfrm>
            <a:off x="323528" y="3717032"/>
            <a:ext cx="856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Regra do desafio:</a:t>
            </a:r>
          </a:p>
          <a:p>
            <a:pPr>
              <a:buNone/>
            </a:pPr>
            <a:endParaRPr lang="pt-B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Você pode reduzir o </a:t>
            </a:r>
            <a:r>
              <a:rPr lang="pt-BR" sz="1600" b="1" dirty="0"/>
              <a:t>tempo padrão</a:t>
            </a:r>
            <a:r>
              <a:rPr lang="pt-BR" sz="1600" dirty="0"/>
              <a:t> de A, B, E ou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Cada </a:t>
            </a:r>
            <a:r>
              <a:rPr lang="pt-BR" sz="1600" b="1" dirty="0"/>
              <a:t>1 minuto reduzido</a:t>
            </a:r>
            <a:r>
              <a:rPr lang="pt-BR" sz="1600" dirty="0"/>
              <a:t> no tempo padrão custa </a:t>
            </a:r>
            <a:r>
              <a:rPr lang="pt-BR" sz="1600" b="1" dirty="0"/>
              <a:t>R$ 10.000,00</a:t>
            </a:r>
            <a:r>
              <a:rPr lang="pt-BR" sz="1600" dirty="0"/>
              <a:t> (custo de implementação)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Compras continuam 10 dias (fixo)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 Demonstre na sua planilha os cálculos e identifique o melhor cenário</a:t>
            </a:r>
          </a:p>
        </p:txBody>
      </p:sp>
    </p:spTree>
    <p:extLst>
      <p:ext uri="{BB962C8B-B14F-4D97-AF65-F5344CB8AC3E}">
        <p14:creationId xmlns:p14="http://schemas.microsoft.com/office/powerpoint/2010/main" val="276911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FF3E-AA8F-C06C-7DBE-133BD31C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78B0923-98E2-5D9D-C232-6879186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D723BF3-DF2D-127A-F8BF-16B48857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5427712" cy="20529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5E1C949-2128-0A93-8E76-A7B44AF9B4A3}"/>
              </a:ext>
            </a:extLst>
          </p:cNvPr>
          <p:cNvSpPr txBox="1"/>
          <p:nvPr/>
        </p:nvSpPr>
        <p:spPr>
          <a:xfrm>
            <a:off x="323528" y="3132535"/>
            <a:ext cx="84969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das quantidades: Determinar quantas peças de cada parte será necessário para produzir uma produto 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Ao lado da letra, o número representa a quantidade de peças e entre os parênteses, o tempo em horas para produzir.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Não será necessário determinar as quantidades das peças compradas já que não fazem parte do tempo de produção.</a:t>
            </a:r>
          </a:p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B: 1 peça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E: 4 + 2 = 6 peças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neste caso, deve-se levar em conta que G é utilizada para produzir E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e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 por isso precisa ser calculada com base na quantidade da peça E. Segue o cálculo do G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</a:t>
            </a:r>
            <a:r>
              <a:rPr lang="pt-BR" b="1" dirty="0">
                <a:solidFill>
                  <a:srgbClr val="0A0A0A"/>
                </a:solidFill>
                <a:latin typeface="Google Sans"/>
              </a:rPr>
              <a:t> G: (E4 * 5) + (E2 * 5) + 1</a:t>
            </a: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Quantidade de G: 20 + 10 + 1</a:t>
            </a:r>
          </a:p>
          <a:p>
            <a:r>
              <a:rPr lang="pt-BR" b="1" dirty="0">
                <a:solidFill>
                  <a:srgbClr val="0A0A0A"/>
                </a:solidFill>
                <a:latin typeface="Google Sans"/>
              </a:rPr>
              <a:t>Quantidade de G: 31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42468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E25F-8A14-2F99-C528-BF2A770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D2E0B17-0934-AAF2-C4CA-74062818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505CFF-CA33-063C-870A-4CD20DD86649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2000C5-12E4-4BF8-A27D-96368945D715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C560AA58-0E21-8277-E1F1-B12077C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32A6E12-9584-AAA4-738D-E886FF66AB92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7955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EBB7-1F27-F147-1A71-B39F1F9A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F5D138-DDD3-A736-2FF8-CCB44545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2DD7AF-EE56-30B0-12A9-5CB37F8A44E6}"/>
              </a:ext>
            </a:extLst>
          </p:cNvPr>
          <p:cNvSpPr txBox="1"/>
          <p:nvPr/>
        </p:nvSpPr>
        <p:spPr>
          <a:xfrm>
            <a:off x="323528" y="1847131"/>
            <a:ext cx="84969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b="1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Cálculo do tempo para produção de cada peça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Fórmula: quantidade X tempo</a:t>
            </a:r>
          </a:p>
          <a:p>
            <a:endParaRPr lang="pt-BR" b="1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A = 1 peça A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B = 1 peça B * 1 hora =&gt; total 1 hora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E = 6 peças E * 3 horas =&gt; total 18 horas</a:t>
            </a: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para produzir G = 31 peças G * 1 hora =&gt; total 31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  <a:p>
            <a:r>
              <a:rPr lang="pt-BR" dirty="0">
                <a:solidFill>
                  <a:srgbClr val="0A0A0A"/>
                </a:solidFill>
                <a:latin typeface="Google Sans"/>
              </a:rPr>
              <a:t>Tempo total para produção: 1 + 1 + 18 +31 `=&gt; 51 horas</a:t>
            </a:r>
          </a:p>
          <a:p>
            <a:endParaRPr lang="pt-BR" dirty="0">
              <a:solidFill>
                <a:srgbClr val="0A0A0A"/>
              </a:solidFill>
              <a:latin typeface="Google Sans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4384846-3C21-3F20-23CE-E810AD954379}"/>
              </a:ext>
            </a:extLst>
          </p:cNvPr>
          <p:cNvGraphicFramePr>
            <a:graphicFrameLocks noGrp="1"/>
          </p:cNvGraphicFramePr>
          <p:nvPr/>
        </p:nvGraphicFramePr>
        <p:xfrm>
          <a:off x="539552" y="1017791"/>
          <a:ext cx="1968500" cy="809625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79133891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9568278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25283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6767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03219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26998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376684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BFC1F8C1-43FF-748E-BF48-B7C0313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37107"/>
            <a:ext cx="3982219" cy="1170992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FEB198C-B2B9-FBC3-D1EC-847231362D8A}"/>
              </a:ext>
            </a:extLst>
          </p:cNvPr>
          <p:cNvGraphicFramePr>
            <a:graphicFrameLocks noGrp="1"/>
          </p:cNvGraphicFramePr>
          <p:nvPr/>
        </p:nvGraphicFramePr>
        <p:xfrm>
          <a:off x="2787650" y="4610052"/>
          <a:ext cx="3568700" cy="971550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322293428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12409653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379256247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56390314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8908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24075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9371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46115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714027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000" b="0" i="0" u="none" strike="noStrike" dirty="0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50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38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25C8-3511-8342-E57D-E69775D7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51F91-0AB2-D377-BE96-0A202C36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17E84D-589D-8355-51FE-37A5ED9AD7AE}"/>
              </a:ext>
            </a:extLst>
          </p:cNvPr>
          <p:cNvGraphicFramePr>
            <a:graphicFrameLocks noGrp="1"/>
          </p:cNvGraphicFramePr>
          <p:nvPr/>
        </p:nvGraphicFramePr>
        <p:xfrm>
          <a:off x="628648" y="1484784"/>
          <a:ext cx="7886704" cy="2355130"/>
        </p:xfrm>
        <a:graphic>
          <a:graphicData uri="http://schemas.openxmlformats.org/drawingml/2006/table">
            <a:tbl>
              <a:tblPr/>
              <a:tblGrid>
                <a:gridCol w="707083">
                  <a:extLst>
                    <a:ext uri="{9D8B030D-6E8A-4147-A177-3AD203B41FA5}">
                      <a16:colId xmlns:a16="http://schemas.microsoft.com/office/drawing/2014/main" val="3618853216"/>
                    </a:ext>
                  </a:extLst>
                </a:gridCol>
                <a:gridCol w="1098181">
                  <a:extLst>
                    <a:ext uri="{9D8B030D-6E8A-4147-A177-3AD203B41FA5}">
                      <a16:colId xmlns:a16="http://schemas.microsoft.com/office/drawing/2014/main" val="2254020853"/>
                    </a:ext>
                  </a:extLst>
                </a:gridCol>
                <a:gridCol w="839176">
                  <a:extLst>
                    <a:ext uri="{9D8B030D-6E8A-4147-A177-3AD203B41FA5}">
                      <a16:colId xmlns:a16="http://schemas.microsoft.com/office/drawing/2014/main" val="652831524"/>
                    </a:ext>
                  </a:extLst>
                </a:gridCol>
                <a:gridCol w="766654">
                  <a:extLst>
                    <a:ext uri="{9D8B030D-6E8A-4147-A177-3AD203B41FA5}">
                      <a16:colId xmlns:a16="http://schemas.microsoft.com/office/drawing/2014/main" val="95965236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7905406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700255074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973361096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1031144685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719821450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89963581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35701379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845356437"/>
                    </a:ext>
                  </a:extLst>
                </a:gridCol>
                <a:gridCol w="497290">
                  <a:extLst>
                    <a:ext uri="{9D8B030D-6E8A-4147-A177-3AD203B41FA5}">
                      <a16:colId xmlns:a16="http://schemas.microsoft.com/office/drawing/2014/main" val="2426759462"/>
                    </a:ext>
                  </a:extLst>
                </a:gridCol>
              </a:tblGrid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Peças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Quantidade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(h)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080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8739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4317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95306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G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66233"/>
                  </a:ext>
                </a:extLst>
              </a:tr>
              <a:tr h="132136"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total para produzir o produto A  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24106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794111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9314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Jornada de Trabalho em horas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853285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800262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Tempo em horas para produzir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510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demanda do cliente * tempo total produzir A 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239927"/>
                  </a:ext>
                </a:extLst>
              </a:tr>
              <a:tr h="132136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Prazo de entrega fornecedor (dias)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informado no enunciado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503544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04/03/2026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fórmula do excel =hoje()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46338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708343"/>
                  </a:ext>
                </a:extLst>
              </a:tr>
              <a:tr h="132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1977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Demanda do cliente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>
                          <a:effectLst/>
                          <a:latin typeface="Arial" panose="020B0604020202020204" pitchFamily="34" charset="0"/>
                        </a:rPr>
                        <a:t>dado de entrada definido para simular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898580"/>
                  </a:ext>
                </a:extLst>
              </a:tr>
              <a:tr h="186545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Data prevista para entrega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100" b="0" i="0" u="none" strike="noStrike">
                          <a:effectLst/>
                          <a:latin typeface="Arial" panose="020B0604020202020204" pitchFamily="34" charset="0"/>
                        </a:rPr>
                        <a:t>16/05/2026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800" b="0" i="0" u="none" strike="noStrike" dirty="0">
                          <a:effectLst/>
                          <a:latin typeface="Arial" panose="020B0604020202020204" pitchFamily="34" charset="0"/>
                        </a:rPr>
                        <a:t>(quantidade de horas para produzir / jornada) + prazo de entrega do fornecedor + data atual</a:t>
                      </a:r>
                    </a:p>
                  </a:txBody>
                  <a:tcPr marL="7773" marR="7773" marT="777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939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471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A3B72-DCCF-8454-E112-CFE2B04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A79F0A-88A0-7160-F59B-B3B680FFD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69CD1F-F359-CE1F-F229-68975F80A9D9}"/>
              </a:ext>
            </a:extLst>
          </p:cNvPr>
          <p:cNvSpPr txBox="1"/>
          <p:nvPr/>
        </p:nvSpPr>
        <p:spPr>
          <a:xfrm>
            <a:off x="539552" y="1412776"/>
            <a:ext cx="7920880" cy="4305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Desafio: reduzir prazo com custo de R$ 10.000 por minuto reduzido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 do desafio: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pode reduzir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padrão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A, B, E ou 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minuto reduzido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tempo padrão custa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R$ 10.000,00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(custo de implementação)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Compras continuam 10 dias (fixo)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Onde faz mais efeito reduzir?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impacto depende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quantas vezes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aquela operação acontece.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N=10: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acontece 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acontece 6×10 =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acontece 31×10 = 310 vezes </a:t>
            </a: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(mais repetida)</a:t>
            </a: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➡️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Logo,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é o gargalo prático em consumo de tempo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(é onde reduzir 1 minuto gera maior ganho total).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953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64C3-5552-D8F9-4B81-0C2482CF7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2EF326-7850-345C-A32D-BD8902F3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F972A4-FA7C-9FCE-93C5-C7CBEF26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10"/>
            <a:ext cx="8959615" cy="470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70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FFEB-1749-32D6-70EB-4AC6ACA8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A5CD9A-BE90-BC44-587E-E8178834F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B97C21-7B02-E492-E5FA-A02031CB4BD3}"/>
              </a:ext>
            </a:extLst>
          </p:cNvPr>
          <p:cNvSpPr txBox="1"/>
          <p:nvPr/>
        </p:nvSpPr>
        <p:spPr>
          <a:xfrm>
            <a:off x="539552" y="1052736"/>
            <a:ext cx="7776864" cy="2207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1: reduzir G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G: de 60 min → 50 min (redução de 10 min)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 ocorre 310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310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3100 min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51,67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6,46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10 min × R$ 10.000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73,75 − 6,46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67,29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 mil para reduzir ~6,5 dias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141D33-0481-7CC6-DF3D-C2686AFB013B}"/>
              </a:ext>
            </a:extLst>
          </p:cNvPr>
          <p:cNvSpPr txBox="1"/>
          <p:nvPr/>
        </p:nvSpPr>
        <p:spPr>
          <a:xfrm>
            <a:off x="566598" y="3620047"/>
            <a:ext cx="7893834" cy="1870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2: reduzir E em 10 minutos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ocorre 60 vezes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Ganho total = 10 min × 60 = 600 min = 10 h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1,25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R$ 100.000</a:t>
            </a:r>
            <a:b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Novo lead time: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73,75 − 1,25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72,50 dias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Pior custo-benefício que reduzir G.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454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C9AD-BB2F-4544-5604-56571A5D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E3F1CE4-A568-51ED-AE84-68CE625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9E71678-7F29-9926-2245-AE8F99DE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5582"/>
            <a:ext cx="9144000" cy="50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70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6DF6B-C084-586E-C994-F626169D7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FA7A09-039C-DBB5-3462-5621BF4B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008195-4BA0-92DA-EA3B-7D7C0E176A74}"/>
              </a:ext>
            </a:extLst>
          </p:cNvPr>
          <p:cNvSpPr txBox="1"/>
          <p:nvPr/>
        </p:nvSpPr>
        <p:spPr>
          <a:xfrm>
            <a:off x="539552" y="1700808"/>
            <a:ext cx="8352928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tempos por operação e quantidades na BOM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total de horas, lead time e impacto por operação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“reduzir não-gargalo quase não muda o prazo” + decisão de investimento com melhor retorno</a:t>
            </a:r>
          </a:p>
        </p:txBody>
      </p:sp>
    </p:spTree>
    <p:extLst>
      <p:ext uri="{BB962C8B-B14F-4D97-AF65-F5344CB8AC3E}">
        <p14:creationId xmlns:p14="http://schemas.microsoft.com/office/powerpoint/2010/main" val="2737914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Teoria dos Gargalos na prática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38948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 sistema é limitado pelo recurso mais restritivo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algo que não é gargalo = eficiência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Melhorar o gargalo = eficácia sistêmica</a:t>
            </a:r>
          </a:p>
          <a:p>
            <a:endParaRPr lang="pt-BR" dirty="0"/>
          </a:p>
          <a:p>
            <a:pPr>
              <a:buNone/>
            </a:pPr>
            <a:r>
              <a:rPr lang="pt-BR" sz="2000" dirty="0"/>
              <a:t>“Eficiência x Eficácia”</a:t>
            </a:r>
          </a:p>
        </p:txBody>
      </p:sp>
    </p:spTree>
    <p:extLst>
      <p:ext uri="{BB962C8B-B14F-4D97-AF65-F5344CB8AC3E}">
        <p14:creationId xmlns:p14="http://schemas.microsoft.com/office/powerpoint/2010/main" val="266051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Estrutura do Produto como Organização de Dados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683568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 BOM é um modelo de dados hierárquico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decomposição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Pode ser estruturada em banco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Permite geração automática de informação</a:t>
            </a:r>
          </a:p>
          <a:p>
            <a:endParaRPr lang="pt-BR" sz="1600" dirty="0"/>
          </a:p>
          <a:p>
            <a:r>
              <a:rPr lang="pt-BR" sz="1600" dirty="0"/>
              <a:t>Sistemas de Informação = Entrada → Processamento → Saída → Feedback</a:t>
            </a:r>
          </a:p>
        </p:txBody>
      </p:sp>
    </p:spTree>
    <p:extLst>
      <p:ext uri="{BB962C8B-B14F-4D97-AF65-F5344CB8AC3E}">
        <p14:creationId xmlns:p14="http://schemas.microsoft.com/office/powerpoint/2010/main" val="40064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1ECFE90-3F22-3E55-65F5-EE166E99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0" y="836712"/>
            <a:ext cx="8835999" cy="589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38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A18D7F-1BDB-1AA6-FDC2-8D0FECCC165B}"/>
              </a:ext>
            </a:extLst>
          </p:cNvPr>
          <p:cNvSpPr txBox="1"/>
          <p:nvPr/>
        </p:nvSpPr>
        <p:spPr>
          <a:xfrm>
            <a:off x="395536" y="4293096"/>
            <a:ext cx="698477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Se o sistema é composto por partes interdependentes,</a:t>
            </a:r>
            <a:br>
              <a:rPr lang="pt-BR" dirty="0"/>
            </a:br>
            <a:r>
              <a:rPr lang="pt-BR" dirty="0"/>
              <a:t>então o desempenho do sistema não é a soma das partes,</a:t>
            </a:r>
            <a:br>
              <a:rPr lang="pt-BR" dirty="0"/>
            </a:br>
            <a:r>
              <a:rPr lang="pt-BR" dirty="0"/>
              <a:t>mas sim limitado pela parte mais restritiva.</a:t>
            </a:r>
          </a:p>
          <a:p>
            <a:r>
              <a:rPr lang="pt-BR" sz="900" dirty="0" err="1"/>
              <a:t>Bertalanffy</a:t>
            </a:r>
            <a:r>
              <a:rPr lang="pt-BR" sz="900" dirty="0"/>
              <a:t> (Teoria dos Sistemas)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36E52-9B9E-F9AE-C81A-6315BD317DCF}"/>
              </a:ext>
            </a:extLst>
          </p:cNvPr>
          <p:cNvSpPr txBox="1"/>
          <p:nvPr/>
        </p:nvSpPr>
        <p:spPr>
          <a:xfrm>
            <a:off x="3707904" y="5234563"/>
            <a:ext cx="4968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Teoria dos Sistemas diz:</a:t>
            </a:r>
          </a:p>
          <a:p>
            <a:pPr>
              <a:buNone/>
            </a:pPr>
            <a:r>
              <a:rPr lang="pt-BR" dirty="0"/>
              <a:t>O todo é maior que a soma das partes.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Teoria dos Gargalos mostra:</a:t>
            </a:r>
          </a:p>
          <a:p>
            <a:pPr>
              <a:buNone/>
            </a:pPr>
            <a:r>
              <a:rPr lang="pt-BR" dirty="0"/>
              <a:t>Mas o todo é limitado pela parte mais restritiva.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22C7806-4A34-C892-7B3B-6A20FD4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8896"/>
            <a:ext cx="4788024" cy="319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97DDEC-B689-325D-65A5-9EB5764C42A7}"/>
              </a:ext>
            </a:extLst>
          </p:cNvPr>
          <p:cNvSpPr txBox="1"/>
          <p:nvPr/>
        </p:nvSpPr>
        <p:spPr>
          <a:xfrm>
            <a:off x="457200" y="1772816"/>
            <a:ext cx="79208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protótipo simplificado de MRP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de apoio à decisão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Um sistema que transforma dados em informação</a:t>
            </a:r>
          </a:p>
          <a:p>
            <a:endParaRPr lang="pt-BR" sz="1600" dirty="0"/>
          </a:p>
          <a:p>
            <a:r>
              <a:rPr lang="pt-BR" sz="1600" dirty="0"/>
              <a:t>Se isso estivesse integrado ao ERP da empresa, qual decisão poderia ser tomada automaticamente?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604EF-678B-4E95-5FEF-CE54F5108B87}"/>
              </a:ext>
            </a:extLst>
          </p:cNvPr>
          <p:cNvSpPr txBox="1"/>
          <p:nvPr/>
        </p:nvSpPr>
        <p:spPr>
          <a:xfrm>
            <a:off x="486770" y="3795430"/>
            <a:ext cx="61014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“A decisão de quando produzir.”</a:t>
            </a:r>
          </a:p>
          <a:p>
            <a:r>
              <a:rPr lang="pt-BR" sz="2000" dirty="0"/>
              <a:t>“A decisão de comprar os itens C, D e F.”</a:t>
            </a:r>
          </a:p>
          <a:p>
            <a:r>
              <a:rPr lang="pt-BR" sz="2000" dirty="0"/>
              <a:t>“A decisão de investir para reduzir tempo.”</a:t>
            </a:r>
          </a:p>
          <a:p>
            <a:r>
              <a:rPr lang="pt-BR" sz="2000" dirty="0"/>
              <a:t>“A decisão de aceitar ou não um pedido do cliente.”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486770" y="5399638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</p:spTree>
    <p:extLst>
      <p:ext uri="{BB962C8B-B14F-4D97-AF65-F5344CB8AC3E}">
        <p14:creationId xmlns:p14="http://schemas.microsoft.com/office/powerpoint/2010/main" val="44773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6696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que a planilha representa?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0A760-3B1B-26E0-D024-5939B2677602}"/>
              </a:ext>
            </a:extLst>
          </p:cNvPr>
          <p:cNvSpPr txBox="1"/>
          <p:nvPr/>
        </p:nvSpPr>
        <p:spPr>
          <a:xfrm>
            <a:off x="611560" y="1916832"/>
            <a:ext cx="8189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 sistema está tomando a decisão ou apenas aplicando regras previamente definidas?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814FBEF-C228-ED28-A49A-62198E2B9D93}"/>
              </a:ext>
            </a:extLst>
          </p:cNvPr>
          <p:cNvSpPr txBox="1"/>
          <p:nvPr/>
        </p:nvSpPr>
        <p:spPr>
          <a:xfrm>
            <a:off x="611560" y="2951946"/>
            <a:ext cx="7776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Automação operacional</a:t>
            </a:r>
          </a:p>
          <a:p>
            <a:pPr marL="342900" lvl="6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quando produzir.”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Apoio à decisão gerencial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aceitar ou não um pedido do cliente.</a:t>
            </a:r>
          </a:p>
          <a:p>
            <a:endParaRPr lang="pt-BR" sz="2000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Inteligência estratégica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6"/>
                </a:solidFill>
              </a:rPr>
              <a:t>A decisão de investir para reduzir tempo.</a:t>
            </a:r>
          </a:p>
          <a:p>
            <a:endParaRPr lang="pt-BR" sz="2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1F380D2-9E82-D2C0-A80A-29E853B5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811" y="2301124"/>
            <a:ext cx="4342432" cy="9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CASO DATA DE ENTREGA PRODUTO 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91EC-B026-370F-0F3F-D484E195BC9C}"/>
              </a:ext>
            </a:extLst>
          </p:cNvPr>
          <p:cNvSpPr txBox="1"/>
          <p:nvPr/>
        </p:nvSpPr>
        <p:spPr>
          <a:xfrm>
            <a:off x="611560" y="11967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Onde surge o CONHECIMENTO?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B3B0B9-CC21-A000-0619-E1B43172EFDB}"/>
              </a:ext>
            </a:extLst>
          </p:cNvPr>
          <p:cNvSpPr txBox="1"/>
          <p:nvPr/>
        </p:nvSpPr>
        <p:spPr>
          <a:xfrm>
            <a:off x="611560" y="1795545"/>
            <a:ext cx="78488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Quando percebemos que:</a:t>
            </a:r>
          </a:p>
          <a:p>
            <a:endParaRPr 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onde NÃO é gargalo não reduz prazo total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Reduzir tempo no gargalo impacta diretamente o prazo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Comprar mais rápido pode não adiantar se o gargalo for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dirty="0"/>
              <a:t>O lead time é condicionado pelo recurso restritivo</a:t>
            </a:r>
          </a:p>
          <a:p>
            <a:endParaRPr lang="pt-BR" sz="1800" dirty="0"/>
          </a:p>
          <a:p>
            <a:r>
              <a:rPr lang="pt-BR" sz="1800" dirty="0"/>
              <a:t>👉 Aqui nasce o </a:t>
            </a:r>
            <a:r>
              <a:rPr lang="pt-BR" sz="1800" b="1" dirty="0"/>
              <a:t>conhecimento aplicado à decisão</a:t>
            </a:r>
            <a:r>
              <a:rPr lang="pt-BR" sz="1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7166B-FDD2-CC54-1C9C-25133BED715C}"/>
              </a:ext>
            </a:extLst>
          </p:cNvPr>
          <p:cNvSpPr txBox="1"/>
          <p:nvPr/>
        </p:nvSpPr>
        <p:spPr>
          <a:xfrm>
            <a:off x="755576" y="4653136"/>
            <a:ext cx="7632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Conhecimento é a informação compreendida e internalizada pelas pessoas, permitindo entender situações e agir de maneira adequada.</a:t>
            </a:r>
          </a:p>
        </p:txBody>
      </p:sp>
    </p:spTree>
    <p:extLst>
      <p:ext uri="{BB962C8B-B14F-4D97-AF65-F5344CB8AC3E}">
        <p14:creationId xmlns:p14="http://schemas.microsoft.com/office/powerpoint/2010/main" val="34285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Revisão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36732-2A10-23D0-8508-155AFB14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836712"/>
            <a:ext cx="3918181" cy="58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284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9E624-2E3B-5394-8609-798C8B4633CD}"/>
              </a:ext>
            </a:extLst>
          </p:cNvPr>
          <p:cNvSpPr txBox="1"/>
          <p:nvPr/>
        </p:nvSpPr>
        <p:spPr>
          <a:xfrm>
            <a:off x="4019880" y="968152"/>
            <a:ext cx="4728584" cy="215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 atividade tem como objetivo relacionar os conceitos de: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Sistemas de 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</a:p>
          <a:p>
            <a:pPr lvl="0">
              <a:buSzPts val="1000"/>
              <a:tabLst>
                <a:tab pos="457200" algn="l"/>
              </a:tabLst>
            </a:pP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utilizando um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prático de produção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1C9DF2-45B8-343D-73CB-5BD373B6A9D5}"/>
              </a:ext>
            </a:extLst>
          </p:cNvPr>
          <p:cNvSpPr txBox="1"/>
          <p:nvPr/>
        </p:nvSpPr>
        <p:spPr>
          <a:xfrm>
            <a:off x="466038" y="3605299"/>
            <a:ext cx="8066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pizzaria artesanal produz pizzas individuais utilizando um forno a lenha. O gerente da pizzaria deseja compreender melhor o processo produtivo para organizar os dados da produção e aprimorar o planejamento das atividades.</a:t>
            </a:r>
          </a:p>
          <a:p>
            <a:endParaRPr lang="pt-BR" dirty="0"/>
          </a:p>
          <a:p>
            <a:r>
              <a:rPr lang="pt-BR" dirty="0"/>
              <a:t>O desenvolvimento desta atividade deve seguir o modelo de planilha apresentado e desenvolvido em sala na Atividade 01, utilizando a mesma estrutura para organização dos dados, realização dos cálculos e análise das informações.</a:t>
            </a:r>
          </a:p>
          <a:p>
            <a:endParaRPr lang="pt-BR" dirty="0"/>
          </a:p>
          <a:p>
            <a:r>
              <a:rPr lang="pt-BR" dirty="0"/>
              <a:t>Informações complementares sobre o caso estão disponíveis na Atividade 002 no AVA, e devem ser utilizadas para responder às questões propostas neste estudo de caso.</a:t>
            </a:r>
          </a:p>
        </p:txBody>
      </p:sp>
    </p:spTree>
    <p:extLst>
      <p:ext uri="{BB962C8B-B14F-4D97-AF65-F5344CB8AC3E}">
        <p14:creationId xmlns:p14="http://schemas.microsoft.com/office/powerpoint/2010/main" val="21509622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95D606-C068-27B2-DB01-CF6080D0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3" y="3207303"/>
            <a:ext cx="8974474" cy="15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18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2875232" cy="191789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501378-7BF3-BD96-664F-933FAE8B9B2C}"/>
              </a:ext>
            </a:extLst>
          </p:cNvPr>
          <p:cNvSpPr txBox="1"/>
          <p:nvPr/>
        </p:nvSpPr>
        <p:spPr>
          <a:xfrm>
            <a:off x="1979712" y="3300106"/>
            <a:ext cx="48965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🕒 Linha do tempo da produção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🔧 Premissas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Massa + molho (paralelo) = </a:t>
            </a:r>
            <a:r>
              <a:rPr lang="pt-BR" b="1" dirty="0"/>
              <a:t>8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Forno = </a:t>
            </a:r>
            <a:r>
              <a:rPr lang="pt-BR" b="1" dirty="0"/>
              <a:t>10 min (gargalo)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Primeira pizza =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dirty="0"/>
              <a:t>Depois → </a:t>
            </a:r>
            <a:r>
              <a:rPr lang="pt-BR" b="1" dirty="0"/>
              <a:t>1 pizza a cada 10 min</a:t>
            </a:r>
            <a:endParaRPr lang="pt-BR" dirty="0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1396DC7-BC2D-1D34-D80E-1AF66201A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1841"/>
              </p:ext>
            </p:extLst>
          </p:nvPr>
        </p:nvGraphicFramePr>
        <p:xfrm>
          <a:off x="3707904" y="980728"/>
          <a:ext cx="2160240" cy="1828800"/>
        </p:xfrm>
        <a:graphic>
          <a:graphicData uri="http://schemas.openxmlformats.org/drawingml/2006/table">
            <a:tbl>
              <a:tblPr/>
              <a:tblGrid>
                <a:gridCol w="1152128">
                  <a:extLst>
                    <a:ext uri="{9D8B030D-6E8A-4147-A177-3AD203B41FA5}">
                      <a16:colId xmlns:a16="http://schemas.microsoft.com/office/drawing/2014/main" val="393726888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986481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Etapa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220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Massa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2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Molho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9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Montagem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931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Forno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3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25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1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45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A5D4652-55FF-1CF2-7D6F-89465BEDFE29}"/>
              </a:ext>
            </a:extLst>
          </p:cNvPr>
          <p:cNvSpPr txBox="1"/>
          <p:nvPr/>
        </p:nvSpPr>
        <p:spPr>
          <a:xfrm>
            <a:off x="611560" y="2086854"/>
            <a:ext cx="763284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 8     10    20    30    40    50</a:t>
            </a:r>
          </a:p>
          <a:p>
            <a:endParaRPr lang="pt-BR" dirty="0"/>
          </a:p>
          <a:p>
            <a:r>
              <a:rPr lang="pt-BR" dirty="0"/>
              <a:t>P1 </a:t>
            </a:r>
            <a:r>
              <a:rPr lang="pt-BR" dirty="0" err="1"/>
              <a:t>Prep</a:t>
            </a:r>
            <a:r>
              <a:rPr lang="pt-BR" dirty="0"/>
              <a:t>: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P1 Forno:             [========10========]</a:t>
            </a:r>
          </a:p>
          <a:p>
            <a:r>
              <a:rPr lang="pt-BR" dirty="0"/>
              <a:t>P1 Saída:                         ✔ 20</a:t>
            </a:r>
          </a:p>
          <a:p>
            <a:endParaRPr lang="pt-BR" dirty="0"/>
          </a:p>
          <a:p>
            <a:r>
              <a:rPr lang="pt-BR" dirty="0"/>
              <a:t>P2 </a:t>
            </a:r>
            <a:r>
              <a:rPr lang="pt-BR" dirty="0" err="1"/>
              <a:t>Prep</a:t>
            </a:r>
            <a:r>
              <a:rPr lang="pt-BR" dirty="0"/>
              <a:t>: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P2 Forno:                         [========10========]</a:t>
            </a:r>
          </a:p>
          <a:p>
            <a:r>
              <a:rPr lang="pt-BR" dirty="0"/>
              <a:t>P2 Saída:                                     ✔ 30</a:t>
            </a:r>
          </a:p>
          <a:p>
            <a:endParaRPr lang="pt-BR" dirty="0"/>
          </a:p>
          <a:p>
            <a:r>
              <a:rPr lang="pt-BR" dirty="0"/>
              <a:t>P3 </a:t>
            </a:r>
            <a:r>
              <a:rPr lang="pt-BR" dirty="0" err="1"/>
              <a:t>Prep</a:t>
            </a:r>
            <a:r>
              <a:rPr lang="pt-BR" dirty="0"/>
              <a:t>: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P3 Forno:                                     [========10========]</a:t>
            </a:r>
          </a:p>
          <a:p>
            <a:r>
              <a:rPr lang="pt-BR" dirty="0"/>
              <a:t>P3 Saída:                                                 ✔ 40</a:t>
            </a:r>
          </a:p>
          <a:p>
            <a:endParaRPr lang="pt-BR" dirty="0"/>
          </a:p>
          <a:p>
            <a:r>
              <a:rPr lang="pt-BR" dirty="0"/>
              <a:t>P4 </a:t>
            </a:r>
            <a:r>
              <a:rPr lang="pt-BR" dirty="0" err="1"/>
              <a:t>Prep</a:t>
            </a:r>
            <a:r>
              <a:rPr lang="pt-BR" dirty="0"/>
              <a:t>:                       [ Massa + Molho ][</a:t>
            </a:r>
            <a:r>
              <a:rPr lang="pt-BR" dirty="0" err="1"/>
              <a:t>Mont</a:t>
            </a:r>
            <a:r>
              <a:rPr lang="pt-BR" dirty="0"/>
              <a:t>]</a:t>
            </a:r>
          </a:p>
          <a:p>
            <a:r>
              <a:rPr lang="pt-BR" dirty="0"/>
              <a:t>P4 Forno:                                                 [========10========]</a:t>
            </a:r>
          </a:p>
          <a:p>
            <a:r>
              <a:rPr lang="pt-BR" dirty="0"/>
              <a:t>P4 Saída:                                                             ✔ 50</a:t>
            </a:r>
          </a:p>
        </p:txBody>
      </p:sp>
    </p:spTree>
    <p:extLst>
      <p:ext uri="{BB962C8B-B14F-4D97-AF65-F5344CB8AC3E}">
        <p14:creationId xmlns:p14="http://schemas.microsoft.com/office/powerpoint/2010/main" val="19228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481113F-2C37-F7B0-C9FD-F947E583F491}"/>
              </a:ext>
            </a:extLst>
          </p:cNvPr>
          <p:cNvSpPr txBox="1"/>
          <p:nvPr/>
        </p:nvSpPr>
        <p:spPr>
          <a:xfrm>
            <a:off x="1691680" y="955674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1️⃣ Início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P1 leva </a:t>
            </a:r>
            <a:r>
              <a:rPr lang="pt-BR" b="1" dirty="0"/>
              <a:t>20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sistema ainda está “enchendo”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BFFAB6-7123-3273-9128-16627DD4CB19}"/>
              </a:ext>
            </a:extLst>
          </p:cNvPr>
          <p:cNvSpPr txBox="1"/>
          <p:nvPr/>
        </p:nvSpPr>
        <p:spPr>
          <a:xfrm>
            <a:off x="2627784" y="1845311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2️⃣ A partir da segunda pizza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Observe: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enquanto P1 está no forno (10–20)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P2 está sendo preparada (10 min)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8BD5DA-8604-EC6E-4CA5-8A985F3BA5DD}"/>
              </a:ext>
            </a:extLst>
          </p:cNvPr>
          <p:cNvSpPr txBox="1"/>
          <p:nvPr/>
        </p:nvSpPr>
        <p:spPr>
          <a:xfrm>
            <a:off x="1853952" y="35969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3️⃣ Regime estável</a:t>
            </a:r>
          </a:p>
        </p:txBody>
      </p:sp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07B8C7F-EE0D-8AFA-280A-B761306F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9193"/>
              </p:ext>
            </p:extLst>
          </p:nvPr>
        </p:nvGraphicFramePr>
        <p:xfrm>
          <a:off x="1979712" y="4005064"/>
          <a:ext cx="2458616" cy="1524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378496">
                  <a:extLst>
                    <a:ext uri="{9D8B030D-6E8A-4147-A177-3AD203B41FA5}">
                      <a16:colId xmlns:a16="http://schemas.microsoft.com/office/drawing/2014/main" val="31313134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4860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Saída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5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9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05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10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40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15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C83EA02-0FDF-B2C2-065D-D391693C72F4}"/>
              </a:ext>
            </a:extLst>
          </p:cNvPr>
          <p:cNvSpPr txBox="1"/>
          <p:nvPr/>
        </p:nvSpPr>
        <p:spPr>
          <a:xfrm>
            <a:off x="2298576" y="990440"/>
            <a:ext cx="457200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Situação nova: 2 fornos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🔧 Premissas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molho = </a:t>
            </a:r>
            <a:r>
              <a:rPr lang="pt-BR" b="1" dirty="0"/>
              <a:t>8 min (paralelo)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Montagem = </a:t>
            </a:r>
            <a:r>
              <a:rPr lang="pt-BR" b="1" dirty="0"/>
              <a:t>2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1 = </a:t>
            </a:r>
            <a:r>
              <a:rPr lang="pt-BR" b="1" dirty="0"/>
              <a:t>10 min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Forno 2 = </a:t>
            </a:r>
            <a:r>
              <a:rPr lang="pt-BR" b="1" dirty="0"/>
              <a:t>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👉 Agora temos 2 recursos no gargalo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EE41FE-A6DC-F1C7-F169-5CB003487C20}"/>
              </a:ext>
            </a:extLst>
          </p:cNvPr>
          <p:cNvSpPr txBox="1"/>
          <p:nvPr/>
        </p:nvSpPr>
        <p:spPr>
          <a:xfrm>
            <a:off x="390364" y="3429000"/>
            <a:ext cx="381642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🧠 O que muda no sistema?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Antes: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1 forno → </a:t>
            </a:r>
            <a:r>
              <a:rPr lang="pt-BR" b="1" dirty="0"/>
              <a:t>1 pizza a cada 10 min</a:t>
            </a:r>
            <a:endParaRPr lang="pt-BR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dirty="0"/>
              <a:t>Agora: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1200"/>
              </a:spcBef>
              <a:buNone/>
            </a:pPr>
            <a:r>
              <a:rPr lang="pt-BR" dirty="0"/>
              <a:t>👉 </a:t>
            </a:r>
            <a:r>
              <a:rPr lang="pt-BR" b="1" dirty="0"/>
              <a:t>1 pizza a cada 5 minutos (em média)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087CFE-8A30-109C-48C3-047F6C3A6A82}"/>
              </a:ext>
            </a:extLst>
          </p:cNvPr>
          <p:cNvSpPr txBox="1"/>
          <p:nvPr/>
        </p:nvSpPr>
        <p:spPr>
          <a:xfrm>
            <a:off x="4355976" y="3440578"/>
            <a:ext cx="4572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Tempo →   0    10    20    30    40    50</a:t>
            </a:r>
          </a:p>
          <a:p>
            <a:endParaRPr lang="pt-BR" dirty="0"/>
          </a:p>
          <a:p>
            <a:r>
              <a:rPr lang="pt-BR" dirty="0"/>
              <a:t>P1 → forno 1 → saída 20</a:t>
            </a:r>
          </a:p>
          <a:p>
            <a:r>
              <a:rPr lang="pt-BR" dirty="0"/>
              <a:t>P2 → forno 2 → saída 20</a:t>
            </a:r>
          </a:p>
          <a:p>
            <a:endParaRPr lang="pt-BR" dirty="0"/>
          </a:p>
          <a:p>
            <a:r>
              <a:rPr lang="pt-BR" dirty="0"/>
              <a:t>P3 → forno 1 → saída 30</a:t>
            </a:r>
          </a:p>
          <a:p>
            <a:r>
              <a:rPr lang="pt-BR" dirty="0"/>
              <a:t>P4 → forno 2 → saída 30</a:t>
            </a:r>
          </a:p>
          <a:p>
            <a:endParaRPr lang="pt-BR" dirty="0"/>
          </a:p>
          <a:p>
            <a:r>
              <a:rPr lang="pt-BR" dirty="0"/>
              <a:t>P5 → forno 1 → saída 40</a:t>
            </a:r>
          </a:p>
          <a:p>
            <a:r>
              <a:rPr lang="pt-BR" dirty="0"/>
              <a:t>P6 → forno 2 → saída 40</a:t>
            </a:r>
          </a:p>
        </p:txBody>
      </p:sp>
    </p:spTree>
    <p:extLst>
      <p:ext uri="{BB962C8B-B14F-4D97-AF65-F5344CB8AC3E}">
        <p14:creationId xmlns:p14="http://schemas.microsoft.com/office/powerpoint/2010/main" val="35868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3F0EA1D-A131-80A1-D8E4-DE9FD4447ABC}"/>
              </a:ext>
            </a:extLst>
          </p:cNvPr>
          <p:cNvSpPr txBox="1"/>
          <p:nvPr/>
        </p:nvSpPr>
        <p:spPr>
          <a:xfrm>
            <a:off x="1907704" y="1045092"/>
            <a:ext cx="4572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gargalo mudou?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Vamos comparar: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Capacidade dos fornos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2 fornos → </a:t>
            </a:r>
            <a:r>
              <a:rPr lang="pt-BR" b="1" dirty="0"/>
              <a:t>2 pizzas a cada 10 min</a:t>
            </a:r>
            <a:endParaRPr lang="pt-B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b="1" dirty="0"/>
              <a:t>Capacidade da preparação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massa + montagem = </a:t>
            </a:r>
            <a:r>
              <a:rPr lang="pt-BR" b="1" dirty="0"/>
              <a:t>10 min por pizza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só conseguimos preparar </a:t>
            </a:r>
            <a:r>
              <a:rPr lang="pt-BR" b="1" dirty="0"/>
              <a:t>1 pizza a cada 10 min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48D4508-D9F4-8981-563A-340E17ED879E}"/>
              </a:ext>
            </a:extLst>
          </p:cNvPr>
          <p:cNvSpPr txBox="1"/>
          <p:nvPr/>
        </p:nvSpPr>
        <p:spPr>
          <a:xfrm>
            <a:off x="683568" y="3573016"/>
            <a:ext cx="5400600" cy="102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b="1" dirty="0"/>
              <a:t>💥 Novo gargalo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👉 Agora o gargalo NÃO é mais o forno</a:t>
            </a:r>
          </a:p>
          <a:p>
            <a:pPr>
              <a:lnSpc>
                <a:spcPct val="150000"/>
              </a:lnSpc>
              <a:buNone/>
            </a:pPr>
            <a:r>
              <a:rPr lang="pt-BR" dirty="0"/>
              <a:t>🔥 </a:t>
            </a:r>
            <a:r>
              <a:rPr lang="pt-BR" b="1" dirty="0"/>
              <a:t>O gargalo passa a ser a preparação (massa + montagem)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24DFFA-6EFD-AAF5-3B44-8FAAFB781F14}"/>
              </a:ext>
            </a:extLst>
          </p:cNvPr>
          <p:cNvSpPr txBox="1"/>
          <p:nvPr/>
        </p:nvSpPr>
        <p:spPr>
          <a:xfrm>
            <a:off x="2286000" y="4941168"/>
            <a:ext cx="5310336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📉 Resultado real do sistema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Mesmo com 2 fornos: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você NÃO consegue produzir 2 pizzas a cada 10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porque só consegue preparar 1 pizza a cada 10 min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dirty="0"/>
              <a:t>👉 produção continua limitada: 10 pizza a cada 10 min</a:t>
            </a:r>
          </a:p>
        </p:txBody>
      </p:sp>
    </p:spTree>
    <p:extLst>
      <p:ext uri="{BB962C8B-B14F-4D97-AF65-F5344CB8AC3E}">
        <p14:creationId xmlns:p14="http://schemas.microsoft.com/office/powerpoint/2010/main" val="3185482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2E484A-70E6-3E74-1D31-0EA739A4883D}"/>
              </a:ext>
            </a:extLst>
          </p:cNvPr>
          <p:cNvSpPr txBox="1"/>
          <p:nvPr/>
        </p:nvSpPr>
        <p:spPr>
          <a:xfrm>
            <a:off x="1907704" y="1152813"/>
            <a:ext cx="595840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🔥 Pergunta 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Se quisermos aproveitar os 2 fornos, o que precisamos melhorar?</a:t>
            </a:r>
          </a:p>
          <a:p>
            <a:pPr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Respostas:</a:t>
            </a:r>
          </a:p>
          <a:p>
            <a:pPr>
              <a:buNone/>
            </a:pPr>
            <a:r>
              <a:rPr lang="pt-BR" dirty="0"/>
              <a:t>👉 reduzir tempo de preparo</a:t>
            </a:r>
            <a:br>
              <a:rPr lang="pt-BR" dirty="0"/>
            </a:br>
            <a:r>
              <a:rPr lang="pt-BR" dirty="0"/>
              <a:t>👉 paralelizar montagem</a:t>
            </a:r>
            <a:br>
              <a:rPr lang="pt-BR" dirty="0"/>
            </a:br>
            <a:r>
              <a:rPr lang="pt-BR" dirty="0"/>
              <a:t>👉 aumentar equipe</a:t>
            </a:r>
          </a:p>
        </p:txBody>
      </p:sp>
    </p:spTree>
    <p:extLst>
      <p:ext uri="{BB962C8B-B14F-4D97-AF65-F5344CB8AC3E}">
        <p14:creationId xmlns:p14="http://schemas.microsoft.com/office/powerpoint/2010/main" val="138692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Exercício: Atividade 002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A46240-633B-112C-E02E-632D2A86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9"/>
            <a:ext cx="1296144" cy="8645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0439FE-F523-D1ED-355E-50BEDC424BCE}"/>
              </a:ext>
            </a:extLst>
          </p:cNvPr>
          <p:cNvSpPr txBox="1"/>
          <p:nvPr/>
        </p:nvSpPr>
        <p:spPr>
          <a:xfrm>
            <a:off x="1853952" y="1011320"/>
            <a:ext cx="2213992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300 g de farinha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150 g de queijo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minutos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 pizzas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são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valores brutos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29ADA-23EE-72BD-ACFB-7B5EDBC60E05}"/>
              </a:ext>
            </a:extLst>
          </p:cNvPr>
          <p:cNvSpPr txBox="1"/>
          <p:nvPr/>
        </p:nvSpPr>
        <p:spPr>
          <a:xfrm>
            <a:off x="4577633" y="1011320"/>
            <a:ext cx="4098823" cy="23112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Informações geradas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organizamos os dados: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quantidade total de farinha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 kg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 total para produzir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16h40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é 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gargalo do processo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Informação =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dados organizados com significado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24616B9-9F51-B4C2-860E-F1F990D09E50}"/>
              </a:ext>
            </a:extLst>
          </p:cNvPr>
          <p:cNvSpPr txBox="1"/>
          <p:nvPr/>
        </p:nvSpPr>
        <p:spPr>
          <a:xfrm>
            <a:off x="251520" y="4264560"/>
            <a:ext cx="3816424" cy="1640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 gerado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análise mostra que: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forno limita a produção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produção exige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análise do gargalo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entendimento é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conhecimento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FF1136-D849-BF85-AFBE-BDF5E984A8C2}"/>
              </a:ext>
            </a:extLst>
          </p:cNvPr>
          <p:cNvSpPr txBox="1"/>
          <p:nvPr/>
        </p:nvSpPr>
        <p:spPr>
          <a:xfrm>
            <a:off x="4539612" y="3764903"/>
            <a:ext cx="4191396" cy="2639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Ações de gestão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gerente poderia: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comprar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aumentar a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capacidade do forno</a:t>
            </a:r>
            <a:endParaRPr lang="pt-BR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reorganizar a produção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planejar compra de ingredientes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representa o conceito de </a:t>
            </a:r>
            <a:r>
              <a:rPr lang="pt-BR" sz="1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gestão</a:t>
            </a:r>
            <a:r>
              <a:rPr lang="pt-BR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usar informação e conhecimento para </a:t>
            </a:r>
            <a:r>
              <a:rPr lang="pt-BR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tomar decisões</a:t>
            </a:r>
            <a:r>
              <a:rPr lang="pt-B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010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1519F9-8E43-2DF8-0FFB-597190E2D245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4932040" y="1340768"/>
            <a:ext cx="32403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</p:txBody>
      </p:sp>
    </p:spTree>
    <p:extLst>
      <p:ext uri="{BB962C8B-B14F-4D97-AF65-F5344CB8AC3E}">
        <p14:creationId xmlns:p14="http://schemas.microsoft.com/office/powerpoint/2010/main" val="35565628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0FBB37-71E4-297A-6EB3-1F458815C1AC}"/>
              </a:ext>
            </a:extLst>
          </p:cNvPr>
          <p:cNvSpPr txBox="1"/>
          <p:nvPr/>
        </p:nvSpPr>
        <p:spPr>
          <a:xfrm>
            <a:off x="251520" y="908720"/>
            <a:ext cx="590465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Vamos aprender mais um Fundamento Teórico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64E0BA-19C3-D83F-C385-0969A6279093}"/>
              </a:ext>
            </a:extLst>
          </p:cNvPr>
          <p:cNvSpPr txBox="1"/>
          <p:nvPr/>
        </p:nvSpPr>
        <p:spPr>
          <a:xfrm>
            <a:off x="539552" y="1772816"/>
            <a:ext cx="77768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dirty="0"/>
              <a:t>Você é responsável pela compra dos insumos para a produção de canetas.</a:t>
            </a:r>
          </a:p>
          <a:p>
            <a:pPr>
              <a:buNone/>
            </a:pPr>
            <a:r>
              <a:rPr lang="pt-BR" sz="1600" dirty="0"/>
              <a:t>A tabela a seguir apresenta alguns itens com seus respectivos custos unitários.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4D2206F-0E4B-76CD-BE53-FC1288DA52FD}"/>
              </a:ext>
            </a:extLst>
          </p:cNvPr>
          <p:cNvSpPr txBox="1"/>
          <p:nvPr/>
        </p:nvSpPr>
        <p:spPr>
          <a:xfrm>
            <a:off x="611560" y="2636912"/>
            <a:ext cx="748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👉 </a:t>
            </a:r>
            <a:r>
              <a:rPr lang="pt-BR" b="1" dirty="0"/>
              <a:t>Pergunta:</a:t>
            </a:r>
            <a:endParaRPr lang="pt-BR" dirty="0"/>
          </a:p>
          <a:p>
            <a:pPr>
              <a:buNone/>
            </a:pPr>
            <a:r>
              <a:rPr lang="pt-BR" sz="1800" dirty="0"/>
              <a:t>Se o seu objetivo é </a:t>
            </a:r>
            <a:r>
              <a:rPr lang="pt-BR" sz="1800" b="1" dirty="0"/>
              <a:t>reduzir o custo de produção</a:t>
            </a:r>
            <a:r>
              <a:rPr lang="pt-BR" sz="1800" dirty="0"/>
              <a:t>, em qual(</a:t>
            </a:r>
            <a:r>
              <a:rPr lang="pt-BR" sz="1800" dirty="0" err="1"/>
              <a:t>is</a:t>
            </a:r>
            <a:r>
              <a:rPr lang="pt-BR" sz="1800" dirty="0"/>
              <a:t>) item(</a:t>
            </a:r>
            <a:r>
              <a:rPr lang="pt-BR" sz="1800" dirty="0" err="1"/>
              <a:t>ns</a:t>
            </a:r>
            <a:r>
              <a:rPr lang="pt-BR" sz="1800" dirty="0"/>
              <a:t>) você dedicaria mais tempo para negociar o preço com o fornecedor?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953E484-10FB-881E-84AA-B50A165B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17032"/>
            <a:ext cx="4076371" cy="273315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A25FCE53-8642-3A91-A5BF-7640B0636ED2}"/>
              </a:ext>
            </a:extLst>
          </p:cNvPr>
          <p:cNvSpPr txBox="1"/>
          <p:nvPr/>
        </p:nvSpPr>
        <p:spPr>
          <a:xfrm>
            <a:off x="5146022" y="3931896"/>
            <a:ext cx="341987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dirty="0"/>
              <a:t>Será que olhar apenas o custo unitário é suficiente para tomar essa decisão?</a:t>
            </a:r>
          </a:p>
        </p:txBody>
      </p:sp>
    </p:spTree>
    <p:extLst>
      <p:ext uri="{BB962C8B-B14F-4D97-AF65-F5344CB8AC3E}">
        <p14:creationId xmlns:p14="http://schemas.microsoft.com/office/powerpoint/2010/main" val="14323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6" grpId="0" build="allAtOnce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C3576B-F57E-8465-5CF2-1C3BF7A0A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452469"/>
            <a:ext cx="7232484" cy="324036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38AA418-04EA-2C38-933F-2D6DBE9BA56A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1 – Download da planilha Custo-</a:t>
            </a:r>
            <a:r>
              <a:rPr lang="pt-BR" sz="1600" dirty="0" err="1"/>
              <a:t>Prod</a:t>
            </a:r>
            <a:r>
              <a:rPr lang="pt-BR" sz="1600" dirty="0"/>
              <a:t>-Caneta que está no cronograma no AVA</a:t>
            </a:r>
          </a:p>
        </p:txBody>
      </p:sp>
    </p:spTree>
    <p:extLst>
      <p:ext uri="{BB962C8B-B14F-4D97-AF65-F5344CB8AC3E}">
        <p14:creationId xmlns:p14="http://schemas.microsoft.com/office/powerpoint/2010/main" val="2596769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B80DC9-A9E9-4917-DAF2-E2B97C9E6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2204864"/>
            <a:ext cx="7331721" cy="331236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714675" y="1484784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2 – Calcular o Valor Total = Consumo Anual X Custo Unitário</a:t>
            </a:r>
          </a:p>
        </p:txBody>
      </p:sp>
    </p:spTree>
    <p:extLst>
      <p:ext uri="{BB962C8B-B14F-4D97-AF65-F5344CB8AC3E}">
        <p14:creationId xmlns:p14="http://schemas.microsoft.com/office/powerpoint/2010/main" val="12648651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1031282" y="1412776"/>
            <a:ext cx="77768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3 – Classificar a tabela em ordem decrescente pela coluna Valor Total (R$)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3B7892-061D-54E5-C2DE-D2BE404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82" y="2265428"/>
            <a:ext cx="7180410" cy="278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28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4 – Calcular o % individual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%Individual = (Valor Total (R$) / Total Geral) * 100</a:t>
            </a:r>
          </a:p>
          <a:p>
            <a:endParaRPr lang="pt-BR" sz="1600" dirty="0"/>
          </a:p>
          <a:p>
            <a:r>
              <a:rPr lang="pt-BR" sz="1600" dirty="0" err="1"/>
              <a:t>Ex</a:t>
            </a:r>
            <a:r>
              <a:rPr lang="pt-BR" sz="1600" dirty="0"/>
              <a:t>: %Individual = (12000,00 / 24900,00) * 100</a:t>
            </a:r>
          </a:p>
          <a:p>
            <a:r>
              <a:rPr lang="pt-BR" sz="1600" dirty="0"/>
              <a:t>      %Individual = 48,2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83D729-5561-8849-BF81-9F614EB9E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89" y="3356992"/>
            <a:ext cx="8495622" cy="28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035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71903" y="1423813"/>
            <a:ext cx="77768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5 – Calcular o Valor Total Acumulado (R$)</a:t>
            </a:r>
          </a:p>
          <a:p>
            <a:endParaRPr lang="pt-BR" sz="1600" dirty="0"/>
          </a:p>
          <a:p>
            <a:r>
              <a:rPr lang="pt-BR" sz="1600" dirty="0"/>
              <a:t>Exemplo do cálculo para acumular </a:t>
            </a:r>
          </a:p>
          <a:p>
            <a:endParaRPr lang="pt-BR" sz="1600" dirty="0"/>
          </a:p>
          <a:p>
            <a:r>
              <a:rPr lang="pt-BR" sz="1600" dirty="0"/>
              <a:t>Carga de tinta = 12.000,00</a:t>
            </a:r>
          </a:p>
          <a:p>
            <a:r>
              <a:rPr lang="pt-BR" sz="1600" dirty="0"/>
              <a:t>Carga de tinta + ponta metálica = 12.000 + 7.200 = 19.200</a:t>
            </a:r>
          </a:p>
          <a:p>
            <a:r>
              <a:rPr lang="pt-BR" sz="1600" dirty="0"/>
              <a:t>Carga de tinta + ponta metálica + tampa = 12.000 + 7.200 + 1.500 = 20.700,00</a:t>
            </a:r>
          </a:p>
          <a:p>
            <a:endParaRPr lang="pt-BR" sz="1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F932BF-99BC-87EC-EB72-99EF83668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0" y="3717032"/>
            <a:ext cx="8705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31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918DCCA-EBA3-4DC7-1476-6B45D5276E55}"/>
              </a:ext>
            </a:extLst>
          </p:cNvPr>
          <p:cNvSpPr txBox="1"/>
          <p:nvPr/>
        </p:nvSpPr>
        <p:spPr>
          <a:xfrm>
            <a:off x="683568" y="980728"/>
            <a:ext cx="7776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6 – Calcular o % acumulado de cada item em relação ao valor total</a:t>
            </a:r>
          </a:p>
          <a:p>
            <a:endParaRPr lang="pt-BR" sz="1600" dirty="0"/>
          </a:p>
          <a:p>
            <a:r>
              <a:rPr lang="pt-BR" sz="1600" dirty="0"/>
              <a:t>Exemplo do cálculo</a:t>
            </a:r>
          </a:p>
          <a:p>
            <a:endParaRPr lang="pt-BR" sz="1600" dirty="0"/>
          </a:p>
          <a:p>
            <a:r>
              <a:rPr lang="pt-BR" sz="1600" dirty="0"/>
              <a:t>% Acumulado = (12.000 / 24.900) * 100 = 48,2</a:t>
            </a:r>
          </a:p>
          <a:p>
            <a:r>
              <a:rPr lang="pt-BR" sz="1600" dirty="0"/>
              <a:t>% Acumulado = (19.200 / 24.900) * 100 = 77,1</a:t>
            </a:r>
          </a:p>
          <a:p>
            <a:endParaRPr lang="pt-BR" sz="1600" dirty="0"/>
          </a:p>
          <a:p>
            <a:r>
              <a:rPr lang="pt-BR" sz="1600" dirty="0"/>
              <a:t>Outra forma: acumular o %individual</a:t>
            </a:r>
          </a:p>
          <a:p>
            <a:r>
              <a:rPr lang="pt-BR" sz="1600" dirty="0"/>
              <a:t>% Acumulado = 48,2%</a:t>
            </a:r>
          </a:p>
          <a:p>
            <a:r>
              <a:rPr lang="pt-BR" sz="1600" dirty="0"/>
              <a:t>% Acumulado = 48,2% + 28,9% = 77,1%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B16222-93C2-F0F0-15A1-15210FE19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2" y="3717032"/>
            <a:ext cx="9036496" cy="22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60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50380C-1E8D-2814-697A-C511B936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3" y="837954"/>
            <a:ext cx="5724023" cy="574540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4067B7-0D94-1A31-4B24-7C02616D3E21}"/>
              </a:ext>
            </a:extLst>
          </p:cNvPr>
          <p:cNvSpPr txBox="1"/>
          <p:nvPr/>
        </p:nvSpPr>
        <p:spPr>
          <a:xfrm>
            <a:off x="6019628" y="1059186"/>
            <a:ext cx="26945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Uma pequena quantidade de causas é responsável pela maior parte dos efeitos.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4EB36A-093C-4487-A5B2-82FA56E95D7E}"/>
              </a:ext>
            </a:extLst>
          </p:cNvPr>
          <p:cNvSpPr txBox="1"/>
          <p:nvPr/>
        </p:nvSpPr>
        <p:spPr>
          <a:xfrm>
            <a:off x="6038369" y="1975823"/>
            <a:ext cx="2694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80% dos resultados vêm de 20% das causas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96A8FFE-09D7-1EC2-BAA0-2252BDAC298A}"/>
              </a:ext>
            </a:extLst>
          </p:cNvPr>
          <p:cNvSpPr txBox="1"/>
          <p:nvPr/>
        </p:nvSpPr>
        <p:spPr>
          <a:xfrm>
            <a:off x="6001032" y="2677016"/>
            <a:ext cx="301715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Após calcular:</a:t>
            </a:r>
          </a:p>
          <a:p>
            <a:endParaRPr lang="pt-BR" dirty="0"/>
          </a:p>
          <a:p>
            <a:r>
              <a:rPr lang="pt-BR" dirty="0"/>
              <a:t>Você descobre que: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2 ou 3 itens concentram ~80% do custo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o restante tem impacto muito menor</a:t>
            </a:r>
          </a:p>
          <a:p>
            <a:pPr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👉 Ou seja: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não faz sentido gastar o mesmo esforço em todos os itens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88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1C7E57-6D1F-36ED-BBB0-BC00971F2636}"/>
              </a:ext>
            </a:extLst>
          </p:cNvPr>
          <p:cNvSpPr txBox="1"/>
          <p:nvPr/>
        </p:nvSpPr>
        <p:spPr>
          <a:xfrm>
            <a:off x="433116" y="1052736"/>
            <a:ext cx="766727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📈 Como é um Gráfico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Um gráfico de Pareto combina: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📊 </a:t>
            </a:r>
            <a:r>
              <a:rPr lang="pt-BR" b="1" dirty="0"/>
              <a:t>Barras (colunas)</a:t>
            </a:r>
            <a:r>
              <a:rPr lang="pt-BR" dirty="0"/>
              <a:t> → valor de cada item (ordenado do maior para o menor)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📈 </a:t>
            </a:r>
            <a:r>
              <a:rPr lang="pt-BR" b="1" dirty="0"/>
              <a:t>Linha acumulada (%)</a:t>
            </a:r>
            <a:r>
              <a:rPr lang="pt-BR" dirty="0"/>
              <a:t> → mostra o impacto total acumulado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7D5CB5-2659-2A25-114B-5D025F49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724106"/>
            <a:ext cx="59340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056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PARETO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610B6BB-9E77-61CA-6325-A016A9E40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8262664" cy="20248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7D92F5D-FE62-988D-6DD6-B625792B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68960"/>
            <a:ext cx="6281260" cy="358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36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1E5CFE-9242-3150-90CC-F57F764F74D0}"/>
              </a:ext>
            </a:extLst>
          </p:cNvPr>
          <p:cNvSpPr txBox="1"/>
          <p:nvPr/>
        </p:nvSpPr>
        <p:spPr>
          <a:xfrm>
            <a:off x="683568" y="980728"/>
            <a:ext cx="7848872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🎯 Curva ABC – Conceito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b="1" dirty="0"/>
              <a:t>Curva ABC</a:t>
            </a:r>
            <a:r>
              <a:rPr lang="pt-BR" dirty="0"/>
              <a:t> é uma técnica de classificação que utiliza o princípio de Pareto para separar os itens de acordo com sua </a:t>
            </a:r>
            <a:r>
              <a:rPr lang="pt-BR" b="1" dirty="0"/>
              <a:t>importância relativa (geralmente financeira)</a:t>
            </a:r>
            <a:r>
              <a:rPr lang="pt-BR" dirty="0"/>
              <a:t>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0315A63-6AE7-1957-0B31-713BC1364C77}"/>
              </a:ext>
            </a:extLst>
          </p:cNvPr>
          <p:cNvSpPr txBox="1"/>
          <p:nvPr/>
        </p:nvSpPr>
        <p:spPr>
          <a:xfrm>
            <a:off x="683568" y="2276872"/>
            <a:ext cx="756084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lang="pt-BR" b="1" dirty="0"/>
              <a:t>🧠 Ideia central</a:t>
            </a:r>
          </a:p>
          <a:p>
            <a:pPr>
              <a:buNone/>
            </a:pPr>
            <a:r>
              <a:rPr lang="pt-BR" dirty="0"/>
              <a:t>Nem todos os itens têm a mesma relevância — alguns merecem muito mais atenção.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EC9B1DC-D12D-D064-FFA9-91EC29C8E909}"/>
              </a:ext>
            </a:extLst>
          </p:cNvPr>
          <p:cNvSpPr txBox="1"/>
          <p:nvPr/>
        </p:nvSpPr>
        <p:spPr>
          <a:xfrm>
            <a:off x="683568" y="34290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📊 </a:t>
            </a:r>
            <a:r>
              <a:rPr lang="pt-BR" b="1" dirty="0"/>
              <a:t>Classificação ABC</a:t>
            </a:r>
            <a:endParaRPr lang="pt-BR" dirty="0"/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91634FF4-F794-AA8E-C599-A6235B9C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03916"/>
              </p:ext>
            </p:extLst>
          </p:nvPr>
        </p:nvGraphicFramePr>
        <p:xfrm>
          <a:off x="1475656" y="4077072"/>
          <a:ext cx="6480720" cy="1219200"/>
        </p:xfrm>
        <a:graphic>
          <a:graphicData uri="http://schemas.openxmlformats.org/drawingml/2006/table">
            <a:tbl>
              <a:tblPr/>
              <a:tblGrid>
                <a:gridCol w="1065077">
                  <a:extLst>
                    <a:ext uri="{9D8B030D-6E8A-4147-A177-3AD203B41FA5}">
                      <a16:colId xmlns:a16="http://schemas.microsoft.com/office/drawing/2014/main" val="3998015459"/>
                    </a:ext>
                  </a:extLst>
                </a:gridCol>
                <a:gridCol w="1952642">
                  <a:extLst>
                    <a:ext uri="{9D8B030D-6E8A-4147-A177-3AD203B41FA5}">
                      <a16:colId xmlns:a16="http://schemas.microsoft.com/office/drawing/2014/main" val="2746449316"/>
                    </a:ext>
                  </a:extLst>
                </a:gridCol>
                <a:gridCol w="3463001">
                  <a:extLst>
                    <a:ext uri="{9D8B030D-6E8A-4147-A177-3AD203B41FA5}">
                      <a16:colId xmlns:a16="http://schemas.microsoft.com/office/drawing/2014/main" val="749998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Classe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Representatividade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0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A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~70% a 80% do 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Poucos itens, alto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259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B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~15% a 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Impacto intermediário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48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C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~5% a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Muitos itens, baixo impacto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685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984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3B9680-EAAF-20D2-BC3C-3AC40D1ED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144323"/>
            <a:ext cx="6584974" cy="54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94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6F0200-B3EF-377C-DCA1-1FFBD568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2125"/>
            <a:ext cx="4724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738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0160C4E-BC2C-4AB7-B308-8618FB70E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Classificação ABC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FF26FC-A45C-75C3-063B-B972F11C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5" y="908720"/>
            <a:ext cx="8786930" cy="31524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17B6B10-6E91-9E73-0EE7-38025D42B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356992"/>
            <a:ext cx="5526536" cy="34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92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C4BFAC-4DDE-E840-6255-BB12028760A0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4932040" y="1340768"/>
            <a:ext cx="3240360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Princípio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Classificação ABC</a:t>
            </a:r>
          </a:p>
        </p:txBody>
      </p:sp>
    </p:spTree>
    <p:extLst>
      <p:ext uri="{BB962C8B-B14F-4D97-AF65-F5344CB8AC3E}">
        <p14:creationId xmlns:p14="http://schemas.microsoft.com/office/powerpoint/2010/main" val="25215559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Até agora vocês levantaram </a:t>
            </a:r>
            <a:r>
              <a:rPr lang="pt-BR" sz="2000" b="1" dirty="0"/>
              <a:t>dados, transformaram em informação e geraram conhecimento</a:t>
            </a:r>
            <a:r>
              <a:rPr lang="pt-BR" sz="2000" dirty="0"/>
              <a:t> sobre o processo produtivo da pizza.</a:t>
            </a:r>
            <a:br>
              <a:rPr lang="pt-BR" sz="2000" dirty="0"/>
            </a:b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Agora vamos dar o próximo passo: </a:t>
            </a:r>
            <a:r>
              <a:rPr lang="pt-BR" sz="2000" b="1" dirty="0"/>
              <a:t>transformar isso em dinheiro</a:t>
            </a:r>
            <a:r>
              <a:rPr lang="pt-BR" sz="2000" dirty="0"/>
              <a:t>.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53347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5D9136C-C7D2-61F3-BA36-7F9771C4D516}"/>
              </a:ext>
            </a:extLst>
          </p:cNvPr>
          <p:cNvSpPr txBox="1"/>
          <p:nvPr/>
        </p:nvSpPr>
        <p:spPr>
          <a:xfrm>
            <a:off x="683568" y="1340768"/>
            <a:ext cx="7560840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O que significa CUSTO no processo de produção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pt-BR" sz="2000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Custo = tudo aquilo que é gasto para produzir o produto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40947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E82B0D-2227-14C7-9EA9-F8020E69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74482"/>
            <a:ext cx="8263320" cy="55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5025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5B60540-9B42-D72D-23DB-79E677CC9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544484"/>
              </p:ext>
            </p:extLst>
          </p:nvPr>
        </p:nvGraphicFramePr>
        <p:xfrm>
          <a:off x="1691680" y="2204864"/>
          <a:ext cx="4735438" cy="15240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927126">
                  <a:extLst>
                    <a:ext uri="{9D8B030D-6E8A-4147-A177-3AD203B41FA5}">
                      <a16:colId xmlns:a16="http://schemas.microsoft.com/office/drawing/2014/main" val="38852402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916987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Tipo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Exemplo no caso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47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preço do queijo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73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custo do queijo por pizza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325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queijo é o item mais caro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8682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Decisão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negociar fornecedor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67906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683568" y="1340768"/>
            <a:ext cx="756084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Qual a relação com Sistemas de Informação?</a:t>
            </a:r>
          </a:p>
        </p:txBody>
      </p:sp>
    </p:spTree>
    <p:extLst>
      <p:ext uri="{BB962C8B-B14F-4D97-AF65-F5344CB8AC3E}">
        <p14:creationId xmlns:p14="http://schemas.microsoft.com/office/powerpoint/2010/main" val="14117573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E78BD8-6391-8675-1E7A-627150C17A84}"/>
              </a:ext>
            </a:extLst>
          </p:cNvPr>
          <p:cNvSpPr txBox="1"/>
          <p:nvPr/>
        </p:nvSpPr>
        <p:spPr>
          <a:xfrm>
            <a:off x="1691680" y="1340768"/>
            <a:ext cx="4896544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dirty="0"/>
              <a:t>👉 </a:t>
            </a:r>
            <a:r>
              <a:rPr lang="pt-BR" sz="2000" b="1" dirty="0"/>
              <a:t>Preço de Venda = Custo + Lucro</a:t>
            </a:r>
            <a:endParaRPr lang="pt-BR" sz="2000" dirty="0"/>
          </a:p>
        </p:txBody>
      </p:sp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3F5BDA2-33AE-CBF9-9796-AF6B4D59F120}"/>
              </a:ext>
            </a:extLst>
          </p:cNvPr>
          <p:cNvSpPr/>
          <p:nvPr/>
        </p:nvSpPr>
        <p:spPr>
          <a:xfrm>
            <a:off x="3635896" y="2049826"/>
            <a:ext cx="1008112" cy="122413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5D726A-7BE8-2FAB-DD78-AD28D86F8565}"/>
              </a:ext>
            </a:extLst>
          </p:cNvPr>
          <p:cNvSpPr txBox="1"/>
          <p:nvPr/>
        </p:nvSpPr>
        <p:spPr>
          <a:xfrm>
            <a:off x="2005760" y="36163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Lucro = Preço de Venda – Custo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F74A2A-9DBD-C3F5-4A84-FFBDCF135828}"/>
              </a:ext>
            </a:extLst>
          </p:cNvPr>
          <p:cNvSpPr txBox="1"/>
          <p:nvPr/>
        </p:nvSpPr>
        <p:spPr>
          <a:xfrm>
            <a:off x="899592" y="4358829"/>
            <a:ext cx="6984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Se o mercado define o preço… onde está o nosso controle?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EDEE97E-1BBE-7B35-FE3C-31B62471654F}"/>
              </a:ext>
            </a:extLst>
          </p:cNvPr>
          <p:cNvSpPr txBox="1"/>
          <p:nvPr/>
        </p:nvSpPr>
        <p:spPr>
          <a:xfrm>
            <a:off x="2779592" y="5407011"/>
            <a:ext cx="2720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👉 </a:t>
            </a:r>
            <a:r>
              <a:rPr lang="pt-BR" sz="2800" b="1" dirty="0"/>
              <a:t>NO CUSTO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6467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/>
      <p:bldP spid="1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Vocês NÃO controlam o preço (mercado define).</a:t>
            </a:r>
            <a:br>
              <a:rPr lang="pt-BR" sz="2800" dirty="0"/>
            </a:br>
            <a:endParaRPr lang="pt-BR" sz="2800" dirty="0"/>
          </a:p>
          <a:p>
            <a:r>
              <a:rPr lang="pt-BR" sz="2800" dirty="0"/>
              <a:t>Vocês NÃO controlam o cliente.</a:t>
            </a:r>
          </a:p>
          <a:p>
            <a:br>
              <a:rPr lang="pt-BR" sz="2800" dirty="0"/>
            </a:br>
            <a:r>
              <a:rPr lang="pt-BR" sz="2800" dirty="0"/>
              <a:t>👉 Mas vocês controlam o custo.</a:t>
            </a:r>
          </a:p>
        </p:txBody>
      </p:sp>
    </p:spTree>
    <p:extLst>
      <p:ext uri="{BB962C8B-B14F-4D97-AF65-F5344CB8AC3E}">
        <p14:creationId xmlns:p14="http://schemas.microsoft.com/office/powerpoint/2010/main" val="348106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B2BB76-A263-A436-5780-A15EB13A852F}"/>
              </a:ext>
            </a:extLst>
          </p:cNvPr>
          <p:cNvSpPr txBox="1"/>
          <p:nvPr/>
        </p:nvSpPr>
        <p:spPr>
          <a:xfrm>
            <a:off x="452004" y="2051034"/>
            <a:ext cx="74888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✅ Custos Diretos</a:t>
            </a:r>
          </a:p>
          <a:p>
            <a:pPr>
              <a:buNone/>
            </a:pPr>
            <a:r>
              <a:rPr lang="pt-BR" dirty="0"/>
              <a:t>São os custos que podem ser </a:t>
            </a:r>
            <a:r>
              <a:rPr lang="pt-BR" b="1" dirty="0"/>
              <a:t>identificados e medidos diretamente no produto</a:t>
            </a:r>
            <a:r>
              <a:rPr lang="pt-BR" dirty="0"/>
              <a:t>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B4895A4-FEE3-4DB2-3EFF-12A4AD77AA80}"/>
              </a:ext>
            </a:extLst>
          </p:cNvPr>
          <p:cNvSpPr txBox="1"/>
          <p:nvPr/>
        </p:nvSpPr>
        <p:spPr>
          <a:xfrm>
            <a:off x="452004" y="3561640"/>
            <a:ext cx="76431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⚙️ Custos Indiretos</a:t>
            </a:r>
          </a:p>
          <a:p>
            <a:pPr>
              <a:buNone/>
            </a:pPr>
            <a:r>
              <a:rPr lang="pt-BR" dirty="0"/>
              <a:t>São os custos necessários para produzir, mas que </a:t>
            </a:r>
            <a:r>
              <a:rPr lang="pt-BR" b="1" dirty="0"/>
              <a:t>não podem ser atribuídos diretamente a uma unidade do produto</a:t>
            </a:r>
            <a:r>
              <a:rPr lang="pt-BR" dirty="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BE6768-3ADA-C2FC-A75E-889E4D707C58}"/>
              </a:ext>
            </a:extLst>
          </p:cNvPr>
          <p:cNvSpPr txBox="1"/>
          <p:nvPr/>
        </p:nvSpPr>
        <p:spPr>
          <a:xfrm>
            <a:off x="452004" y="2574254"/>
            <a:ext cx="74323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Farinha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Queijo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A0AD45E-F4A3-7375-E9E8-134FFACC6C87}"/>
              </a:ext>
            </a:extLst>
          </p:cNvPr>
          <p:cNvSpPr txBox="1"/>
          <p:nvPr/>
        </p:nvSpPr>
        <p:spPr>
          <a:xfrm>
            <a:off x="452004" y="441968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📌 No caso da pizzaria: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/ lenha do forno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 do pizzaiolo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Manutenção</a:t>
            </a:r>
          </a:p>
        </p:txBody>
      </p:sp>
    </p:spTree>
    <p:extLst>
      <p:ext uri="{BB962C8B-B14F-4D97-AF65-F5344CB8AC3E}">
        <p14:creationId xmlns:p14="http://schemas.microsoft.com/office/powerpoint/2010/main" val="35678688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08B373-5A70-C6CD-8030-592FF17DA28E}"/>
              </a:ext>
            </a:extLst>
          </p:cNvPr>
          <p:cNvSpPr txBox="1"/>
          <p:nvPr/>
        </p:nvSpPr>
        <p:spPr>
          <a:xfrm>
            <a:off x="323528" y="1268760"/>
            <a:ext cx="8280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Custo Total do Produto = Custo Direto + Custo Indireto (rateado)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873B6F-A126-0D27-6AF6-8853F8BAD68B}"/>
              </a:ext>
            </a:extLst>
          </p:cNvPr>
          <p:cNvSpPr txBox="1"/>
          <p:nvPr/>
        </p:nvSpPr>
        <p:spPr>
          <a:xfrm>
            <a:off x="323528" y="1848082"/>
            <a:ext cx="799288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🔵 Custos Fixos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São os custos que </a:t>
            </a:r>
            <a:r>
              <a:rPr lang="pt-BR" b="1" dirty="0"/>
              <a:t>não variam com a quantidade produzida</a:t>
            </a:r>
            <a:r>
              <a:rPr lang="pt-BR" dirty="0"/>
              <a:t> (no curto prazo).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fixos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Internet </a:t>
            </a:r>
          </a:p>
          <a:p>
            <a:pPr>
              <a:spcAft>
                <a:spcPts val="1200"/>
              </a:spcAft>
              <a:buNone/>
            </a:pPr>
            <a:r>
              <a:rPr lang="pt-BR" dirty="0"/>
              <a:t>👉 Produzindo 10 ou 100 pizzas → continuam os mesmos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218425-F2B5-79FA-5B58-7D10AF86451C}"/>
              </a:ext>
            </a:extLst>
          </p:cNvPr>
          <p:cNvSpPr txBox="1"/>
          <p:nvPr/>
        </p:nvSpPr>
        <p:spPr>
          <a:xfrm>
            <a:off x="323528" y="4293096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🔴 Custos Variáveis</a:t>
            </a:r>
          </a:p>
          <a:p>
            <a:pPr>
              <a:buNone/>
            </a:pPr>
            <a:r>
              <a:rPr lang="pt-BR" dirty="0"/>
              <a:t>São os custos que </a:t>
            </a:r>
            <a:r>
              <a:rPr lang="pt-BR" b="1" dirty="0"/>
              <a:t>variam conforme a produção</a:t>
            </a:r>
            <a:r>
              <a:rPr lang="pt-BR" dirty="0"/>
              <a:t>.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📌 Exemplos: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Embalagens </a:t>
            </a:r>
          </a:p>
          <a:p>
            <a:pPr>
              <a:buNone/>
            </a:pPr>
            <a:r>
              <a:rPr lang="pt-BR" dirty="0"/>
              <a:t>👉 Quanto mais produz → maior o custo</a:t>
            </a:r>
          </a:p>
        </p:txBody>
      </p:sp>
    </p:spTree>
    <p:extLst>
      <p:ext uri="{BB962C8B-B14F-4D97-AF65-F5344CB8AC3E}">
        <p14:creationId xmlns:p14="http://schemas.microsoft.com/office/powerpoint/2010/main" val="12390696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C334286-251A-419B-4906-3D6FEBF6E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99315"/>
              </p:ext>
            </p:extLst>
          </p:nvPr>
        </p:nvGraphicFramePr>
        <p:xfrm>
          <a:off x="971600" y="1340768"/>
          <a:ext cx="6851104" cy="9144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10672">
                  <a:extLst>
                    <a:ext uri="{9D8B030D-6E8A-4147-A177-3AD203B41FA5}">
                      <a16:colId xmlns:a16="http://schemas.microsoft.com/office/drawing/2014/main" val="4061670112"/>
                    </a:ext>
                  </a:extLst>
                </a:gridCol>
                <a:gridCol w="4840432">
                  <a:extLst>
                    <a:ext uri="{9D8B030D-6E8A-4147-A177-3AD203B41FA5}">
                      <a16:colId xmlns:a16="http://schemas.microsoft.com/office/drawing/2014/main" val="597420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Tipo de Custo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ser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658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Geralmente variável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01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Indireto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Geralmente fixo (mas pode ser variável também)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32036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941D5B6E-EFDC-0068-FFB8-97A098E861B9}"/>
              </a:ext>
            </a:extLst>
          </p:cNvPr>
          <p:cNvSpPr txBox="1"/>
          <p:nvPr/>
        </p:nvSpPr>
        <p:spPr>
          <a:xfrm>
            <a:off x="539552" y="2564904"/>
            <a:ext cx="4572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Estrutura do custo total:</a:t>
            </a:r>
          </a:p>
          <a:p>
            <a:pPr>
              <a:spcBef>
                <a:spcPts val="1200"/>
              </a:spcBef>
              <a:buNone/>
            </a:pPr>
            <a:r>
              <a:rPr lang="pt-BR" b="1" dirty="0"/>
              <a:t>Custo Total = Custos Diretos + Custos Indiretos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0A6674-6989-8B0E-FB32-78A341965EAB}"/>
              </a:ext>
            </a:extLst>
          </p:cNvPr>
          <p:cNvSpPr txBox="1"/>
          <p:nvPr/>
        </p:nvSpPr>
        <p:spPr>
          <a:xfrm>
            <a:off x="611560" y="3606909"/>
            <a:ext cx="457200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🍕 Aplicando na pizza: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Diretos (por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Ingredientes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b="1" dirty="0"/>
              <a:t>✔️ Custos Indiretos (rateados por pizza)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Aluguel ÷ nº de pizzas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Salários ÷ produção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Energia ÷ uso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873C56A-9AB8-7DE6-DFA7-6141CEBDC964}"/>
              </a:ext>
            </a:extLst>
          </p:cNvPr>
          <p:cNvSpPr txBox="1"/>
          <p:nvPr/>
        </p:nvSpPr>
        <p:spPr>
          <a:xfrm>
            <a:off x="5004048" y="4134125"/>
            <a:ext cx="3384376" cy="7386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O cliente paga pela pizza inteira, mas o gestor precisa entender cada pedaço do custo.</a:t>
            </a:r>
          </a:p>
        </p:txBody>
      </p:sp>
    </p:spTree>
    <p:extLst>
      <p:ext uri="{BB962C8B-B14F-4D97-AF65-F5344CB8AC3E}">
        <p14:creationId xmlns:p14="http://schemas.microsoft.com/office/powerpoint/2010/main" val="356916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A8F2D79-2BFF-E2CD-51CB-AE7265629713}"/>
              </a:ext>
            </a:extLst>
          </p:cNvPr>
          <p:cNvSpPr txBox="1"/>
          <p:nvPr/>
        </p:nvSpPr>
        <p:spPr>
          <a:xfrm>
            <a:off x="755576" y="1657148"/>
            <a:ext cx="777686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1. Margem de Contribuição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dirty="0"/>
              <a:t>💡 Conceito simples para sala:</a:t>
            </a:r>
          </a:p>
          <a:p>
            <a:pPr>
              <a:buNone/>
            </a:pPr>
            <a:r>
              <a:rPr lang="pt-BR" dirty="0"/>
              <a:t>É quanto sobra da venda depois de pagar os custos variáveis (diretos).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Margem de Contribuição = Preço de Venda – Custos Variáveis</a:t>
            </a:r>
            <a:r>
              <a:rPr lang="pt-BR" dirty="0"/>
              <a:t>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👉 No caso da pizza:</a:t>
            </a:r>
          </a:p>
          <a:p>
            <a:pPr>
              <a:buNone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Preço: R$ 35,00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diretos (variáveis): (</a:t>
            </a:r>
            <a:r>
              <a:rPr lang="pt-BR" dirty="0" err="1"/>
              <a:t>ex</a:t>
            </a:r>
            <a:r>
              <a:rPr lang="pt-BR" dirty="0"/>
              <a:t>: R$ 18,00) </a:t>
            </a:r>
          </a:p>
          <a:p>
            <a:endParaRPr lang="pt-BR" dirty="0"/>
          </a:p>
          <a:p>
            <a:pPr>
              <a:buNone/>
            </a:pPr>
            <a:r>
              <a:rPr lang="pt-BR" dirty="0"/>
              <a:t>➡️ Margem = R$ 17,00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Cada pizza vendida contribui com R$ 17 para pagar os custos fixos e gerar lucro.</a:t>
            </a:r>
          </a:p>
        </p:txBody>
      </p:sp>
    </p:spTree>
    <p:extLst>
      <p:ext uri="{BB962C8B-B14F-4D97-AF65-F5344CB8AC3E}">
        <p14:creationId xmlns:p14="http://schemas.microsoft.com/office/powerpoint/2010/main" val="260403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DA534C-19FB-3F88-D035-9B413228D41D}"/>
              </a:ext>
            </a:extLst>
          </p:cNvPr>
          <p:cNvSpPr txBox="1"/>
          <p:nvPr/>
        </p:nvSpPr>
        <p:spPr>
          <a:xfrm>
            <a:off x="457200" y="1484784"/>
            <a:ext cx="8075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📌 2. Ponto de Equilíbrio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💡 Conceito: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Quantas pizzas preciso vender para não ter prejuízo.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📊 Fórmula:</a:t>
            </a:r>
          </a:p>
          <a:p>
            <a:endParaRPr lang="pt-BR" b="1" dirty="0"/>
          </a:p>
          <a:p>
            <a:r>
              <a:rPr lang="pt-BR" b="1" dirty="0"/>
              <a:t>Ponto de Equilíbrio = Custos Fixos / Margem de Contribuição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📊 Exemplo:</a:t>
            </a:r>
          </a:p>
          <a:p>
            <a:pPr>
              <a:buNone/>
            </a:pPr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Custos fixos: R$ 1.700/mês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Margem: R$ 17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>
              <a:buNone/>
            </a:pPr>
            <a:r>
              <a:rPr lang="pt-BR" dirty="0"/>
              <a:t>➡️ PE = 1.700 / 17 = </a:t>
            </a:r>
            <a:r>
              <a:rPr lang="pt-BR" b="1" dirty="0"/>
              <a:t>100 pizzas</a:t>
            </a:r>
            <a:endParaRPr lang="pt-BR" dirty="0"/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🎯 Interpretação: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A partir da pizza 101, começa o lucro.</a:t>
            </a:r>
          </a:p>
        </p:txBody>
      </p:sp>
    </p:spTree>
    <p:extLst>
      <p:ext uri="{BB962C8B-B14F-4D97-AF65-F5344CB8AC3E}">
        <p14:creationId xmlns:p14="http://schemas.microsoft.com/office/powerpoint/2010/main" val="22110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E9869-1BF0-D113-3EB5-7A854973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5A046D-D426-97CB-12E6-55A6463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B50E14-9D63-1CB4-80E8-9AC923BB3812}"/>
              </a:ext>
            </a:extLst>
          </p:cNvPr>
          <p:cNvSpPr txBox="1"/>
          <p:nvPr/>
        </p:nvSpPr>
        <p:spPr>
          <a:xfrm>
            <a:off x="457200" y="90872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Nível Gerencial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5FA0289-25A7-CA3F-DB7C-39B124DFCA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470756"/>
              </p:ext>
            </p:extLst>
          </p:nvPr>
        </p:nvGraphicFramePr>
        <p:xfrm>
          <a:off x="611560" y="1370385"/>
          <a:ext cx="7667625" cy="370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496ABBF2-F32C-3118-100F-F0E631E3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5373216"/>
            <a:ext cx="847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783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539552" y="1340768"/>
            <a:ext cx="3240360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Gestão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Sistemas de 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Dado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Informação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Conhecimento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Tomada de Decisão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1CDB51-52CD-1506-579B-DAF9F07F635B}"/>
              </a:ext>
            </a:extLst>
          </p:cNvPr>
          <p:cNvSpPr txBox="1"/>
          <p:nvPr/>
        </p:nvSpPr>
        <p:spPr>
          <a:xfrm>
            <a:off x="4716016" y="1340768"/>
            <a:ext cx="3456384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Teoria dos Gargalos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Princípio de Pareto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Classificação ABC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pt-BR" sz="2000" b="1" dirty="0"/>
              <a:t>Custos (Análise Gerencial)</a:t>
            </a:r>
          </a:p>
        </p:txBody>
      </p:sp>
    </p:spTree>
    <p:extLst>
      <p:ext uri="{BB962C8B-B14F-4D97-AF65-F5344CB8AC3E}">
        <p14:creationId xmlns:p14="http://schemas.microsoft.com/office/powerpoint/2010/main" val="27610622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539552" y="1340768"/>
            <a:ext cx="7488832" cy="3847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2000" b="1" dirty="0"/>
              <a:t>Cenário 1 – Aumento de 20% no custo do queijo</a:t>
            </a:r>
          </a:p>
          <a:p>
            <a:pPr lvl="0"/>
            <a:r>
              <a:rPr lang="pt-BR" dirty="0"/>
              <a:t>O ponto de equilíbrio aumentou ou diminuiu? </a:t>
            </a:r>
          </a:p>
          <a:p>
            <a:pPr lvl="0"/>
            <a:r>
              <a:rPr lang="pt-BR" dirty="0"/>
              <a:t>O negócio ficou mais ou menos arriscado? </a:t>
            </a:r>
          </a:p>
          <a:p>
            <a:endParaRPr lang="pt-BR" sz="2000" b="1" dirty="0"/>
          </a:p>
          <a:p>
            <a:endParaRPr lang="pt-BR" sz="2000" b="1" dirty="0"/>
          </a:p>
          <a:p>
            <a:r>
              <a:rPr lang="pt-BR" sz="2000" b="1" dirty="0"/>
              <a:t>Cenário 2 – Aumento do preço para R$ 58,00</a:t>
            </a:r>
          </a:p>
          <a:p>
            <a:pPr lvl="0"/>
            <a:r>
              <a:rPr lang="pt-BR" dirty="0"/>
              <a:t>O ponto de equilíbrio mudou? </a:t>
            </a:r>
          </a:p>
          <a:p>
            <a:pPr lvl="0"/>
            <a:r>
              <a:rPr lang="pt-BR" dirty="0"/>
              <a:t>Qual o impacto no risco do negócio? </a:t>
            </a:r>
          </a:p>
          <a:p>
            <a:endParaRPr lang="pt-BR" sz="2000" b="1" dirty="0"/>
          </a:p>
          <a:p>
            <a:r>
              <a:rPr lang="pt-BR" sz="2000" b="1" dirty="0"/>
              <a:t>Cenário 3 – Produção acima do ponto de equilíbrio</a:t>
            </a:r>
          </a:p>
          <a:p>
            <a:pPr lvl="0"/>
            <a:r>
              <a:rPr lang="pt-BR" dirty="0"/>
              <a:t>O aumento da produção impactou o lucro? </a:t>
            </a:r>
          </a:p>
          <a:p>
            <a:pPr lvl="0"/>
            <a:r>
              <a:rPr lang="pt-BR" dirty="0"/>
              <a:t>Por quê? </a:t>
            </a:r>
          </a:p>
          <a:p>
            <a:endParaRPr lang="pt-BR" sz="2000" b="1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866971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0F8BCD2-471A-DDC1-E982-5FFE2566EECB}"/>
              </a:ext>
            </a:extLst>
          </p:cNvPr>
          <p:cNvSpPr txBox="1"/>
          <p:nvPr/>
        </p:nvSpPr>
        <p:spPr>
          <a:xfrm>
            <a:off x="143508" y="1340768"/>
            <a:ext cx="8856984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800" dirty="0"/>
              <a:t>1) Qual é o significado do ponto de equilíbrio para o negócio? </a:t>
            </a:r>
          </a:p>
          <a:p>
            <a:pPr lvl="0">
              <a:lnSpc>
                <a:spcPct val="150000"/>
              </a:lnSpc>
            </a:pPr>
            <a:r>
              <a:rPr lang="pt-BR" sz="1800" dirty="0"/>
              <a:t>2) O gestor deve operar exatamente no ponto de equilíbrio? Por quê? </a:t>
            </a:r>
          </a:p>
          <a:p>
            <a:pPr>
              <a:spcBef>
                <a:spcPts val="1200"/>
              </a:spcBef>
            </a:pPr>
            <a:r>
              <a:rPr lang="pt-BR" sz="1800" dirty="0"/>
              <a:t>3) Qual estratégia você adotaria para aumentar o lucro sem comprometer o negócio?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5875250-BB90-2971-3561-C7EB0B93B840}"/>
              </a:ext>
            </a:extLst>
          </p:cNvPr>
          <p:cNvSpPr txBox="1"/>
          <p:nvPr/>
        </p:nvSpPr>
        <p:spPr>
          <a:xfrm>
            <a:off x="175604" y="3343057"/>
            <a:ext cx="882488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Simulação de Desempenho Mensal e Análise Gráfica</a:t>
            </a:r>
          </a:p>
          <a:p>
            <a:endParaRPr lang="pt-BR" sz="18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000" dirty="0"/>
              <a:t>Em que dia do mês a pizzaria começa a lucrar?</a:t>
            </a:r>
          </a:p>
        </p:txBody>
      </p:sp>
    </p:spTree>
    <p:extLst>
      <p:ext uri="{BB962C8B-B14F-4D97-AF65-F5344CB8AC3E}">
        <p14:creationId xmlns:p14="http://schemas.microsoft.com/office/powerpoint/2010/main" val="25932450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95E61-4E90-5087-BD2A-F4A5351E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FCFD793-6AAB-0EA8-FE2E-117E6B9D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3682752" cy="418058"/>
          </a:xfrm>
          <a:prstGeom prst="rect">
            <a:avLst/>
          </a:prstGeom>
        </p:spPr>
        <p:txBody>
          <a:bodyPr/>
          <a:lstStyle/>
          <a:p>
            <a:r>
              <a:rPr lang="pt-BR" sz="2400" dirty="0"/>
              <a:t>Fundamentos Teóricos</a:t>
            </a:r>
            <a:br>
              <a:rPr lang="pt-BR" sz="2400" dirty="0"/>
            </a:b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3CFCAD-BE4E-E8A6-7C09-8027A661374B}"/>
              </a:ext>
            </a:extLst>
          </p:cNvPr>
          <p:cNvSpPr txBox="1"/>
          <p:nvPr/>
        </p:nvSpPr>
        <p:spPr>
          <a:xfrm>
            <a:off x="611560" y="1556792"/>
            <a:ext cx="79208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Na aula passada, vocês calcularam custos e analisaram dados.</a:t>
            </a:r>
          </a:p>
          <a:p>
            <a:br>
              <a:rPr lang="pt-BR" sz="2800" dirty="0"/>
            </a:br>
            <a:r>
              <a:rPr lang="pt-BR" sz="2800" dirty="0"/>
              <a:t>Mas um gestor não é pago para calcular…</a:t>
            </a:r>
            <a:br>
              <a:rPr lang="pt-BR" sz="2800" dirty="0"/>
            </a:br>
            <a:r>
              <a:rPr lang="pt-BR" sz="2800" dirty="0"/>
              <a:t>Ele é pago para </a:t>
            </a:r>
            <a:r>
              <a:rPr lang="pt-BR" sz="2800" b="1" dirty="0"/>
              <a:t>decidir</a:t>
            </a:r>
            <a:r>
              <a:rPr lang="pt-BR" sz="2800" dirty="0"/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90C548-00E8-4392-2FEB-5F9704B148C5}"/>
              </a:ext>
            </a:extLst>
          </p:cNvPr>
          <p:cNvSpPr txBox="1"/>
          <p:nvPr/>
        </p:nvSpPr>
        <p:spPr>
          <a:xfrm>
            <a:off x="611560" y="4676493"/>
            <a:ext cx="7560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Com base nos dados que vocês levantaram… o que vocês fariam?</a:t>
            </a:r>
          </a:p>
        </p:txBody>
      </p:sp>
    </p:spTree>
    <p:extLst>
      <p:ext uri="{BB962C8B-B14F-4D97-AF65-F5344CB8AC3E}">
        <p14:creationId xmlns:p14="http://schemas.microsoft.com/office/powerpoint/2010/main" val="374644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814" y="1752408"/>
            <a:ext cx="5268191" cy="453628"/>
          </a:xfrm>
        </p:spPr>
        <p:txBody>
          <a:bodyPr/>
          <a:lstStyle/>
          <a:p>
            <a:pPr algn="l"/>
            <a:r>
              <a:rPr lang="pt-BR" dirty="0"/>
              <a:t>O que é o 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8556" y="2302044"/>
            <a:ext cx="2982932" cy="28633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O processo de decisão faz parte do nosso dia a dia, desde a roupa a ser vestida até a resolução de se iniciar um projeto, uma decisão pode variar de corriqueira a inédita, de trivial a decisiva e de maquinal a planejada.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328" y="152981"/>
            <a:ext cx="4048125" cy="374650"/>
          </a:xfrm>
        </p:spPr>
        <p:txBody>
          <a:bodyPr/>
          <a:lstStyle/>
          <a:p>
            <a:r>
              <a:rPr lang="pt-BR" sz="2800" b="1" dirty="0">
                <a:solidFill>
                  <a:schemeClr val="tx1"/>
                </a:solidFill>
              </a:rPr>
              <a:t> Processo decisório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19207F-8ACE-C232-0DE4-07862D0E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98" y="2797443"/>
            <a:ext cx="1793081" cy="129301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D48C139-ECC1-D0C8-8007-88F2CF108C3B}"/>
              </a:ext>
            </a:extLst>
          </p:cNvPr>
          <p:cNvSpPr txBox="1"/>
          <p:nvPr/>
        </p:nvSpPr>
        <p:spPr>
          <a:xfrm>
            <a:off x="6214252" y="2347095"/>
            <a:ext cx="11817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roupa vestir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EE262E-2CD5-29DB-1F9D-67B1F9BF5F56}"/>
              </a:ext>
            </a:extLst>
          </p:cNvPr>
          <p:cNvSpPr txBox="1"/>
          <p:nvPr/>
        </p:nvSpPr>
        <p:spPr>
          <a:xfrm>
            <a:off x="6558748" y="2801610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Onde devo investir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64DBD34-F4F3-0110-80DA-22D7C2956213}"/>
              </a:ext>
            </a:extLst>
          </p:cNvPr>
          <p:cNvSpPr txBox="1"/>
          <p:nvPr/>
        </p:nvSpPr>
        <p:spPr>
          <a:xfrm>
            <a:off x="6431486" y="3338938"/>
            <a:ext cx="13628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solução adotar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923A78-CF69-EEFF-A4A2-82098FB91A01}"/>
              </a:ext>
            </a:extLst>
          </p:cNvPr>
          <p:cNvSpPr txBox="1"/>
          <p:nvPr/>
        </p:nvSpPr>
        <p:spPr>
          <a:xfrm>
            <a:off x="6136406" y="3775535"/>
            <a:ext cx="18133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Que algoritmo implementar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DAE0F2D-9379-329C-6BC6-7EA4301F136B}"/>
              </a:ext>
            </a:extLst>
          </p:cNvPr>
          <p:cNvSpPr txBox="1"/>
          <p:nvPr/>
        </p:nvSpPr>
        <p:spPr>
          <a:xfrm>
            <a:off x="3956158" y="4458116"/>
            <a:ext cx="31197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corriqueiras ou de diferentes naturezas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37B157-A89A-668D-877E-C1E112C5335D}"/>
              </a:ext>
            </a:extLst>
          </p:cNvPr>
          <p:cNvSpPr txBox="1"/>
          <p:nvPr/>
        </p:nvSpPr>
        <p:spPr>
          <a:xfrm>
            <a:off x="4131771" y="2429787"/>
            <a:ext cx="1590500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Decidir é algo cotidiano</a:t>
            </a:r>
          </a:p>
        </p:txBody>
      </p:sp>
    </p:spTree>
    <p:extLst>
      <p:ext uri="{BB962C8B-B14F-4D97-AF65-F5344CB8AC3E}">
        <p14:creationId xmlns:p14="http://schemas.microsoft.com/office/powerpoint/2010/main" val="78688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  <p:bldP spid="11" grpId="0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4909" y="1717682"/>
            <a:ext cx="5268191" cy="453628"/>
          </a:xfrm>
        </p:spPr>
        <p:txBody>
          <a:bodyPr/>
          <a:lstStyle/>
          <a:p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57101" y="2242010"/>
            <a:ext cx="3285168" cy="256035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Via de regra, nossa </a:t>
            </a:r>
            <a:r>
              <a:rPr lang="pt-BR" b="1" dirty="0"/>
              <a:t>capacidade de tomar decisões</a:t>
            </a:r>
            <a:r>
              <a:rPr lang="pt-BR" dirty="0"/>
              <a:t> acertadas determinará o sucesso dos nossos empreendimentos em qualquer área, mesmo quando considerada a inevitável intervenção do acaso. 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553A7E-1BB0-D101-EA57-5166C8B1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21" y="2652066"/>
            <a:ext cx="2766289" cy="174024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EF02C0A-6BCE-1BE7-FD7A-7884B2A10DF2}"/>
              </a:ext>
            </a:extLst>
          </p:cNvPr>
          <p:cNvSpPr txBox="1"/>
          <p:nvPr/>
        </p:nvSpPr>
        <p:spPr>
          <a:xfrm>
            <a:off x="3436564" y="2955397"/>
            <a:ext cx="15808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com exatidão</a:t>
            </a:r>
          </a:p>
          <a:p>
            <a:r>
              <a:rPr lang="pt-BR" sz="1050" dirty="0"/>
              <a:t>e precisa</a:t>
            </a:r>
          </a:p>
        </p:txBody>
      </p:sp>
      <p:sp>
        <p:nvSpPr>
          <p:cNvPr id="8" name="Seta: em Forma de U 7">
            <a:extLst>
              <a:ext uri="{FF2B5EF4-FFF2-40B4-BE49-F238E27FC236}">
                <a16:creationId xmlns:a16="http://schemas.microsoft.com/office/drawing/2014/main" id="{FBEEDFBB-8BC2-499D-06C3-AA66698B61D9}"/>
              </a:ext>
            </a:extLst>
          </p:cNvPr>
          <p:cNvSpPr/>
          <p:nvPr/>
        </p:nvSpPr>
        <p:spPr>
          <a:xfrm flipH="1">
            <a:off x="3026499" y="2759810"/>
            <a:ext cx="820132" cy="2263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tx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EA610B-848F-27A5-AFF0-7132966C0A53}"/>
              </a:ext>
            </a:extLst>
          </p:cNvPr>
          <p:cNvSpPr txBox="1"/>
          <p:nvPr/>
        </p:nvSpPr>
        <p:spPr>
          <a:xfrm>
            <a:off x="425929" y="4500056"/>
            <a:ext cx="242887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Decisões sem exatidão</a:t>
            </a:r>
          </a:p>
          <a:p>
            <a:r>
              <a:rPr lang="pt-BR" sz="1050" dirty="0"/>
              <a:t>e não ajustadas a realidade dos fatos</a:t>
            </a:r>
          </a:p>
        </p:txBody>
      </p:sp>
      <p:sp>
        <p:nvSpPr>
          <p:cNvPr id="10" name="Seta: em Forma de U 9">
            <a:extLst>
              <a:ext uri="{FF2B5EF4-FFF2-40B4-BE49-F238E27FC236}">
                <a16:creationId xmlns:a16="http://schemas.microsoft.com/office/drawing/2014/main" id="{6AF892A5-A2A0-F682-8E07-BE8B5AD2E044}"/>
              </a:ext>
            </a:extLst>
          </p:cNvPr>
          <p:cNvSpPr/>
          <p:nvPr/>
        </p:nvSpPr>
        <p:spPr>
          <a:xfrm rot="5400000" flipH="1">
            <a:off x="2856272" y="4349831"/>
            <a:ext cx="820132" cy="2263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50">
              <a:solidFill>
                <a:schemeClr val="tx1"/>
              </a:solidFill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DAD36F8-8A82-DD51-7475-8EA7C912BF5E}"/>
              </a:ext>
            </a:extLst>
          </p:cNvPr>
          <p:cNvCxnSpPr>
            <a:cxnSpLocks/>
          </p:cNvCxnSpPr>
          <p:nvPr/>
        </p:nvCxnSpPr>
        <p:spPr>
          <a:xfrm>
            <a:off x="1914235" y="5042934"/>
            <a:ext cx="304373" cy="19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8EB3B1-5F01-BD55-E34C-BECB79FD8216}"/>
              </a:ext>
            </a:extLst>
          </p:cNvPr>
          <p:cNvSpPr txBox="1"/>
          <p:nvPr/>
        </p:nvSpPr>
        <p:spPr>
          <a:xfrm>
            <a:off x="2293199" y="5238522"/>
            <a:ext cx="957313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Mais baratas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2605F77-4AF6-F0A0-481D-95F8F05174A0}"/>
              </a:ext>
            </a:extLst>
          </p:cNvPr>
          <p:cNvCxnSpPr>
            <a:cxnSpLocks/>
          </p:cNvCxnSpPr>
          <p:nvPr/>
        </p:nvCxnSpPr>
        <p:spPr>
          <a:xfrm>
            <a:off x="3761686" y="3452939"/>
            <a:ext cx="304373" cy="19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0EAC601-49E2-48F2-CA40-C7DB594E2CFF}"/>
              </a:ext>
            </a:extLst>
          </p:cNvPr>
          <p:cNvSpPr txBox="1"/>
          <p:nvPr/>
        </p:nvSpPr>
        <p:spPr>
          <a:xfrm>
            <a:off x="4140650" y="3648527"/>
            <a:ext cx="837089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Mais caras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4AB5E58-CF30-2C6C-E620-015B05962E40}"/>
              </a:ext>
            </a:extLst>
          </p:cNvPr>
          <p:cNvCxnSpPr/>
          <p:nvPr/>
        </p:nvCxnSpPr>
        <p:spPr>
          <a:xfrm>
            <a:off x="4516066" y="4052937"/>
            <a:ext cx="255351" cy="989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BBF3364-4CE7-F519-D96A-99F029F187F0}"/>
              </a:ext>
            </a:extLst>
          </p:cNvPr>
          <p:cNvCxnSpPr/>
          <p:nvPr/>
        </p:nvCxnSpPr>
        <p:spPr>
          <a:xfrm flipV="1">
            <a:off x="3418332" y="5170345"/>
            <a:ext cx="1353085" cy="24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9D14842-1A0C-8B6D-96DE-DBB8368BF977}"/>
              </a:ext>
            </a:extLst>
          </p:cNvPr>
          <p:cNvSpPr txBox="1"/>
          <p:nvPr/>
        </p:nvSpPr>
        <p:spPr>
          <a:xfrm>
            <a:off x="4771417" y="5001819"/>
            <a:ext cx="2871299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Produzir conhecimento para tomar a decisão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E731DD84-80E5-19C1-F3C3-86BAA59818B3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136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3" grpId="0" animBg="1"/>
      <p:bldP spid="17" grpId="0" animBg="1"/>
      <p:bldP spid="2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450" y="1646245"/>
            <a:ext cx="5268191" cy="414762"/>
          </a:xfrm>
        </p:spPr>
        <p:txBody>
          <a:bodyPr/>
          <a:lstStyle/>
          <a:p>
            <a:pPr algn="l"/>
            <a:r>
              <a:rPr lang="pt-BR" dirty="0"/>
              <a:t>Processo decisório nas Organizações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4591" y="2033774"/>
            <a:ext cx="2709473" cy="33916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sz="1200" u="sng" dirty="0"/>
              <a:t>No meio corporativo, a importância de uma decisão assume uma dimensão ainda maior</a:t>
            </a:r>
            <a:r>
              <a:rPr lang="pt-BR" sz="1200" dirty="0"/>
              <a:t>, posto que suas consequências — boas ou ruins — serão sentidas no </a:t>
            </a:r>
            <a:r>
              <a:rPr lang="pt-BR" sz="1200" b="1" dirty="0"/>
              <a:t>desempenho geral da organização</a:t>
            </a:r>
            <a:r>
              <a:rPr lang="pt-BR" sz="1200" dirty="0"/>
              <a:t>, influenciarão os objetivos do grupo e a percepção de sucesso que colaboradores e clientes intuirão em relação àquela organização.</a:t>
            </a:r>
            <a:endParaRPr lang="pt-BR" sz="1200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A0A864-4D05-D7EC-280E-3047E000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50" y="2207934"/>
            <a:ext cx="1935956" cy="11715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D81903D-69D5-A093-1141-DFDFD6866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0" y="3729590"/>
            <a:ext cx="2021681" cy="135016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AB7F6FD-123C-A7F6-2907-3F157E0D10F7}"/>
              </a:ext>
            </a:extLst>
          </p:cNvPr>
          <p:cNvSpPr txBox="1"/>
          <p:nvPr/>
        </p:nvSpPr>
        <p:spPr>
          <a:xfrm>
            <a:off x="2200505" y="2515733"/>
            <a:ext cx="113845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/>
              <a:t>Decisões certa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AFA4E4-A090-9132-E3BB-36940820A076}"/>
              </a:ext>
            </a:extLst>
          </p:cNvPr>
          <p:cNvSpPr txBox="1"/>
          <p:nvPr/>
        </p:nvSpPr>
        <p:spPr>
          <a:xfrm>
            <a:off x="2200504" y="4055267"/>
            <a:ext cx="13035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/>
              <a:t>Decisões erradas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A146E58-8DA7-6497-E412-801015AABB45}"/>
              </a:ext>
            </a:extLst>
          </p:cNvPr>
          <p:cNvSpPr txBox="1"/>
          <p:nvPr/>
        </p:nvSpPr>
        <p:spPr>
          <a:xfrm rot="2823403">
            <a:off x="2636516" y="2943665"/>
            <a:ext cx="346249" cy="1171575"/>
          </a:xfrm>
          <a:prstGeom prst="rect">
            <a:avLst/>
          </a:prstGeom>
          <a:solidFill>
            <a:srgbClr val="FFFF00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pt-BR" sz="1050" dirty="0"/>
              <a:t>Organizações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18BC7B1-691C-8986-587E-A76C872D2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881" y="4755958"/>
            <a:ext cx="1385888" cy="108585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38B648-BB7E-1D63-65F3-23C0E79F5E19}"/>
              </a:ext>
            </a:extLst>
          </p:cNvPr>
          <p:cNvSpPr txBox="1"/>
          <p:nvPr/>
        </p:nvSpPr>
        <p:spPr>
          <a:xfrm>
            <a:off x="2257067" y="4478959"/>
            <a:ext cx="910827" cy="25391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Patrão triste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39EBF73A-3E59-D6ED-A8C0-ADB33B1F9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4585" y="4753151"/>
            <a:ext cx="1270967" cy="109303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4526A88-581E-F7AA-71A8-078E41E16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2148" y="2500397"/>
            <a:ext cx="1121569" cy="1343025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20C85FA9-9F4B-3709-A845-333FE19282B5}"/>
              </a:ext>
            </a:extLst>
          </p:cNvPr>
          <p:cNvSpPr txBox="1"/>
          <p:nvPr/>
        </p:nvSpPr>
        <p:spPr>
          <a:xfrm>
            <a:off x="3534328" y="2223398"/>
            <a:ext cx="859531" cy="253916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Patrão feliz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78260E-99D3-55E2-8923-2B6AB3B81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297" y="2465219"/>
            <a:ext cx="1422353" cy="612043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575D11B-645E-7823-735E-CCE4681FEC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5438" y="3106333"/>
            <a:ext cx="1117411" cy="846240"/>
          </a:xfrm>
          <a:prstGeom prst="rect">
            <a:avLst/>
          </a:prstGeom>
        </p:spPr>
      </p:pic>
      <p:sp>
        <p:nvSpPr>
          <p:cNvPr id="4" name="Chave Esquerda 3">
            <a:extLst>
              <a:ext uri="{FF2B5EF4-FFF2-40B4-BE49-F238E27FC236}">
                <a16:creationId xmlns:a16="http://schemas.microsoft.com/office/drawing/2014/main" id="{2F59A355-F174-02A8-3482-2CFDDDA2253C}"/>
              </a:ext>
            </a:extLst>
          </p:cNvPr>
          <p:cNvSpPr/>
          <p:nvPr/>
        </p:nvSpPr>
        <p:spPr>
          <a:xfrm rot="10800000">
            <a:off x="6116011" y="2061007"/>
            <a:ext cx="148580" cy="1891566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1050"/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72A01293-326E-88A3-38E3-BA30522A0AB6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9" grpId="0" animBg="1"/>
      <p:bldP spid="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AEB8421-9943-11E6-387C-A948976160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57276" y="3127688"/>
            <a:ext cx="7029449" cy="453628"/>
          </a:xfrm>
        </p:spPr>
        <p:txBody>
          <a:bodyPr/>
          <a:lstStyle/>
          <a:p>
            <a:r>
              <a:rPr lang="pt-BR" sz="3600" dirty="0"/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7ECD14-B2A4-AF93-8679-0ED7F4A6699A}"/>
              </a:ext>
            </a:extLst>
          </p:cNvPr>
          <p:cNvSpPr txBox="1"/>
          <p:nvPr/>
        </p:nvSpPr>
        <p:spPr>
          <a:xfrm>
            <a:off x="1207868" y="1577884"/>
            <a:ext cx="6306014" cy="15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00" dirty="0">
                <a:latin typeface="Work Sans" pitchFamily="2" charset="0"/>
              </a:rPr>
              <a:t>A </a:t>
            </a:r>
            <a:r>
              <a:rPr lang="pt-BR" sz="1800" b="1" dirty="0">
                <a:latin typeface="Work Sans" pitchFamily="2" charset="0"/>
              </a:rPr>
              <a:t>tomada de decisão </a:t>
            </a:r>
            <a:r>
              <a:rPr lang="pt-BR" sz="1800" dirty="0">
                <a:latin typeface="Work Sans" pitchFamily="2" charset="0"/>
              </a:rPr>
              <a:t>é o processo de escolher um curso de ação entre várias alternativas para se defrontar com um problema ou oportunidade. </a:t>
            </a:r>
          </a:p>
          <a:p>
            <a:pPr algn="just">
              <a:lnSpc>
                <a:spcPct val="150000"/>
              </a:lnSpc>
            </a:pPr>
            <a:r>
              <a:rPr lang="pt-BR" sz="1050" b="1" i="1" dirty="0">
                <a:latin typeface="Work Sans" pitchFamily="2" charset="0"/>
              </a:rPr>
              <a:t>Chiavenato (2014). </a:t>
            </a:r>
            <a:endParaRPr lang="pt-BR" sz="1050" b="1" i="1" u="sng" dirty="0">
              <a:latin typeface="Work Sans" pitchFamily="2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78626C-E8EA-D563-507C-939C0F7B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527" y="3008066"/>
            <a:ext cx="3108010" cy="198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8189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379" y="1717682"/>
            <a:ext cx="5268191" cy="453628"/>
          </a:xfrm>
        </p:spPr>
        <p:txBody>
          <a:bodyPr/>
          <a:lstStyle/>
          <a:p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4848" y="2464854"/>
            <a:ext cx="3306378" cy="208817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Portanto, uma decisão só faz sentido mediante a existência de alternativas, pois na ausência de ao menos uma delas, não haverá o que decidir.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F42E66-373B-5848-D8B4-DD255992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74" y="2401663"/>
            <a:ext cx="2171700" cy="110728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F6AB799-B246-2C4E-5084-7F7FACB96529}"/>
              </a:ext>
            </a:extLst>
          </p:cNvPr>
          <p:cNvSpPr txBox="1"/>
          <p:nvPr/>
        </p:nvSpPr>
        <p:spPr>
          <a:xfrm>
            <a:off x="612153" y="3739296"/>
            <a:ext cx="27991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/>
              <a:t>Para decidir, é preciso ter </a:t>
            </a:r>
            <a:r>
              <a:rPr lang="pt-BR" sz="1050" b="1" dirty="0">
                <a:solidFill>
                  <a:srgbClr val="FF0000"/>
                </a:solidFill>
              </a:rPr>
              <a:t>ALTERNATIVAS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057C4A27-AE61-F187-BFD8-0F56130981C5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7127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42CDB-255B-58AF-1B23-FF75209AC6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7730" y="2626795"/>
            <a:ext cx="4069949" cy="251822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/>
              <a:t>No processo de tomada de decisão, determinar uma estrutura comum para abordar problemas semelhantes tem facilitado a resolução de problemas. 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Na visão de Chiavenato (2014), o processo decisório desenvolve-se ao longo de seis etapas.</a:t>
            </a:r>
            <a:endParaRPr lang="pt-BR" u="sng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FE50E0B-8125-C9AF-3366-DD18D4E13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68" y="2360912"/>
            <a:ext cx="1935956" cy="320754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A672B311-ADB1-F213-C0B7-46FFB64EB112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3237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15938" y="2444879"/>
            <a:ext cx="5846495" cy="1141431"/>
          </a:xfrm>
        </p:spPr>
        <p:txBody>
          <a:bodyPr/>
          <a:lstStyle/>
          <a:p>
            <a:r>
              <a:rPr lang="pt-BR" sz="1350" b="1" dirty="0"/>
              <a:t>Mapear a situação e identificar as características: oportunidade ou problema</a:t>
            </a:r>
          </a:p>
          <a:p>
            <a:r>
              <a:rPr lang="pt-BR" sz="1350" b="1" dirty="0"/>
              <a:t>Definir a situação</a:t>
            </a:r>
            <a:r>
              <a:rPr lang="pt-BR" sz="1350" dirty="0"/>
              <a:t>: essência do problema ou oportunidade</a:t>
            </a:r>
          </a:p>
          <a:p>
            <a:r>
              <a:rPr lang="pt-BR" sz="1350" b="1" dirty="0"/>
              <a:t>Causa e efeito alinhados com os objetivos organizacionais</a:t>
            </a:r>
            <a:r>
              <a:rPr lang="pt-BR" sz="1350" dirty="0"/>
              <a:t>: Vale a pena ou não</a:t>
            </a:r>
          </a:p>
          <a:p>
            <a:r>
              <a:rPr lang="pt-BR" sz="1350" b="1" dirty="0"/>
              <a:t>Diagnóstico das causas</a:t>
            </a:r>
            <a:r>
              <a:rPr lang="pt-BR" sz="1350" dirty="0"/>
              <a:t>: o que está provocando a situação? Quem são as pessoas envolvidas? O que pode clarificar a situação? O que contribuiu para a situação?</a:t>
            </a:r>
          </a:p>
          <a:p>
            <a:r>
              <a:rPr lang="pt-BR" sz="1350" b="1" dirty="0"/>
              <a:t>Objetivos da decisão</a:t>
            </a:r>
            <a:r>
              <a:rPr lang="pt-BR" sz="1350" dirty="0"/>
              <a:t>: buscar o alinhamento com os objetivos organizacionais onde, quanto mais contribuir, mais eficaz será</a:t>
            </a:r>
          </a:p>
          <a:p>
            <a:r>
              <a:rPr lang="pt-BR" sz="135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D51BA4-70E3-7D31-5C55-FA81702D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64" y="2471088"/>
            <a:ext cx="2198469" cy="52703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BC5CF8-B2ED-76DB-5329-CEE97042A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74" y="3966942"/>
            <a:ext cx="968604" cy="131799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AF9A4C-E764-5D72-30A0-54444FE03D62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40051695-CC77-275C-0352-7A323BD8A761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008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23008" y="2939110"/>
            <a:ext cx="5846495" cy="635794"/>
          </a:xfrm>
        </p:spPr>
        <p:txBody>
          <a:bodyPr/>
          <a:lstStyle/>
          <a:p>
            <a:r>
              <a:rPr lang="pt-BR" sz="1350" b="1" dirty="0"/>
              <a:t>Reduzir a incerteza sobre a situação</a:t>
            </a:r>
          </a:p>
          <a:p>
            <a:r>
              <a:rPr lang="pt-BR" sz="1350" b="1" dirty="0"/>
              <a:t>Coletar e organizar dados para gerar informações sobre a situação</a:t>
            </a:r>
          </a:p>
          <a:p>
            <a:r>
              <a:rPr lang="pt-BR" sz="1350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D51BA4-70E3-7D31-5C55-FA81702D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95" y="2444879"/>
            <a:ext cx="1265347" cy="30333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4305D6F-07F7-F9CD-2FC2-32F7F5F6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95" y="2952927"/>
            <a:ext cx="1950244" cy="63579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06602F-BF83-B18F-69DB-64E377E2F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5" y="4212552"/>
            <a:ext cx="1265347" cy="139235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374D0093-C02E-189E-9163-389446CDB9D6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11385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53326" y="2742162"/>
            <a:ext cx="5846495" cy="2454980"/>
          </a:xfrm>
        </p:spPr>
        <p:txBody>
          <a:bodyPr/>
          <a:lstStyle/>
          <a:p>
            <a:r>
              <a:rPr lang="pt-BR" sz="1350" b="1" dirty="0"/>
              <a:t>Gerar soluções ou cursos alternativos</a:t>
            </a:r>
          </a:p>
          <a:p>
            <a:r>
              <a:rPr lang="pt-BR" sz="1350" b="1" dirty="0"/>
              <a:t>Buscar alternativas e soluções sem a preocupação com a viabilidade ou conveniência</a:t>
            </a:r>
          </a:p>
          <a:p>
            <a:r>
              <a:rPr lang="pt-BR" sz="1350" b="1" dirty="0"/>
              <a:t>Reunir os envolvidos no problema para levantar as alternativas viáveis</a:t>
            </a:r>
          </a:p>
          <a:p>
            <a:r>
              <a:rPr lang="pt-BR" sz="1350" b="1" dirty="0"/>
              <a:t>Brainstorming: </a:t>
            </a:r>
            <a:r>
              <a:rPr lang="pt-BR" sz="1350" dirty="0"/>
              <a:t>levantamento coletivo de alternativas sem julgamento rígido</a:t>
            </a:r>
          </a:p>
          <a:p>
            <a:r>
              <a:rPr lang="pt-BR" sz="1350" b="1" dirty="0"/>
              <a:t>Quanto mais alternativas, melhor.</a:t>
            </a:r>
          </a:p>
          <a:p>
            <a:r>
              <a:rPr lang="pt-BR" sz="1350" b="1" dirty="0"/>
              <a:t>Mais facilmente desenvolvida para situações </a:t>
            </a:r>
            <a:r>
              <a:rPr lang="pt-BR" sz="1350" b="1" dirty="0">
                <a:solidFill>
                  <a:srgbClr val="FF0000"/>
                </a:solidFill>
              </a:rPr>
              <a:t>programadas</a:t>
            </a:r>
            <a:r>
              <a:rPr lang="pt-BR" sz="1350" b="1" dirty="0"/>
              <a:t> do que </a:t>
            </a:r>
            <a:r>
              <a:rPr lang="pt-BR" sz="1350" b="1" dirty="0">
                <a:solidFill>
                  <a:srgbClr val="FF0000"/>
                </a:solidFill>
              </a:rPr>
              <a:t>não programadas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4630C1-BEAB-0FFE-068B-ADDABF60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445238"/>
            <a:ext cx="1011025" cy="55443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3A059DD-0359-7C09-CC18-9488748EE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41" y="3241940"/>
            <a:ext cx="1993106" cy="60007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8FD90C3-6717-3C35-F856-DC130B6BE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41" y="4227434"/>
            <a:ext cx="1226147" cy="1054847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CE6CB15E-91B0-076F-1700-FFCA448998E3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99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95746" y="3224080"/>
            <a:ext cx="5846495" cy="1362932"/>
          </a:xfrm>
        </p:spPr>
        <p:txBody>
          <a:bodyPr/>
          <a:lstStyle/>
          <a:p>
            <a:r>
              <a:rPr lang="pt-BR" sz="1350" b="1" dirty="0"/>
              <a:t>Avaliação rigorosa das alternativa: hipótese e comprovação</a:t>
            </a:r>
          </a:p>
          <a:p>
            <a:r>
              <a:rPr lang="pt-BR" sz="1350" b="1" dirty="0"/>
              <a:t>Escolha da solução mais adequada</a:t>
            </a:r>
          </a:p>
          <a:p>
            <a:r>
              <a:rPr lang="pt-BR" sz="1350" b="1" dirty="0"/>
              <a:t>Mínimo de consequências negativas para a organização e maior resultado alinhado com os objetivos</a:t>
            </a:r>
          </a:p>
          <a:p>
            <a:r>
              <a:rPr lang="pt-BR" sz="1350" b="1" dirty="0"/>
              <a:t>Definido a partir da visão do TODO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92AF6F-1D40-9B03-1170-030F5378B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6" y="2474854"/>
            <a:ext cx="1208873" cy="9541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5E20240-10C0-CA5E-A16F-3FB674C5A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40" y="3574758"/>
            <a:ext cx="1950244" cy="55006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6961B4A-4F0D-93FD-37C1-2CDC0C4F5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7" y="4587012"/>
            <a:ext cx="1304319" cy="729297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3879C85D-F53D-2F50-5D6C-37CE09C26F71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1317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9886" y="3307955"/>
            <a:ext cx="5846495" cy="1965182"/>
          </a:xfrm>
        </p:spPr>
        <p:txBody>
          <a:bodyPr/>
          <a:lstStyle/>
          <a:p>
            <a:r>
              <a:rPr lang="pt-BR" sz="1350" b="1" dirty="0"/>
              <a:t>Implementar a solução escolhida</a:t>
            </a:r>
          </a:p>
          <a:p>
            <a:r>
              <a:rPr lang="pt-BR" sz="1350" b="1" dirty="0"/>
              <a:t>Planejar as ações</a:t>
            </a:r>
          </a:p>
          <a:p>
            <a:r>
              <a:rPr lang="pt-BR" sz="1350" b="1" dirty="0"/>
              <a:t>Colocar em prática</a:t>
            </a:r>
          </a:p>
          <a:p>
            <a:r>
              <a:rPr lang="pt-BR" sz="1350" b="1" dirty="0"/>
              <a:t>Alocar recursos</a:t>
            </a:r>
          </a:p>
          <a:p>
            <a:r>
              <a:rPr lang="pt-BR" sz="1350" b="1" dirty="0"/>
              <a:t>Definir orçamento</a:t>
            </a:r>
          </a:p>
          <a:p>
            <a:r>
              <a:rPr lang="pt-BR" sz="1350" b="1" dirty="0"/>
              <a:t>Criar meios para medir o progresso e resultados da ação</a:t>
            </a:r>
          </a:p>
          <a:p>
            <a:r>
              <a:rPr lang="pt-BR" sz="1350" b="1" dirty="0"/>
              <a:t>Aplicar ações corretivas quando necessário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C28949-1083-B1CF-28CC-3DA2EE7A3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405922"/>
            <a:ext cx="1230198" cy="133234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59E0FD4-F12F-4BB6-0E22-82E8B872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7" y="3994081"/>
            <a:ext cx="2000250" cy="592931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9ED34F3-FAB1-5E38-9062-0021E874B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47" y="4981081"/>
            <a:ext cx="1314818" cy="407882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2F8453A6-E2F6-E315-77E7-ED0674EAF092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8530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DFB798-B80A-0497-771A-4C0D2153EE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187" y="1698274"/>
            <a:ext cx="2693013" cy="353824"/>
          </a:xfrm>
        </p:spPr>
        <p:txBody>
          <a:bodyPr/>
          <a:lstStyle/>
          <a:p>
            <a:pPr algn="l"/>
            <a:r>
              <a:rPr lang="pt-BR" dirty="0"/>
              <a:t>Processo decisório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4E238E-E12F-F27C-3670-6F443264EF8A}"/>
              </a:ext>
            </a:extLst>
          </p:cNvPr>
          <p:cNvSpPr txBox="1"/>
          <p:nvPr/>
        </p:nvSpPr>
        <p:spPr>
          <a:xfrm>
            <a:off x="438347" y="2052098"/>
            <a:ext cx="2247731" cy="2539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Estrutura proposta por Chiavenato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3F370B-6433-BE00-2712-A941B74D29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52307" y="4067328"/>
            <a:ext cx="5846495" cy="890582"/>
          </a:xfrm>
        </p:spPr>
        <p:txBody>
          <a:bodyPr/>
          <a:lstStyle/>
          <a:p>
            <a:r>
              <a:rPr lang="pt-BR" sz="1350" b="1" dirty="0"/>
              <a:t>Monitorar as ações</a:t>
            </a:r>
          </a:p>
          <a:p>
            <a:r>
              <a:rPr lang="pt-BR" sz="1350" b="1" dirty="0"/>
              <a:t>Avaliar os resultados</a:t>
            </a:r>
          </a:p>
          <a:p>
            <a:r>
              <a:rPr lang="pt-BR" sz="1350" b="1" dirty="0"/>
              <a:t>Responder as questões definidas na etapa anterior</a:t>
            </a:r>
          </a:p>
          <a:p>
            <a:r>
              <a:rPr lang="pt-BR" sz="1350" dirty="0"/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D8CCC90-C17C-D506-A0EF-1DCE60F8A783}"/>
              </a:ext>
            </a:extLst>
          </p:cNvPr>
          <p:cNvSpPr txBox="1"/>
          <p:nvPr/>
        </p:nvSpPr>
        <p:spPr>
          <a:xfrm>
            <a:off x="3499701" y="2052098"/>
            <a:ext cx="2441694" cy="2539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050" dirty="0"/>
              <a:t>Situação = oportunidade ou problema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CC65B63-0C0E-EA3B-454F-BFBB72491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47" y="2329097"/>
            <a:ext cx="968604" cy="13179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2ED9D7-2686-FC51-75FB-AF423086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46" y="4205828"/>
            <a:ext cx="1985963" cy="600075"/>
          </a:xfrm>
          <a:prstGeom prst="rect">
            <a:avLst/>
          </a:prstGeom>
        </p:spPr>
      </p:pic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10789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6179DE5-5299-B53C-CEBE-70D8E7AA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Texto 5">
            <a:extLst>
              <a:ext uri="{FF2B5EF4-FFF2-40B4-BE49-F238E27FC236}">
                <a16:creationId xmlns:a16="http://schemas.microsoft.com/office/drawing/2014/main" id="{89C7C073-9CD8-9047-84FB-8A24CF7EA1B0}"/>
              </a:ext>
            </a:extLst>
          </p:cNvPr>
          <p:cNvSpPr txBox="1">
            <a:spLocks/>
          </p:cNvSpPr>
          <p:nvPr/>
        </p:nvSpPr>
        <p:spPr>
          <a:xfrm>
            <a:off x="92328" y="152981"/>
            <a:ext cx="4048125" cy="374650"/>
          </a:xfrm>
          <a:prstGeom prst="rect">
            <a:avLst/>
          </a:prstGeom>
        </p:spPr>
        <p:txBody>
          <a:bodyPr anchor="ctr"/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 i="0" u="none" strike="noStrike" cap="none" baseline="0">
                <a:solidFill>
                  <a:schemeClr val="bg1"/>
                </a:solidFill>
                <a:latin typeface="Work Sans" panose="00000500000000000000" pitchFamily="2" charset="0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r>
              <a:rPr lang="pt-BR" sz="2800" b="1">
                <a:solidFill>
                  <a:schemeClr val="tx1"/>
                </a:solidFill>
              </a:rPr>
              <a:t> Processo decisório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15C2364-B804-FB91-4C36-367FDC9F3A82}"/>
              </a:ext>
            </a:extLst>
          </p:cNvPr>
          <p:cNvSpPr txBox="1"/>
          <p:nvPr/>
        </p:nvSpPr>
        <p:spPr>
          <a:xfrm>
            <a:off x="1377273" y="1556792"/>
            <a:ext cx="5526360" cy="2609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400" b="1" dirty="0"/>
              <a:t>Conexão com o que já foi visto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Dados → base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Informação → entendimento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Conhecimento → interpretação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Decisão → ação</a:t>
            </a:r>
            <a:r>
              <a:rPr lang="pt-B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43937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FundoUniville">
  <a:themeElements>
    <a:clrScheme name="FundoUniville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481949d-5487-4397-853b-0f191069bf00}" enabled="1" method="Privileged" siteId="{57fe0ac9-f7f7-4580-8b30-5aa7f0ac8e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6877</Words>
  <Application>Microsoft Office PowerPoint</Application>
  <PresentationFormat>Apresentação na tela (4:3)</PresentationFormat>
  <Paragraphs>1217</Paragraphs>
  <Slides>106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106</vt:i4>
      </vt:variant>
    </vt:vector>
  </HeadingPairs>
  <TitlesOfParts>
    <vt:vector size="116" baseType="lpstr">
      <vt:lpstr>Arial</vt:lpstr>
      <vt:lpstr>Calibri</vt:lpstr>
      <vt:lpstr>Google Sans</vt:lpstr>
      <vt:lpstr>Proxima Nova Rg</vt:lpstr>
      <vt:lpstr>Segoe UI Emoji</vt:lpstr>
      <vt:lpstr>Symbol</vt:lpstr>
      <vt:lpstr>Times New Roman</vt:lpstr>
      <vt:lpstr>Wingdings</vt:lpstr>
      <vt:lpstr>Work Sans</vt:lpstr>
      <vt:lpstr>FundoUniville</vt:lpstr>
      <vt:lpstr>Fundamentos de Gestão e Sistemas de Informação</vt:lpstr>
      <vt:lpstr>Apresentação do PowerPoint</vt:lpstr>
      <vt:lpstr>Contextualização</vt:lpstr>
      <vt:lpstr>Contextualização</vt:lpstr>
      <vt:lpstr>Conceitos</vt:lpstr>
      <vt:lpstr>Conceitos</vt:lpstr>
      <vt:lpstr>Conceitos: GESTÃO</vt:lpstr>
      <vt:lpstr>Conceitos: EFICIÊNCIA x EFICÁCIA</vt:lpstr>
      <vt:lpstr>Conceitos: EFICIÊNCIA x EFICÁCIA</vt:lpstr>
      <vt:lpstr>Conceitos: EFICIÊNCIA x EFICÁCIA</vt:lpstr>
      <vt:lpstr>Conceitos: Gestão</vt:lpstr>
      <vt:lpstr>Conceitos: SISTEMAS</vt:lpstr>
      <vt:lpstr>Conceitos: SISTEMAS</vt:lpstr>
      <vt:lpstr>Conceitos: SISTEMAS DE INFORMAÇÃO</vt:lpstr>
      <vt:lpstr>Conceitos: SISTEMAS DE INFORMAÇÃO</vt:lpstr>
      <vt:lpstr>Conceitos: SISTEMAS DE INFORMAÇÃO</vt:lpstr>
      <vt:lpstr>Conceitos: SÍNTESE</vt:lpstr>
      <vt:lpstr>Atividade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CASO DATA DE ENTREGA PRODUTO A</vt:lpstr>
      <vt:lpstr>Revisão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Exercício: Atividade 002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PARETO </vt:lpstr>
      <vt:lpstr>PARETO </vt:lpstr>
      <vt:lpstr>PARETO </vt:lpstr>
      <vt:lpstr>Classificação ABC </vt:lpstr>
      <vt:lpstr>Classificação ABC </vt:lpstr>
      <vt:lpstr>Classificação ABC </vt:lpstr>
      <vt:lpstr>Classificação ABC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Fundamentos Teóricos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Rosalvo Medeiros</dc:creator>
  <cp:lastModifiedBy>Rosalvo Medeiros</cp:lastModifiedBy>
  <cp:revision>59</cp:revision>
  <dcterms:modified xsi:type="dcterms:W3CDTF">2026-03-31T13:08:46Z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81949d-5487-4397-853b-0f191069bf00_Enabled">
    <vt:lpwstr>true</vt:lpwstr>
  </property>
  <property fmtid="{D5CDD505-2E9C-101B-9397-08002B2CF9AE}" pid="3" name="MSIP_Label_c481949d-5487-4397-853b-0f191069bf00_SetDate">
    <vt:lpwstr>2020-02-17T21:33:50Z</vt:lpwstr>
  </property>
  <property fmtid="{D5CDD505-2E9C-101B-9397-08002B2CF9AE}" pid="4" name="MSIP_Label_c481949d-5487-4397-853b-0f191069bf00_Method">
    <vt:lpwstr>Privileged</vt:lpwstr>
  </property>
  <property fmtid="{D5CDD505-2E9C-101B-9397-08002B2CF9AE}" pid="5" name="MSIP_Label_c481949d-5487-4397-853b-0f191069bf00_Name">
    <vt:lpwstr>Publica</vt:lpwstr>
  </property>
  <property fmtid="{D5CDD505-2E9C-101B-9397-08002B2CF9AE}" pid="6" name="MSIP_Label_c481949d-5487-4397-853b-0f191069bf00_SiteId">
    <vt:lpwstr>57fe0ac9-f7f7-4580-8b30-5aa7f0ac8e3b</vt:lpwstr>
  </property>
  <property fmtid="{D5CDD505-2E9C-101B-9397-08002B2CF9AE}" pid="7" name="MSIP_Label_c481949d-5487-4397-853b-0f191069bf00_ActionId">
    <vt:lpwstr>0268edaa-6177-4365-b375-000039d84d77</vt:lpwstr>
  </property>
  <property fmtid="{D5CDD505-2E9C-101B-9397-08002B2CF9AE}" pid="8" name="MSIP_Label_c481949d-5487-4397-853b-0f191069bf00_ContentBits">
    <vt:lpwstr>1</vt:lpwstr>
  </property>
</Properties>
</file>