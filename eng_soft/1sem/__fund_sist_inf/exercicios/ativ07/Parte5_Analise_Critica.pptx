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256032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365760"/>
            <a:ext cx="2286000" cy="2286000"/>
          </a:xfrm>
          <a:prstGeom prst="ellipse">
            <a:avLst/>
          </a:prstGeom>
          <a:solidFill>
            <a:srgbClr val="E8713A">
              <a:alpha val="20000"/>
            </a:srgbClr>
          </a:solidFill>
          <a:ln w="12700">
            <a:solidFill>
              <a:srgbClr val="E8713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274320"/>
            <a:ext cx="1280160" cy="1280160"/>
          </a:xfrm>
          <a:prstGeom prst="ellipse">
            <a:avLst/>
          </a:prstGeom>
          <a:solidFill>
            <a:srgbClr val="F2A07A">
              <a:alpha val="30000"/>
            </a:srgbClr>
          </a:solidFill>
          <a:ln w="12700">
            <a:solidFill>
              <a:srgbClr val="F2A07A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SABOR &amp; GESTÃO LTDA.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 e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Alternativos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3657600" cy="4572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Escolhida: Redução de Custos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 • Tomada de Decisão Gerencial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ANALISAR NESTA PARTE?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73152" cy="15087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16184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 da Decisão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1305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Argumentos contra a alternativa escolhida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73152" cy="15087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54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23560" y="16184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Limitações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23560" y="21305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Curto, médio e longo prazo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00400"/>
            <a:ext cx="73152" cy="15087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37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34440" y="34015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de Inviabilidade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9136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em que a decisão falharia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00400"/>
            <a:ext cx="73152" cy="15087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337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23560" y="34015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Alternativa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39136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híbrida para o cenário adverso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DO GRUPO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71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Alternativa 2 – Redução de Custos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único de R$ 3.000 para otimizar processos e reduzir o custo unitário de R$ 22,00 para R$ 19,80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2560320" cy="1691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971800"/>
            <a:ext cx="2560320" cy="73152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8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R$ 10.400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mensal (após payback)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R$ 10.000 original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971800"/>
            <a:ext cx="2560320" cy="1691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971800"/>
            <a:ext cx="2560320" cy="73152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108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R$ 19,80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83280" y="3794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custo unitário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4206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10%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971800"/>
            <a:ext cx="2560320" cy="16916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971800"/>
            <a:ext cx="2560320" cy="73152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108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mês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7920" y="3794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payback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4206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investimento inicial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  |  Argumento 1 de 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474720" cy="35661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E8713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Incerta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015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não concretização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2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meta de -10% nos custos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280160"/>
            <a:ext cx="4663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0" y="1280160"/>
            <a:ext cx="54864" cy="10515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podem não negociar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71907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redução esperada depende de contrapartidas externas que não estão garantidas.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2487168"/>
            <a:ext cx="4663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0" y="2487168"/>
            <a:ext cx="54864" cy="10515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5786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pode ser temporário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29260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podem rever preços em ciclos futuros, tornando o ganho não-estrutural.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3694176"/>
            <a:ext cx="4663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0" y="3694176"/>
            <a:ext cx="54864" cy="10515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378561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sem retorno garantido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41330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redução efetiva for menor que 10%, o desembolso de R$ 3.000 não se paga no 1º mês.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  |  Argumento 2 de 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474720" cy="35661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173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🍽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à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015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4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alimentício: qualidade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4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percepção de valor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280160"/>
            <a:ext cx="4663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0" y="1280160"/>
            <a:ext cx="54864" cy="10515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baratos = qualidade comprometida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71907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de fornecedores por opções mais baratas pode degradar o produto final percebido.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2487168"/>
            <a:ext cx="4663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0" y="2487168"/>
            <a:ext cx="54864" cy="10515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5786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B2B avaliam periodicamente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29260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corporativos são revisados. Queda de qualidade pode gerar cancelamentos em massa.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3694176"/>
            <a:ext cx="4663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0" y="3694176"/>
            <a:ext cx="54864" cy="105156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378561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 reputacional é custoso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41330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Perder um cliente corporativo custa muito mais do que a margem ganha com a redução de custos.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LIMITAÇÕES POR HORIZONTE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651760" cy="3520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651760" cy="77724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441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CURTO PRAZO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217627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de R$ 3.000 reduz o lucro no 1º mês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99923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caixa disponível imediato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382219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 sobre a efetividade da redução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280160"/>
            <a:ext cx="2651760" cy="3520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280160"/>
            <a:ext cx="2651760" cy="7772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3441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MÉDIO PRAZO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217627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dos insumos podem continuar subindo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299923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pode ser neutralizado por nova alta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64408" y="382219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rodadas de negociação necessárias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1280160"/>
            <a:ext cx="2651760" cy="3520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280160"/>
            <a:ext cx="2651760" cy="7772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3441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LONGO PRAZO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99048" y="217627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custo sem inovação pode fragilizar a empresa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9048" y="299923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concorrentes com estruturas mais enxutas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99048" y="3822192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 em guerra de preços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QUE INVIABILIZA A DECISÃO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recusam negociação + clientes percebem queda de qualidade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377440" y="2084832"/>
            <a:ext cx="320040" cy="54864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24328" y="1975104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874520" cy="2971800"/>
          </a:xfrm>
          <a:prstGeom prst="rect">
            <a:avLst/>
          </a:prstGeom>
          <a:solidFill>
            <a:srgbClr val="243558"/>
          </a:solidFill>
          <a:ln w="19050">
            <a:solidFill>
              <a:srgbClr val="E87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1572768"/>
            <a:ext cx="594360" cy="594360"/>
          </a:xfrm>
          <a:prstGeom prst="ellipse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581912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2648" y="1920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sobem novamente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" y="2578608"/>
            <a:ext cx="166420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não oferecem descontos e sinalizam novos aumentos por inflação de commodities e alta do dólar.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26280" y="2084832"/>
            <a:ext cx="320040" cy="54864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975104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1783080"/>
            <a:ext cx="1874520" cy="2971800"/>
          </a:xfrm>
          <a:prstGeom prst="rect">
            <a:avLst/>
          </a:prstGeom>
          <a:solidFill>
            <a:srgbClr val="243558"/>
          </a:solidFill>
          <a:ln w="19050">
            <a:solidFill>
              <a:srgbClr val="E87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572768"/>
            <a:ext cx="594360" cy="594360"/>
          </a:xfrm>
          <a:prstGeom prst="ellipse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581912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61488" y="1920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troca fornecedores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61488" y="2578608"/>
            <a:ext cx="166420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única saída é usar fornecedores mais baratos, com qualidade inferior para manter a meta de custo.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5120" y="2084832"/>
            <a:ext cx="320040" cy="54864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1975104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783080"/>
            <a:ext cx="1874520" cy="2971800"/>
          </a:xfrm>
          <a:prstGeom prst="rect">
            <a:avLst/>
          </a:prstGeom>
          <a:solidFill>
            <a:srgbClr val="243558"/>
          </a:solidFill>
          <a:ln w="19050">
            <a:solidFill>
              <a:srgbClr val="E87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40680" y="1572768"/>
            <a:ext cx="594360" cy="594360"/>
          </a:xfrm>
          <a:prstGeom prst="ellipse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1581912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910328" y="1920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percebem a diferença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0328" y="2578608"/>
            <a:ext cx="166420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periódicas revelam queda na qualidade das refeições entregues.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0" y="1783080"/>
            <a:ext cx="1874520" cy="2971800"/>
          </a:xfrm>
          <a:prstGeom prst="rect">
            <a:avLst/>
          </a:prstGeom>
          <a:solidFill>
            <a:srgbClr val="243558"/>
          </a:solidFill>
          <a:ln w="19050">
            <a:solidFill>
              <a:srgbClr val="E871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89520" y="1572768"/>
            <a:ext cx="594360" cy="594360"/>
          </a:xfrm>
          <a:prstGeom prst="ellipse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1581912"/>
            <a:ext cx="594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059168" y="19202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Cancelamentos em cadeia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59168" y="2578608"/>
            <a:ext cx="166420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clientes (30% do volume) cancelam contratos → volume cai de 2.000 para 1.400 unidades/mês.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FINANCEIRO DO CENÁRIO ADVERSO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5943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ORIGINAL (Alt. 2)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11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20116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 unidades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4023360" cy="5943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700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67004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R$ 50.000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36976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2841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332841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R$ 39.600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95344"/>
            <a:ext cx="4023360" cy="5943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8678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98678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R$ 10.400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4023360" cy="594360"/>
          </a:xfrm>
          <a:prstGeom prst="rect">
            <a:avLst/>
          </a:prstGeom>
          <a:solidFill>
            <a:srgbClr val="A01010"/>
          </a:solidFill>
          <a:ln w="12700">
            <a:solidFill>
              <a:srgbClr val="A010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ADVERSO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92024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011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20116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1.400 unidades (-30%)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578608"/>
            <a:ext cx="4023360" cy="5943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6700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67004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R$ 35.000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236976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328416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3328416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R$ 27.720 + fixos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895344"/>
            <a:ext cx="4023360" cy="59436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98678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3986784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do ponto de equilíbrio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0624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A01010"/>
          </a:solidFill>
          <a:ln w="12700">
            <a:solidFill>
              <a:srgbClr val="A0101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99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Perda de 30% do volume transforma um resultado positivo em colapso financeiro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SOLUÇÃO ALTERNATIVA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Híbrida — 3 Frentes Simultâneas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115568"/>
          </a:xfrm>
          <a:prstGeom prst="rect">
            <a:avLst/>
          </a:prstGeom>
          <a:solidFill>
            <a:srgbClr val="F5F0E8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777240" cy="111556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93392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040880" y="1847088"/>
            <a:ext cx="1600200" cy="3200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86537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COMPROMETER A QUALIDADE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25880" y="18288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Seletiva de Custos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212848"/>
            <a:ext cx="7360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Focar em ineficiências operacionais — desperdício de alimentos, otimização de rotas de entrega e renegociação de embalagens — sem tocar na qualidade dos ingredientes.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8412480" cy="1115568"/>
          </a:xfrm>
          <a:prstGeom prst="rect">
            <a:avLst/>
          </a:prstGeom>
          <a:solidFill>
            <a:srgbClr val="F5F0E8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71800"/>
            <a:ext cx="777240" cy="1115568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27832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040880" y="3081528"/>
            <a:ext cx="1600200" cy="32004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09981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COM O CLIENTE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25880" y="30632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Reajuste Gradual de Preço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447288"/>
            <a:ext cx="7360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aumento moderado (R$ 1,00 a R$ 2,00 por refeição) de forma transparente, apresentando dados de contexto (inflação de insumos) e reforçando os diferenciais da empresa.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8412480" cy="1115568"/>
          </a:xfrm>
          <a:prstGeom prst="rect">
            <a:avLst/>
          </a:prstGeom>
          <a:solidFill>
            <a:srgbClr val="F5F0E8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206240"/>
            <a:ext cx="777240" cy="11155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62272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040880" y="4315968"/>
            <a:ext cx="1600200" cy="320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433425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DE CLIENTES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325880" y="42976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Fidelização e Diferenciação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4681728"/>
            <a:ext cx="7360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em relacionamento com clientes corporativos: cardápios personalizados ou contratos de fidelidade com desconto progressivo, reduzindo risco de cancelamentos.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2A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decisão é perfeita para todos os cenários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54864" cy="64008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01952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 Alt. 2 é a melhor escolha nos dados atuais — lucro de R$ 10.400/mês após payback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8046720" cy="64008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78608"/>
            <a:ext cx="54864" cy="64008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51760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Seus riscos reais: incerteza da redução e potencial impacto na qualidade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8046720" cy="64008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28416"/>
            <a:ext cx="54864" cy="64008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01568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Cenário adverso (30% de perda de volume) tornaria a decisão inviável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78224"/>
            <a:ext cx="8046720" cy="640080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078224"/>
            <a:ext cx="54864" cy="640080"/>
          </a:xfrm>
          <a:prstGeom prst="rect">
            <a:avLst/>
          </a:prstGeom>
          <a:solidFill>
            <a:srgbClr val="E8713A"/>
          </a:solidFill>
          <a:ln w="12700">
            <a:solidFill>
              <a:srgbClr val="E871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151376"/>
            <a:ext cx="7635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 estratégia híbrida é mais robusta: redução cirúrgica + reajuste + fidelização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 do gestor está na capacidade de adaptar a decisão diante de cenários em mudança.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Sabor &amp; Gestão – Parte 5</dc:title>
  <dc:subject>PptxGenJS Presentation</dc:subject>
  <dc:creator>PptxGenJS</dc:creator>
  <cp:lastModifiedBy>PptxGenJS</cp:lastModifiedBy>
  <cp:revision>1</cp:revision>
  <dcterms:created xsi:type="dcterms:W3CDTF">2026-04-01T10:06:48Z</dcterms:created>
  <dcterms:modified xsi:type="dcterms:W3CDTF">2026-04-01T10:06:48Z</dcterms:modified>
</cp:coreProperties>
</file>