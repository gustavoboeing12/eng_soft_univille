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981" y="4151569"/>
            <a:ext cx="7772400" cy="1470025"/>
          </a:xfrm>
        </p:spPr>
        <p:txBody>
          <a:bodyPr/>
          <a:lstStyle/>
          <a:p>
            <a:r>
              <a:rPr dirty="0" err="1"/>
              <a:t>Computação</a:t>
            </a:r>
            <a:r>
              <a:rPr dirty="0"/>
              <a:t>, Sistemas 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759242"/>
            <a:ext cx="6400800" cy="1752600"/>
          </a:xfrm>
        </p:spPr>
        <p:txBody>
          <a:bodyPr/>
          <a:lstStyle/>
          <a:p>
            <a:r>
              <a:rPr dirty="0"/>
              <a:t>Profª Rafaela B. Schroeder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D8BF40-13C4-3210-D767-47240B61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7" r="2994" b="1"/>
          <a:stretch/>
        </p:blipFill>
        <p:spPr>
          <a:xfrm>
            <a:off x="20" y="0"/>
            <a:ext cx="9143980" cy="4201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Computação - Conceito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Origem: latim computatio</a:t>
            </a:r>
          </a:p>
          <a:p>
            <a:pPr lvl="1"/>
            <a:r>
              <a:rPr lang="pt-BR"/>
              <a:t>Ato ou efeito de computar</a:t>
            </a:r>
          </a:p>
          <a:p>
            <a:pPr lvl="1"/>
            <a:r>
              <a:rPr lang="pt-BR"/>
              <a:t>Cálculo, contagem ou cômputo (Michaelis)</a:t>
            </a:r>
          </a:p>
          <a:p>
            <a:pPr lvl="1"/>
            <a:r>
              <a:rPr lang="pt-BR"/>
              <a:t>Ciência da Computação: ciência dos algoritmos (Brookshear, 2013)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FDD3949-D397-3C26-D349-C5F21BAE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097" y="4155306"/>
            <a:ext cx="3475703" cy="209533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AB180B1-569B-F087-6A9C-1BDA125F8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2" y="4343214"/>
            <a:ext cx="1839493" cy="13201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407953E-85BD-EDEA-50D6-B598EDB3F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574" y="5003297"/>
            <a:ext cx="3142424" cy="163229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686172-1D51-45BA-5D51-C44836A46A19}"/>
              </a:ext>
            </a:extLst>
          </p:cNvPr>
          <p:cNvSpPr txBox="1"/>
          <p:nvPr/>
        </p:nvSpPr>
        <p:spPr>
          <a:xfrm>
            <a:off x="708146" y="5445868"/>
            <a:ext cx="151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Ábaco romano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8B10EE-FF69-1DC5-657F-E2CB7624EB63}"/>
              </a:ext>
            </a:extLst>
          </p:cNvPr>
          <p:cNvSpPr txBox="1"/>
          <p:nvPr/>
        </p:nvSpPr>
        <p:spPr>
          <a:xfrm>
            <a:off x="3932904" y="6127278"/>
            <a:ext cx="151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Ábaco chinês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625D82A-385B-9D58-ECA1-58246AF0626B}"/>
              </a:ext>
            </a:extLst>
          </p:cNvPr>
          <p:cNvSpPr txBox="1"/>
          <p:nvPr/>
        </p:nvSpPr>
        <p:spPr>
          <a:xfrm>
            <a:off x="6689712" y="6146943"/>
            <a:ext cx="151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Algarismos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5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0" y="633619"/>
            <a:ext cx="3390684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78408"/>
            <a:ext cx="2791206" cy="1106424"/>
          </a:xfrm>
        </p:spPr>
        <p:txBody>
          <a:bodyPr>
            <a:normAutofit/>
          </a:bodyPr>
          <a:lstStyle/>
          <a:p>
            <a:r>
              <a:rPr lang="pt-BR" sz="2400"/>
              <a:t>Sistema - Conceito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3" y="1181536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2" y="2185416"/>
            <a:ext cx="2762390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68296"/>
            <a:ext cx="2791206" cy="3502152"/>
          </a:xfrm>
        </p:spPr>
        <p:txBody>
          <a:bodyPr>
            <a:normAutofit/>
          </a:bodyPr>
          <a:lstStyle/>
          <a:p>
            <a:r>
              <a:rPr lang="pt-BR" sz="1500" dirty="0"/>
              <a:t>Conjunto de elementos</a:t>
            </a:r>
          </a:p>
          <a:p>
            <a:pPr lvl="1"/>
            <a:r>
              <a:rPr lang="pt-BR" sz="1500" dirty="0"/>
              <a:t>Elementos se relacionam/interagem</a:t>
            </a:r>
          </a:p>
          <a:p>
            <a:pPr lvl="1"/>
            <a:r>
              <a:rPr lang="pt-BR" sz="1500" dirty="0"/>
              <a:t>Possuem finalidades/objetivos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E7E3445-880F-5F2C-645D-D3C463C6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950" y="1107757"/>
            <a:ext cx="2436263" cy="17400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969640B-92E0-7F2E-EA6A-29ACAD5E3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435" y="1261590"/>
            <a:ext cx="2436264" cy="143239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B3DCE96-E9C2-5EC2-DD1D-BEFAEF7FB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951" y="3757838"/>
            <a:ext cx="2436264" cy="204891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2DBD98F-F825-F33E-2442-B1090EC35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435" y="4149282"/>
            <a:ext cx="2436264" cy="1263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300"/>
              <a:t>Sistema - Entrada e Saída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600"/>
              <a:t>Entrada (Input)</a:t>
            </a:r>
          </a:p>
          <a:p>
            <a:pPr lvl="1">
              <a:lnSpc>
                <a:spcPct val="90000"/>
              </a:lnSpc>
            </a:pPr>
            <a:r>
              <a:rPr lang="pt-BR" sz="1600"/>
              <a:t>Processamento (Processing)</a:t>
            </a:r>
          </a:p>
          <a:p>
            <a:pPr lvl="1">
              <a:lnSpc>
                <a:spcPct val="90000"/>
              </a:lnSpc>
            </a:pPr>
            <a:r>
              <a:rPr lang="pt-BR" sz="1600"/>
              <a:t>Saída (Output)</a:t>
            </a:r>
          </a:p>
          <a:p>
            <a:pPr lvl="1">
              <a:lnSpc>
                <a:spcPct val="90000"/>
              </a:lnSpc>
            </a:pPr>
            <a:r>
              <a:rPr lang="pt-BR" sz="1600"/>
              <a:t>Retroalimentação (Feedback)</a:t>
            </a:r>
          </a:p>
          <a:p>
            <a:pPr lvl="1">
              <a:lnSpc>
                <a:spcPct val="90000"/>
              </a:lnSpc>
            </a:pPr>
            <a:r>
              <a:rPr lang="pt-BR" sz="1600"/>
              <a:t>Interação com o ambiente (Environment)</a:t>
            </a:r>
          </a:p>
        </p:txBody>
      </p:sp>
      <p:pic>
        <p:nvPicPr>
          <p:cNvPr id="9" name="Imagem 8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19EA7B0C-7486-A553-F052-60E71FC03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540801"/>
            <a:ext cx="8188452" cy="34596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Informação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Elementos: Software, Hardware, Dados, Procedimentos, Pessoas</a:t>
            </a:r>
          </a:p>
          <a:p>
            <a:pPr lvl="1"/>
            <a:r>
              <a:t>Funções: Coleta, Processamento, Armazenamento, Distribuição</a:t>
            </a:r>
          </a:p>
          <a:p>
            <a:pPr lvl="1"/>
            <a:r>
              <a:t>Objetivos: Controle de operações, Suporte à decisão, Vantagem competitiva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Teoria Geral dos Sistemas (TGS)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Origem: Ludwig von Bertalanffy (1930)</a:t>
            </a:r>
          </a:p>
          <a:p>
            <a:pPr lvl="1"/>
            <a:r>
              <a:t>Integração das ciências naturais e sociais</a:t>
            </a:r>
          </a:p>
          <a:p>
            <a:pPr lvl="1"/>
            <a:r>
              <a:t>Princípios válidos para sistemas em geral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3613F1-91AD-6D80-F757-CE940E6C4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607" y="3474004"/>
            <a:ext cx="2852661" cy="2834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Tipologia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4891548" cy="4525963"/>
          </a:xfrm>
        </p:spPr>
        <p:txBody>
          <a:bodyPr/>
          <a:lstStyle/>
          <a:p>
            <a:r>
              <a:rPr lang="pt-BR" dirty="0"/>
              <a:t>Tipos</a:t>
            </a:r>
          </a:p>
          <a:p>
            <a:pPr lvl="1"/>
            <a:r>
              <a:rPr dirty="0" err="1"/>
              <a:t>Concretos</a:t>
            </a:r>
            <a:r>
              <a:rPr dirty="0"/>
              <a:t> x </a:t>
            </a:r>
            <a:r>
              <a:rPr dirty="0" err="1"/>
              <a:t>Abstratos</a:t>
            </a: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B913AA-45FD-AA94-4E4C-721422688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5" y="1186543"/>
            <a:ext cx="4157551" cy="56714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B05C6-7A83-D493-102F-CDB5E2F8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7F52F-CE56-8F29-F08A-79840293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pt-BR" sz="4200"/>
              <a:t>Tipologia de Sistemas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5D622-3303-165C-A821-3044AFD9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r>
              <a:rPr lang="pt-BR" sz="2800" dirty="0"/>
              <a:t>Tipos</a:t>
            </a:r>
          </a:p>
          <a:p>
            <a:pPr lvl="1"/>
            <a:r>
              <a:rPr lang="pt-BR" dirty="0"/>
              <a:t>Naturais x Artificiais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A85AC1-D2BE-DD57-E074-022161A50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" y="3203325"/>
            <a:ext cx="4101084" cy="24112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C5B86B2-88AE-7217-3428-371BBD49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345813"/>
            <a:ext cx="4101084" cy="212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8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F1677-C34C-8638-B7D5-ACD52FD1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54A1118-EA29-9811-9CC8-336F50EDD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9A7F7-A3BD-98BB-4C69-BE96E8615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pt-BR" sz="4200"/>
              <a:t>Tipologia de Sistemas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3A9F2F73-62ED-FD5D-AB50-C08C21D11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F57D-B52D-2EC2-3977-4ADBF2ECC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r>
              <a:rPr lang="pt-BR" sz="2400" dirty="0"/>
              <a:t>Tipos</a:t>
            </a:r>
          </a:p>
          <a:p>
            <a:pPr lvl="1"/>
            <a:r>
              <a:rPr lang="pt-BR" sz="2000" dirty="0"/>
              <a:t>Abertos, Fechados e Isolados</a:t>
            </a:r>
          </a:p>
          <a:p>
            <a:pPr lvl="1"/>
            <a:endParaRPr lang="pt-BR" sz="1900" dirty="0"/>
          </a:p>
        </p:txBody>
      </p:sp>
      <p:pic>
        <p:nvPicPr>
          <p:cNvPr id="11" name="Imagem 10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EA67352F-573B-48AD-0AE8-B418E010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277" y="3179089"/>
            <a:ext cx="5169309" cy="258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2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0" y="633619"/>
            <a:ext cx="3390684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78408"/>
            <a:ext cx="2791206" cy="1106424"/>
          </a:xfrm>
        </p:spPr>
        <p:txBody>
          <a:bodyPr>
            <a:normAutofit/>
          </a:bodyPr>
          <a:lstStyle/>
          <a:p>
            <a:r>
              <a:rPr lang="pt-BR" sz="2400"/>
              <a:t>Propriedades dos Sistemas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3" y="1181536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2" y="2185416"/>
            <a:ext cx="2762390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68296"/>
            <a:ext cx="2791206" cy="3502152"/>
          </a:xfrm>
        </p:spPr>
        <p:txBody>
          <a:bodyPr>
            <a:normAutofit/>
          </a:bodyPr>
          <a:lstStyle/>
          <a:p>
            <a:pPr lvl="1"/>
            <a:r>
              <a:rPr lang="pt-BR" sz="1500"/>
              <a:t>Adaptabilidade</a:t>
            </a:r>
          </a:p>
          <a:p>
            <a:pPr lvl="1"/>
            <a:r>
              <a:rPr lang="pt-BR" sz="1500"/>
              <a:t>Homeostase</a:t>
            </a:r>
          </a:p>
          <a:p>
            <a:pPr lvl="1"/>
            <a:r>
              <a:rPr lang="pt-BR" sz="1500"/>
              <a:t>Sinergia</a:t>
            </a:r>
          </a:p>
          <a:p>
            <a:pPr lvl="1"/>
            <a:r>
              <a:rPr lang="pt-BR" sz="1500"/>
              <a:t>Entropia</a:t>
            </a:r>
          </a:p>
          <a:p>
            <a:pPr lvl="1"/>
            <a:r>
              <a:rPr lang="pt-BR" sz="1500"/>
              <a:t>Estrutura e Funcionamento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0B125E-5757-06A5-AEEA-167369AAB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950" y="1076170"/>
            <a:ext cx="2436263" cy="18032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9FBE9A2-A9BF-3730-6BA5-0B0C31630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435" y="1099030"/>
            <a:ext cx="2436264" cy="175751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01E05B5-441B-1E6A-D623-EBA5610BC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951" y="3753396"/>
            <a:ext cx="2436264" cy="20578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96CB0F4-9853-EBAF-7C26-1695F3179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435" y="3972410"/>
            <a:ext cx="2436264" cy="16168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Vida dos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 err="1"/>
              <a:t>Concepção</a:t>
            </a:r>
            <a:endParaRPr dirty="0"/>
          </a:p>
          <a:p>
            <a:pPr lvl="1"/>
            <a:r>
              <a:rPr dirty="0" err="1"/>
              <a:t>Crescimento</a:t>
            </a:r>
            <a:endParaRPr dirty="0"/>
          </a:p>
          <a:p>
            <a:pPr lvl="1"/>
            <a:r>
              <a:rPr dirty="0"/>
              <a:t>Maturidade</a:t>
            </a:r>
          </a:p>
          <a:p>
            <a:pPr lvl="1"/>
            <a:r>
              <a:rPr dirty="0" err="1"/>
              <a:t>Declínio</a:t>
            </a:r>
            <a:endParaRPr dirty="0"/>
          </a:p>
          <a:p>
            <a:pPr lvl="1"/>
            <a:r>
              <a:rPr dirty="0" err="1"/>
              <a:t>Colapso</a:t>
            </a: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4584A3-4554-8E57-9726-2F16FB05D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15" y="4324301"/>
            <a:ext cx="4726579" cy="18669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Pensamento Sistêmico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Análise de inter-relações e feedback</a:t>
            </a:r>
          </a:p>
          <a:p>
            <a:pPr lvl="1"/>
            <a:r>
              <a:t>Modelos e simulações</a:t>
            </a:r>
          </a:p>
          <a:p>
            <a:pPr lvl="1"/>
            <a:r>
              <a:t>Reconhecimento de padrões ao longo do tempo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A15CA9-E74E-72C6-AEEB-C63022AC7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285" y="3661939"/>
            <a:ext cx="4075534" cy="26467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5" y="978619"/>
            <a:ext cx="2558034" cy="1106424"/>
          </a:xfrm>
        </p:spPr>
        <p:txBody>
          <a:bodyPr>
            <a:normAutofit/>
          </a:bodyPr>
          <a:lstStyle/>
          <a:p>
            <a:r>
              <a:rPr lang="pt-BR" sz="2400"/>
              <a:t>Cibernética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130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093976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252870"/>
            <a:ext cx="2559164" cy="3560251"/>
          </a:xfrm>
        </p:spPr>
        <p:txBody>
          <a:bodyPr>
            <a:normAutofit/>
          </a:bodyPr>
          <a:lstStyle/>
          <a:p>
            <a:r>
              <a:rPr lang="pt-BR" sz="1500"/>
              <a:t>Norbert Wiener (1948)</a:t>
            </a:r>
          </a:p>
          <a:p>
            <a:pPr lvl="1"/>
            <a:r>
              <a:rPr lang="pt-BR" sz="1500"/>
              <a:t>Regulação e comunicação na máquina e no animal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B4B2FDB-24EF-FC6E-ECE0-D893BAEC3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939439"/>
            <a:ext cx="4992624" cy="48785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Ciência da Computação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 err="1"/>
              <a:t>Solução</a:t>
            </a:r>
            <a:r>
              <a:rPr dirty="0"/>
              <a:t> de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máquinas</a:t>
            </a:r>
            <a:r>
              <a:rPr dirty="0"/>
              <a:t> </a:t>
            </a:r>
            <a:r>
              <a:rPr dirty="0" err="1"/>
              <a:t>programáveis</a:t>
            </a:r>
            <a:endParaRPr dirty="0"/>
          </a:p>
          <a:p>
            <a:pPr lvl="1"/>
            <a:r>
              <a:rPr dirty="0" err="1"/>
              <a:t>Implementação</a:t>
            </a:r>
            <a:r>
              <a:rPr dirty="0"/>
              <a:t> de </a:t>
            </a:r>
            <a:r>
              <a:rPr dirty="0" err="1"/>
              <a:t>algoritmos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software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Processamento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 err="1"/>
              <a:t>Processamento</a:t>
            </a:r>
            <a:r>
              <a:rPr dirty="0"/>
              <a:t> </a:t>
            </a:r>
            <a:r>
              <a:rPr dirty="0" err="1"/>
              <a:t>Eletrônico</a:t>
            </a:r>
            <a:r>
              <a:rPr dirty="0"/>
              <a:t> de Dados (1950)</a:t>
            </a:r>
          </a:p>
          <a:p>
            <a:pPr lvl="1"/>
            <a:r>
              <a:rPr dirty="0"/>
              <a:t>Uso </a:t>
            </a:r>
            <a:r>
              <a:rPr dirty="0" err="1"/>
              <a:t>comercial</a:t>
            </a:r>
            <a:r>
              <a:rPr dirty="0"/>
              <a:t> de mainframes</a:t>
            </a:r>
          </a:p>
          <a:p>
            <a:pPr lvl="1"/>
            <a:r>
              <a:rPr dirty="0" err="1"/>
              <a:t>Origem</a:t>
            </a:r>
            <a:r>
              <a:rPr dirty="0"/>
              <a:t> do </a:t>
            </a:r>
            <a:r>
              <a:rPr dirty="0" err="1"/>
              <a:t>termo</a:t>
            </a:r>
            <a:r>
              <a:rPr dirty="0"/>
              <a:t> </a:t>
            </a:r>
            <a:r>
              <a:rPr dirty="0" err="1"/>
              <a:t>Informática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Telecomunicações e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 err="1"/>
              <a:t>Comunicação</a:t>
            </a:r>
            <a:r>
              <a:rPr dirty="0"/>
              <a:t> à </a:t>
            </a:r>
            <a:r>
              <a:rPr dirty="0" err="1"/>
              <a:t>distância</a:t>
            </a:r>
            <a:endParaRPr dirty="0"/>
          </a:p>
          <a:p>
            <a:pPr lvl="1"/>
            <a:r>
              <a:rPr dirty="0" err="1"/>
              <a:t>Convergência</a:t>
            </a:r>
            <a:r>
              <a:rPr dirty="0"/>
              <a:t> com </a:t>
            </a:r>
            <a:r>
              <a:rPr dirty="0" err="1"/>
              <a:t>informática</a:t>
            </a:r>
            <a:endParaRPr dirty="0"/>
          </a:p>
          <a:p>
            <a:pPr lvl="1"/>
            <a:r>
              <a:rPr dirty="0" err="1"/>
              <a:t>Tecnologia</a:t>
            </a:r>
            <a:r>
              <a:rPr dirty="0"/>
              <a:t> da </a:t>
            </a:r>
            <a:r>
              <a:rPr dirty="0" err="1"/>
              <a:t>Informação</a:t>
            </a:r>
            <a:r>
              <a:rPr dirty="0"/>
              <a:t> (TI/TIC)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- Conceito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 err="1"/>
              <a:t>Termo</a:t>
            </a:r>
            <a:r>
              <a:rPr dirty="0"/>
              <a:t> </a:t>
            </a:r>
            <a:r>
              <a:rPr dirty="0" err="1"/>
              <a:t>introduzido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John W. Tukey (1958)</a:t>
            </a:r>
          </a:p>
          <a:p>
            <a:pPr lvl="1"/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do </a:t>
            </a:r>
            <a:r>
              <a:rPr dirty="0" err="1"/>
              <a:t>computador</a:t>
            </a:r>
            <a:endParaRPr dirty="0"/>
          </a:p>
          <a:p>
            <a:pPr lvl="1"/>
            <a:r>
              <a:rPr dirty="0" err="1"/>
              <a:t>Implementação</a:t>
            </a:r>
            <a:r>
              <a:rPr dirty="0"/>
              <a:t> de </a:t>
            </a:r>
            <a:r>
              <a:rPr dirty="0" err="1"/>
              <a:t>algoritmos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Tipologia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Software de Sistema</a:t>
            </a:r>
          </a:p>
          <a:p>
            <a:pPr lvl="1"/>
            <a:r>
              <a:rPr dirty="0"/>
              <a:t>Software de </a:t>
            </a:r>
            <a:r>
              <a:rPr dirty="0" err="1"/>
              <a:t>Aplicação</a:t>
            </a:r>
            <a:endParaRPr dirty="0"/>
          </a:p>
          <a:p>
            <a:pPr lvl="1"/>
            <a:r>
              <a:rPr dirty="0"/>
              <a:t>Software de </a:t>
            </a:r>
            <a:r>
              <a:rPr dirty="0" err="1"/>
              <a:t>Programação</a:t>
            </a:r>
            <a:endParaRPr dirty="0"/>
          </a:p>
        </p:txBody>
      </p:sp>
      <p:pic>
        <p:nvPicPr>
          <p:cNvPr id="5" name="Imagem 4" descr="Interface gráfica do usuário, Diagrama, Aplicativo&#10;&#10;O conteúdo gerado por IA pode estar incorreto.">
            <a:extLst>
              <a:ext uri="{FF2B5EF4-FFF2-40B4-BE49-F238E27FC236}">
                <a16:creationId xmlns:a16="http://schemas.microsoft.com/office/drawing/2014/main" id="{9F7BCF72-8028-8905-3533-A0FB1182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596" y="3560167"/>
            <a:ext cx="3434326" cy="27485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Produto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Código </a:t>
            </a:r>
            <a:r>
              <a:rPr dirty="0" err="1"/>
              <a:t>executável</a:t>
            </a:r>
            <a:endParaRPr dirty="0"/>
          </a:p>
          <a:p>
            <a:pPr lvl="1"/>
            <a:r>
              <a:rPr dirty="0" err="1"/>
              <a:t>Documentação</a:t>
            </a:r>
            <a:endParaRPr dirty="0"/>
          </a:p>
          <a:p>
            <a:pPr lvl="1"/>
            <a:r>
              <a:rPr dirty="0"/>
              <a:t>Dados e </a:t>
            </a:r>
            <a:r>
              <a:rPr dirty="0" err="1"/>
              <a:t>configuração</a:t>
            </a:r>
            <a:endParaRPr dirty="0"/>
          </a:p>
          <a:p>
            <a:pPr lvl="1"/>
            <a:r>
              <a:rPr dirty="0" err="1"/>
              <a:t>Estruturas</a:t>
            </a:r>
            <a:r>
              <a:rPr dirty="0"/>
              <a:t> de dados</a:t>
            </a:r>
          </a:p>
          <a:p>
            <a:pPr lvl="1"/>
            <a:r>
              <a:rPr dirty="0" err="1"/>
              <a:t>Suporte</a:t>
            </a:r>
            <a:r>
              <a:rPr dirty="0"/>
              <a:t> e </a:t>
            </a:r>
            <a:r>
              <a:rPr dirty="0" err="1"/>
              <a:t>atualização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sz="2200" dirty="0"/>
              <a:t>PRESSMAN, Roger. </a:t>
            </a:r>
            <a:r>
              <a:rPr lang="sv-SE" sz="2200" b="1" dirty="0"/>
              <a:t>Engenharia de software</a:t>
            </a:r>
            <a:r>
              <a:rPr lang="sv-SE" sz="2200" dirty="0"/>
              <a:t>.1995. Makron Books.</a:t>
            </a:r>
          </a:p>
          <a:p>
            <a:pPr marL="0" indent="0">
              <a:buNone/>
            </a:pPr>
            <a:r>
              <a:rPr lang="pt-BR" sz="2200" dirty="0"/>
              <a:t>PRESSMAN, Roger.2006. McGraw-Hill.</a:t>
            </a:r>
          </a:p>
          <a:p>
            <a:pPr marL="0" indent="0">
              <a:buNone/>
            </a:pPr>
            <a:r>
              <a:rPr lang="pt-BR" sz="2200" dirty="0" err="1"/>
              <a:t>Sommerville,Ian</a:t>
            </a:r>
            <a:r>
              <a:rPr lang="pt-BR" sz="2200" dirty="0"/>
              <a:t>. Engenharia de Software. 2007.Pearson </a:t>
            </a:r>
            <a:r>
              <a:rPr lang="pt-BR" sz="2200" dirty="0" err="1"/>
              <a:t>Education</a:t>
            </a:r>
            <a:r>
              <a:rPr lang="pt-BR" sz="2200" dirty="0"/>
              <a:t>.</a:t>
            </a:r>
          </a:p>
          <a:p>
            <a:pPr marL="0" indent="0">
              <a:buNone/>
            </a:pPr>
            <a:r>
              <a:rPr lang="pt-BR" sz="2200" dirty="0" err="1"/>
              <a:t>Audy</a:t>
            </a:r>
            <a:r>
              <a:rPr lang="pt-BR" sz="2200" dirty="0"/>
              <a:t>, Jorge </a:t>
            </a:r>
            <a:r>
              <a:rPr lang="pt-BR" sz="2200" dirty="0" err="1"/>
              <a:t>Luis</a:t>
            </a:r>
            <a:r>
              <a:rPr lang="pt-BR" sz="2200" dirty="0"/>
              <a:t> Nicolas; ANDRADE, Gilberto Keller de; CIDRAL, Alexandre (Autor). Fundamentos de sistemas de informação. Porto Alegre: Bookman;2005.</a:t>
            </a:r>
          </a:p>
          <a:p>
            <a:pPr marL="0" indent="0">
              <a:buNone/>
            </a:pPr>
            <a:endParaRPr sz="2200" dirty="0"/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7F74D224-03D4-E43D-69B2-EF1B7928B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388</Words>
  <Application>Microsoft Office PowerPoint</Application>
  <PresentationFormat>Apresentação na tela (4:3)</PresentationFormat>
  <Paragraphs>86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Computação, Sistemas e Software</vt:lpstr>
      <vt:lpstr>Computação - Conceito</vt:lpstr>
      <vt:lpstr>Sistema - Conceito</vt:lpstr>
      <vt:lpstr>Sistema - Entrada e Saída</vt:lpstr>
      <vt:lpstr>Sistema de Informação</vt:lpstr>
      <vt:lpstr>Teoria Geral dos Sistemas (TGS)</vt:lpstr>
      <vt:lpstr>Tipologia de Sistemas</vt:lpstr>
      <vt:lpstr>Tipologia de Sistemas</vt:lpstr>
      <vt:lpstr>Tipologia de Sistemas</vt:lpstr>
      <vt:lpstr>Propriedades dos Sistemas</vt:lpstr>
      <vt:lpstr>Ciclo de Vida dos Sistemas</vt:lpstr>
      <vt:lpstr>Pensamento Sistêmico</vt:lpstr>
      <vt:lpstr>Cibernética</vt:lpstr>
      <vt:lpstr>Ciência da Computação</vt:lpstr>
      <vt:lpstr>Processamento de Dados</vt:lpstr>
      <vt:lpstr>Telecomunicações e TI</vt:lpstr>
      <vt:lpstr>Software - Conceito</vt:lpstr>
      <vt:lpstr>Tipologia de Software</vt:lpstr>
      <vt:lpstr>Produto de Software</vt:lpstr>
      <vt:lpstr>Referências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Rafaela Bosse</dc:creator>
  <cp:keywords/>
  <dc:description>generated using python-pptx</dc:description>
  <cp:lastModifiedBy>RAFAELA BOSSE SCHROEDER</cp:lastModifiedBy>
  <cp:revision>7</cp:revision>
  <dcterms:created xsi:type="dcterms:W3CDTF">2013-01-27T09:14:16Z</dcterms:created>
  <dcterms:modified xsi:type="dcterms:W3CDTF">2026-02-20T14:17:29Z</dcterms:modified>
  <cp:category/>
</cp:coreProperties>
</file>