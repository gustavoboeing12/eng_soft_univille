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5271F-0A61-2603-FF6F-DF41D14DA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07936C-8A61-5962-1373-ACA0B9CD43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A0D379-0CD7-CA04-1861-824EA5D2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5E045-CB03-4A0B-AA5A-6890D6968BBB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73C4CB-BE52-FFB5-BF01-AE058D4A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877895-BD3E-2AC6-3BC5-499768CA9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1E0A-43A6-49C4-BB23-CACAB9A71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570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062F8-45A0-5E52-E287-5D729BC8A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8A8E8A-8051-ED47-5743-B7501B0EF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F88D47-D11A-A624-191B-CEDCC0A6E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5E045-CB03-4A0B-AA5A-6890D6968BBB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E80115-20BE-989A-F4BE-E10607212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6C0E97-6929-725D-E914-4BE1DAAD6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1E0A-43A6-49C4-BB23-CACAB9A71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0106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C7448-4975-9B37-5554-FE7284CBC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5FDCF32-5D0D-C693-F2D3-0A7E85678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5DC1EA-B75B-076E-3804-D1EA04A88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5E045-CB03-4A0B-AA5A-6890D6968BBB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18B7CC-5EC3-0488-27A7-8D722EA6A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33F637-6788-1CC1-1BCF-C5D4AB69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1E0A-43A6-49C4-BB23-CACAB9A71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699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F3CF1-6F30-2BB1-F807-094C718B6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B47456-7CB3-574F-E900-C6FB882BA8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602A45B-702A-1EE6-BBD6-3A34D76D6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C19E6D-541B-F604-642D-E52AC75D9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5E045-CB03-4A0B-AA5A-6890D6968BBB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1D7F04-60B4-A475-BF65-88F0C333A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6FD0A9-1E21-C9E4-E10B-314282E38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1E0A-43A6-49C4-BB23-CACAB9A71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0892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AA2F8-3F05-AEA9-303A-1BC796B3D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EC2079-1886-10D4-CAA2-E0753FA9B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80C47B-1753-E54F-C1D8-9FF6D7245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B46C5B5-1259-D84D-FC64-2FFC62C9B4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8FB5DDA-A290-376C-A125-8F9C0D4212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009F23D-4C16-E009-D60A-2494EC320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5E045-CB03-4A0B-AA5A-6890D6968BBB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E6042E1-1177-A4A6-8F28-B89E03B0B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00824AF-3A9B-0677-03D7-93BC74885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1E0A-43A6-49C4-BB23-CACAB9A71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9093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510E9-E101-C089-1513-1A752EFA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9B31D25-6056-0562-260D-A4417F623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5E045-CB03-4A0B-AA5A-6890D6968BBB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830C8B0-B990-DF63-5F80-B86D931A7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F4EC006-2AF4-FC70-831D-435F3300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1E0A-43A6-49C4-BB23-CACAB9A71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6610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64D1880-F23D-2F32-EAB2-11EA4A88A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5E045-CB03-4A0B-AA5A-6890D6968BBB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944BFEE-BD06-4D50-E183-5E2F486B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FB9FA8-258F-2CC5-BB78-DA53FB62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1E0A-43A6-49C4-BB23-CACAB9A71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4817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A2F54-1FF0-EC42-DE52-B679A3E62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B7E09B-65ED-07C6-921D-154E3A408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63A46D-3089-3FB6-8A8B-7A3459DA0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7D2A1A-B705-DA85-3617-2B516487F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5E045-CB03-4A0B-AA5A-6890D6968BBB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3EF6AC-6E56-3300-6CF9-3273BEDEC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2B0E8C-7B3F-031B-85DF-725C5DB0F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1E0A-43A6-49C4-BB23-CACAB9A71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5531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B9B43-D4FF-DF82-324D-1C1F9CFC3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78A3960-0977-7BC2-E6E6-589D76AA74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ADDE031-7C1C-5A9E-1A8A-AEC8A3762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EB3B0E2-DAB0-4805-FF6A-EE09F2B6B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5E045-CB03-4A0B-AA5A-6890D6968BBB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64A027-5C64-AB1F-4929-9F127EC7A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768CE8-8114-BE87-86DA-8878A2455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1E0A-43A6-49C4-BB23-CACAB9A71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872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A87E00-0C65-BAFE-7B71-5A867907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58AF32-730F-DA03-A3F7-76D72C8CB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975E15-BE5C-8391-3D60-A17E9D657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5E045-CB03-4A0B-AA5A-6890D6968BBB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D814D1-160B-1B6E-495E-61D17E77D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05929B-6C3B-F00E-343F-AF6F1E104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1E0A-43A6-49C4-BB23-CACAB9A71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5699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4894933-2444-A064-DCFD-515EEFDF58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AE40339-AAA8-F58F-1DFE-ED65A090D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E39978-BB56-D215-C4EC-B58B523FC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5E045-CB03-4A0B-AA5A-6890D6968BBB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C68B98-1862-81F4-5C19-9546A8D83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435618-8ECB-76DE-095D-D85D17B13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31E0A-43A6-49C4-BB23-CACAB9A71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3086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6541B64-A6DA-6800-D74D-A8B998EAF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8377B6-8827-E508-5704-F04E1749B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F2BEBC-627D-4C72-BE40-8283097FD0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85E045-CB03-4A0B-AA5A-6890D6968BBB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C90A39-478A-03CD-AC0C-F1A0F48491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7F4395-2BDD-A888-AA45-B98CE6171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031E0A-43A6-49C4-BB23-CACAB9A712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396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integrada.minhabiblioteca.com.br/books/9788577801305/pageid/2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237DB-65C0-22CD-D6B4-8DF7EA5D1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36300"/>
            <a:ext cx="9144000" cy="2387600"/>
          </a:xfrm>
        </p:spPr>
        <p:txBody>
          <a:bodyPr/>
          <a:lstStyle/>
          <a:p>
            <a:r>
              <a:rPr lang="pt-BR" dirty="0"/>
              <a:t>Crise de Software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17174A-BF4D-3E66-C965-0E516646B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715975"/>
            <a:ext cx="9144000" cy="1655762"/>
          </a:xfrm>
        </p:spPr>
        <p:txBody>
          <a:bodyPr/>
          <a:lstStyle/>
          <a:p>
            <a:r>
              <a:rPr lang="pt-BR" dirty="0" err="1"/>
              <a:t>Prof</a:t>
            </a:r>
            <a:r>
              <a:rPr lang="pt-BR" dirty="0"/>
              <a:t> Rafaela B. Schroeder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33D355B-3FA7-B317-441C-B445126FC9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7" r="2994" b="1"/>
          <a:stretch/>
        </p:blipFill>
        <p:spPr>
          <a:xfrm>
            <a:off x="1691168" y="0"/>
            <a:ext cx="9143980" cy="420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17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B4C6E-9A85-5CA0-A8AA-250153132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pode ocorrer se um software falhar?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049310-015D-DBB2-FAF0-91B896FE6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Fonte: https://www.youtube.com/watch?v=gp_D8r-2hwk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40F9098-E5AF-9FE1-3862-802895B22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875" y="1520982"/>
            <a:ext cx="5120250" cy="381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318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1541D-5389-406F-2F2D-236BBBF29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 desastre com o Ariane 5 em virtude da falha de</a:t>
            </a:r>
            <a:br>
              <a:rPr lang="pt-BR" dirty="0"/>
            </a:br>
            <a:r>
              <a:rPr lang="pt-BR" dirty="0"/>
              <a:t>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407379-D43D-6BB7-EE37-9E3D01A00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1102" y="1961799"/>
            <a:ext cx="677873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Programa europeu de lançamento de satélites</a:t>
            </a:r>
          </a:p>
          <a:p>
            <a:pPr marL="0" indent="0">
              <a:buNone/>
            </a:pPr>
            <a:r>
              <a:rPr lang="pt-BR" dirty="0"/>
              <a:t>• Foguete produzido na Europa e base de</a:t>
            </a:r>
          </a:p>
          <a:p>
            <a:pPr marL="0" indent="0">
              <a:buNone/>
            </a:pPr>
            <a:r>
              <a:rPr lang="pt-BR" dirty="0"/>
              <a:t>lançamento na Guiana Francesa</a:t>
            </a:r>
          </a:p>
          <a:p>
            <a:pPr marL="0" indent="0">
              <a:buNone/>
            </a:pPr>
            <a:r>
              <a:rPr lang="pt-BR" dirty="0"/>
              <a:t>• Acidente ocorrido em 4/6/1996 no</a:t>
            </a:r>
          </a:p>
          <a:p>
            <a:pPr marL="0" indent="0">
              <a:buNone/>
            </a:pPr>
            <a:r>
              <a:rPr lang="pt-BR" dirty="0"/>
              <a:t>lançamento do primeiro foguete da série Ariane 501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FBBB4D6-006E-6AAD-8748-5FD66C54F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49" y="1866769"/>
            <a:ext cx="3246550" cy="481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90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E9F2A28-69A3-4945-B6B6-C2E4A6C55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E7EF0E-6ABB-ADDE-0CB8-09E06B3BB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538" y="365125"/>
            <a:ext cx="5393360" cy="1325563"/>
          </a:xfrm>
        </p:spPr>
        <p:txBody>
          <a:bodyPr>
            <a:normAutofit/>
          </a:bodyPr>
          <a:lstStyle/>
          <a:p>
            <a:r>
              <a:rPr lang="pt-BR" dirty="0"/>
              <a:t>Sistemas críticos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B147A70-DC29-4DDF-A34C-2B82C6E22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84038" y="0"/>
            <a:ext cx="842502" cy="354793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ED83C84-2660-DC62-BC2F-5A652AE11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2" y="705342"/>
            <a:ext cx="2533422" cy="2240564"/>
          </a:xfrm>
          <a:custGeom>
            <a:avLst/>
            <a:gdLst/>
            <a:ahLst/>
            <a:cxnLst/>
            <a:rect l="l" t="t" r="r" b="b"/>
            <a:pathLst>
              <a:path w="1999274" h="2247255">
                <a:moveTo>
                  <a:pt x="108501" y="0"/>
                </a:moveTo>
                <a:lnTo>
                  <a:pt x="1890773" y="0"/>
                </a:lnTo>
                <a:cubicBezTo>
                  <a:pt x="1950696" y="0"/>
                  <a:pt x="1999274" y="48578"/>
                  <a:pt x="1999274" y="108501"/>
                </a:cubicBezTo>
                <a:lnTo>
                  <a:pt x="1999274" y="2138754"/>
                </a:lnTo>
                <a:cubicBezTo>
                  <a:pt x="1999274" y="2198677"/>
                  <a:pt x="1950696" y="2247255"/>
                  <a:pt x="1890773" y="2247255"/>
                </a:cubicBezTo>
                <a:lnTo>
                  <a:pt x="108501" y="2247255"/>
                </a:lnTo>
                <a:cubicBezTo>
                  <a:pt x="48578" y="2247255"/>
                  <a:pt x="0" y="2198677"/>
                  <a:pt x="0" y="2138754"/>
                </a:cubicBezTo>
                <a:lnTo>
                  <a:pt x="0" y="108501"/>
                </a:lnTo>
                <a:cubicBezTo>
                  <a:pt x="0" y="48578"/>
                  <a:pt x="48578" y="0"/>
                  <a:pt x="108501" y="0"/>
                </a:cubicBez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3B438362-1E1E-4C62-A99E-4134CB163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31108" y="1327365"/>
            <a:ext cx="610857" cy="61085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C077334-5571-4B83-A83E-4CCCFA7B5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28176" y="0"/>
            <a:ext cx="2093996" cy="1402773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DE8A903-0B68-4538-FD35-65532EAFE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01" y="4104176"/>
            <a:ext cx="2533423" cy="1648955"/>
          </a:xfrm>
          <a:custGeom>
            <a:avLst/>
            <a:gdLst/>
            <a:ahLst/>
            <a:cxnLst/>
            <a:rect l="l" t="t" r="r" b="b"/>
            <a:pathLst>
              <a:path w="3064284" h="3064284">
                <a:moveTo>
                  <a:pt x="166483" y="0"/>
                </a:moveTo>
                <a:lnTo>
                  <a:pt x="2897801" y="0"/>
                </a:lnTo>
                <a:cubicBezTo>
                  <a:pt x="2989747" y="0"/>
                  <a:pt x="3064284" y="74537"/>
                  <a:pt x="3064284" y="166483"/>
                </a:cubicBezTo>
                <a:lnTo>
                  <a:pt x="3064284" y="2897801"/>
                </a:lnTo>
                <a:cubicBezTo>
                  <a:pt x="3064284" y="2989747"/>
                  <a:pt x="2989747" y="3064284"/>
                  <a:pt x="2897801" y="3064284"/>
                </a:cubicBezTo>
                <a:lnTo>
                  <a:pt x="166483" y="3064284"/>
                </a:lnTo>
                <a:cubicBezTo>
                  <a:pt x="74537" y="3064284"/>
                  <a:pt x="0" y="2989747"/>
                  <a:pt x="0" y="2897801"/>
                </a:cubicBezTo>
                <a:lnTo>
                  <a:pt x="0" y="166483"/>
                </a:lnTo>
                <a:cubicBezTo>
                  <a:pt x="0" y="74537"/>
                  <a:pt x="74537" y="0"/>
                  <a:pt x="166483" y="0"/>
                </a:cubicBezTo>
                <a:close/>
              </a:path>
            </a:pathLst>
          </a:cu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78D4E41-5874-10A0-2B36-8F980F988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750" y="2652493"/>
            <a:ext cx="2533422" cy="2013989"/>
          </a:xfrm>
          <a:custGeom>
            <a:avLst/>
            <a:gdLst/>
            <a:ahLst/>
            <a:cxnLst/>
            <a:rect l="l" t="t" r="r" b="b"/>
            <a:pathLst>
              <a:path w="1999274" h="2247255">
                <a:moveTo>
                  <a:pt x="108501" y="0"/>
                </a:moveTo>
                <a:lnTo>
                  <a:pt x="1890773" y="0"/>
                </a:lnTo>
                <a:cubicBezTo>
                  <a:pt x="1950696" y="0"/>
                  <a:pt x="1999274" y="48578"/>
                  <a:pt x="1999274" y="108501"/>
                </a:cubicBezTo>
                <a:lnTo>
                  <a:pt x="1999274" y="2138754"/>
                </a:lnTo>
                <a:cubicBezTo>
                  <a:pt x="1999274" y="2198677"/>
                  <a:pt x="1950696" y="2247255"/>
                  <a:pt x="1890773" y="2247255"/>
                </a:cubicBezTo>
                <a:lnTo>
                  <a:pt x="108501" y="2247255"/>
                </a:lnTo>
                <a:cubicBezTo>
                  <a:pt x="48578" y="2247255"/>
                  <a:pt x="0" y="2198677"/>
                  <a:pt x="0" y="2138754"/>
                </a:cubicBezTo>
                <a:lnTo>
                  <a:pt x="0" y="108501"/>
                </a:lnTo>
                <a:cubicBezTo>
                  <a:pt x="0" y="48578"/>
                  <a:pt x="48578" y="0"/>
                  <a:pt x="108501" y="0"/>
                </a:cubicBezTo>
                <a:close/>
              </a:path>
            </a:pathLst>
          </a:cu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31C36B-7DF1-A8F9-2A79-ACCF5212F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3537" y="1825625"/>
            <a:ext cx="53933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500" dirty="0"/>
              <a:t>São aqueles sistemas em que a ocorrência de falhas traz</a:t>
            </a:r>
          </a:p>
          <a:p>
            <a:pPr marL="0" indent="0">
              <a:buNone/>
            </a:pPr>
            <a:r>
              <a:rPr lang="pt-BR" sz="1500" dirty="0"/>
              <a:t>grandes prejuízos classificados em (</a:t>
            </a:r>
            <a:r>
              <a:rPr lang="pt-BR" sz="1500" dirty="0" err="1"/>
              <a:t>Sommerville</a:t>
            </a:r>
            <a:r>
              <a:rPr lang="pt-BR" sz="1500" dirty="0"/>
              <a:t>, 2003)</a:t>
            </a:r>
          </a:p>
          <a:p>
            <a:pPr marL="0" indent="0">
              <a:buNone/>
            </a:pPr>
            <a:endParaRPr lang="pt-BR" sz="1500" dirty="0"/>
          </a:p>
          <a:p>
            <a:pPr marL="0" indent="0">
              <a:buNone/>
            </a:pPr>
            <a:r>
              <a:rPr lang="pt-BR" sz="1500" b="1" dirty="0"/>
              <a:t>Prejuízos financeiros</a:t>
            </a:r>
          </a:p>
          <a:p>
            <a:pPr marL="0" indent="0">
              <a:buNone/>
            </a:pPr>
            <a:r>
              <a:rPr lang="pt-BR" sz="1500" dirty="0"/>
              <a:t>Danos que implicam em custos adicionais, perda de recursos investidos ou queda de receitas</a:t>
            </a:r>
          </a:p>
          <a:p>
            <a:pPr marL="0" indent="0">
              <a:buNone/>
            </a:pPr>
            <a:r>
              <a:rPr lang="pt-BR" sz="1500" b="1" dirty="0"/>
              <a:t>Prejuízos ao meio ambiente</a:t>
            </a:r>
          </a:p>
          <a:p>
            <a:pPr marL="0" indent="0">
              <a:buNone/>
            </a:pPr>
            <a:r>
              <a:rPr lang="pt-BR" sz="1500" dirty="0"/>
              <a:t>Danos ao meio ambiente na forma de desperdícios, poluição ou contaminação</a:t>
            </a:r>
          </a:p>
          <a:p>
            <a:pPr marL="0" indent="0">
              <a:buNone/>
            </a:pPr>
            <a:r>
              <a:rPr lang="pt-BR" sz="1500" b="1" dirty="0"/>
              <a:t>Prejuízos à vida humana</a:t>
            </a:r>
          </a:p>
          <a:p>
            <a:pPr marL="0" indent="0">
              <a:buNone/>
            </a:pPr>
            <a:r>
              <a:rPr lang="pt-BR" sz="1500" dirty="0"/>
              <a:t>Danos físicos ou psicológicos aos usuários ou a outras pessoas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4D3DC50D-CA0F-48F9-B17E-20D8669AA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899690" y="5509119"/>
            <a:ext cx="3939038" cy="3939038"/>
          </a:xfrm>
          <a:prstGeom prst="arc">
            <a:avLst>
              <a:gd name="adj1" fmla="val 16200000"/>
              <a:gd name="adj2" fmla="val 20354996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1B80E9C-CF8A-440B-B8F5-54BF121BF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24986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338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90D91-7F9B-59A3-282D-62DA37571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Crise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F69452-7623-1838-42F9-466E328AA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No final da década de 1960 o desenvolvimento de software</a:t>
            </a:r>
          </a:p>
          <a:p>
            <a:pPr marL="0" indent="0">
              <a:buNone/>
            </a:pPr>
            <a:r>
              <a:rPr lang="pt-BR" dirty="0"/>
              <a:t>enfrentava alguns desafios:</a:t>
            </a:r>
          </a:p>
          <a:p>
            <a:pPr marL="0" indent="0">
              <a:buNone/>
            </a:pPr>
            <a:r>
              <a:rPr lang="pt-BR" dirty="0"/>
              <a:t>	• Crescimento da demanda por software</a:t>
            </a:r>
          </a:p>
          <a:p>
            <a:pPr marL="0" indent="0">
              <a:buNone/>
            </a:pPr>
            <a:r>
              <a:rPr lang="pt-BR" dirty="0"/>
              <a:t>	• Maior complexidade dos problemas a serem resolvidos</a:t>
            </a:r>
          </a:p>
          <a:p>
            <a:pPr marL="0" indent="0">
              <a:buNone/>
            </a:pPr>
            <a:r>
              <a:rPr lang="pt-BR" dirty="0"/>
              <a:t>com software</a:t>
            </a:r>
          </a:p>
          <a:p>
            <a:pPr marL="0" indent="0">
              <a:buNone/>
            </a:pPr>
            <a:r>
              <a:rPr lang="pt-BR" dirty="0"/>
              <a:t>	• Falta de conceitos, processos, métodos, técnicas e</a:t>
            </a:r>
          </a:p>
          <a:p>
            <a:pPr marL="0" indent="0">
              <a:buNone/>
            </a:pPr>
            <a:r>
              <a:rPr lang="pt-BR" dirty="0"/>
              <a:t>ferramentas que propiciassem maior qualidade no</a:t>
            </a:r>
          </a:p>
          <a:p>
            <a:pPr marL="0" indent="0">
              <a:buNone/>
            </a:pPr>
            <a:r>
              <a:rPr lang="pt-BR" dirty="0"/>
              <a:t>desenvolvimento e nos sistemas baseados em software</a:t>
            </a:r>
          </a:p>
        </p:txBody>
      </p:sp>
    </p:spTree>
    <p:extLst>
      <p:ext uri="{BB962C8B-B14F-4D97-AF65-F5344CB8AC3E}">
        <p14:creationId xmlns:p14="http://schemas.microsoft.com/office/powerpoint/2010/main" val="2533680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2F1CFD-06DE-4657-D0D3-4FCD0546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Crise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188DAC-5099-7FBC-F1A9-C3ABBDFD7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Em 1968, em uma Conferência da OTAN (Organização do Tratado do Atlântico Norte), os termos “Crise do Software” e “Engenharia de Software” foram usados pela primeira vez.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Os efeitos da crise incluem:</a:t>
            </a:r>
          </a:p>
          <a:p>
            <a:pPr marL="0" indent="0">
              <a:buNone/>
            </a:pPr>
            <a:r>
              <a:rPr lang="pt-BR" dirty="0"/>
              <a:t>	• Estouro do orçamento de projetos de software;</a:t>
            </a:r>
          </a:p>
          <a:p>
            <a:pPr marL="0" indent="0">
              <a:buNone/>
            </a:pPr>
            <a:r>
              <a:rPr lang="pt-BR" dirty="0"/>
              <a:t>	• Não cumprimento de prazos de entrega;</a:t>
            </a:r>
          </a:p>
          <a:p>
            <a:pPr marL="0" indent="0">
              <a:buNone/>
            </a:pPr>
            <a:r>
              <a:rPr lang="pt-BR" dirty="0"/>
              <a:t>	• Software entregue apresentando defeitos ou não</a:t>
            </a:r>
          </a:p>
          <a:p>
            <a:pPr marL="0" indent="0">
              <a:buNone/>
            </a:pPr>
            <a:r>
              <a:rPr lang="pt-BR" dirty="0"/>
              <a:t>atendendo necessidades do cliente;</a:t>
            </a:r>
          </a:p>
          <a:p>
            <a:pPr marL="0" indent="0">
              <a:buNone/>
            </a:pPr>
            <a:r>
              <a:rPr lang="pt-BR" dirty="0"/>
              <a:t>	• A manutenção do software produzido é difícil e cara.</a:t>
            </a:r>
          </a:p>
        </p:txBody>
      </p:sp>
    </p:spTree>
    <p:extLst>
      <p:ext uri="{BB962C8B-B14F-4D97-AF65-F5344CB8AC3E}">
        <p14:creationId xmlns:p14="http://schemas.microsoft.com/office/powerpoint/2010/main" val="491390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51A2D-BA1F-0B9F-A105-ABE452607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20E5F8-DA49-AA16-A48C-0BCDA7C88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/>
              <a:t>AUDY, Jorge </a:t>
            </a:r>
            <a:r>
              <a:rPr lang="pt-BR" sz="2000" dirty="0" err="1"/>
              <a:t>Luis</a:t>
            </a:r>
            <a:r>
              <a:rPr lang="pt-BR" sz="2000" dirty="0"/>
              <a:t> Nicolas; ANDRADE, Gilberto Keller de; </a:t>
            </a:r>
            <a:r>
              <a:rPr lang="pt-BR" sz="2000" dirty="0" err="1"/>
              <a:t>CIDRAL,Alexandre</a:t>
            </a:r>
            <a:r>
              <a:rPr lang="pt-BR" sz="2000" dirty="0"/>
              <a:t>. </a:t>
            </a:r>
            <a:r>
              <a:rPr lang="pt-BR" sz="2000" b="1" dirty="0"/>
              <a:t>Fundamentos de sistemas de informação</a:t>
            </a:r>
            <a:r>
              <a:rPr lang="pt-BR" sz="2000" dirty="0"/>
              <a:t>. Porto Alegre:</a:t>
            </a:r>
          </a:p>
          <a:p>
            <a:pPr marL="0" indent="0">
              <a:buNone/>
            </a:pPr>
            <a:r>
              <a:rPr lang="pt-BR" sz="2000" dirty="0"/>
              <a:t>Bookman; 2005. Disponível em Minha Biblioteca:</a:t>
            </a:r>
          </a:p>
          <a:p>
            <a:pPr marL="0" indent="0">
              <a:buNone/>
            </a:pPr>
            <a:r>
              <a:rPr lang="pt-BR" sz="2000" dirty="0">
                <a:hlinkClick r:id="rId2"/>
              </a:rPr>
              <a:t>https://integrada.minhabiblioteca.com.br/books/9788577801305/</a:t>
            </a:r>
            <a:r>
              <a:rPr lang="pt-BR" sz="2000" dirty="0" err="1">
                <a:hlinkClick r:id="rId2"/>
              </a:rPr>
              <a:t>pageid</a:t>
            </a:r>
            <a:r>
              <a:rPr lang="pt-BR" sz="2000" dirty="0">
                <a:hlinkClick r:id="rId2"/>
              </a:rPr>
              <a:t>/24</a:t>
            </a:r>
            <a:r>
              <a:rPr lang="pt-BR" sz="2000" dirty="0"/>
              <a:t>. Acesso em: 30 nov. 2017.  </a:t>
            </a:r>
          </a:p>
          <a:p>
            <a:pPr marL="0" indent="0">
              <a:buNone/>
            </a:pPr>
            <a:r>
              <a:rPr lang="pt-BR" sz="2000" dirty="0"/>
              <a:t>BROOKSHEAR, J. Glenn. </a:t>
            </a:r>
            <a:r>
              <a:rPr lang="pt-BR" sz="2000" b="1" dirty="0"/>
              <a:t>Ciência da computação</a:t>
            </a:r>
            <a:r>
              <a:rPr lang="pt-BR" sz="2000" dirty="0"/>
              <a:t>: uma visão abrangente. 11, Ed. Porto Alegre: Bookman, 2013. HINKEL, José Nivaldo. </a:t>
            </a:r>
            <a:r>
              <a:rPr lang="pt-BR" sz="2000" b="1" dirty="0"/>
              <a:t>Ariane 5</a:t>
            </a:r>
            <a:r>
              <a:rPr lang="pt-BR" sz="2000" dirty="0"/>
              <a:t>: um erro numérico (overflow) levou à Falha no primeiro lançamento. Disponível em</a:t>
            </a:r>
          </a:p>
          <a:p>
            <a:pPr marL="0" indent="0">
              <a:buNone/>
            </a:pPr>
            <a:r>
              <a:rPr lang="pt-BR" sz="2000" dirty="0"/>
              <a:t>http://www.sbmac.org.br/bol/bol-2/artigos/ariane5.html  </a:t>
            </a:r>
          </a:p>
          <a:p>
            <a:pPr marL="0" indent="0">
              <a:buNone/>
            </a:pPr>
            <a:r>
              <a:rPr lang="pt-BR" sz="2000" dirty="0"/>
              <a:t>SOMMERVILLE, Ian. </a:t>
            </a:r>
            <a:r>
              <a:rPr lang="pt-BR" sz="2000" b="1" dirty="0"/>
              <a:t>Engenharia de software</a:t>
            </a:r>
            <a:r>
              <a:rPr lang="pt-BR" sz="2000" dirty="0"/>
              <a:t>. São Paulo</a:t>
            </a:r>
            <a:r>
              <a:rPr lang="pt-BR" sz="2000"/>
              <a:t>: Addison-Wesley</a:t>
            </a:r>
            <a:r>
              <a:rPr lang="pt-BR" sz="2000" dirty="0"/>
              <a:t>, 2003.</a:t>
            </a:r>
          </a:p>
        </p:txBody>
      </p:sp>
    </p:spTree>
    <p:extLst>
      <p:ext uri="{BB962C8B-B14F-4D97-AF65-F5344CB8AC3E}">
        <p14:creationId xmlns:p14="http://schemas.microsoft.com/office/powerpoint/2010/main" val="26299214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481949d-5487-4397-853b-0f191069bf00}" enabled="1" method="Privileged" siteId="{57fe0ac9-f7f7-4580-8b30-5aa7f0ac8e3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4500</TotalTime>
  <Words>438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do Office</vt:lpstr>
      <vt:lpstr>Crise de Software</vt:lpstr>
      <vt:lpstr>O que pode ocorrer se um software falhar?</vt:lpstr>
      <vt:lpstr>O desastre com o Ariane 5 em virtude da falha de software</vt:lpstr>
      <vt:lpstr>Sistemas críticos</vt:lpstr>
      <vt:lpstr>Crise de Software</vt:lpstr>
      <vt:lpstr>Crise de Software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RAFAELA BOSSE SCHROEDER</dc:creator>
  <cp:lastModifiedBy>RAFAELA BOSSE SCHROEDER</cp:lastModifiedBy>
  <cp:revision>4</cp:revision>
  <dcterms:created xsi:type="dcterms:W3CDTF">2026-02-20T14:47:32Z</dcterms:created>
  <dcterms:modified xsi:type="dcterms:W3CDTF">2026-02-23T17:48:28Z</dcterms:modified>
</cp:coreProperties>
</file>